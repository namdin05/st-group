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935" autoAdjust="0"/>
  </p:normalViewPr>
  <p:slideViewPr>
    <p:cSldViewPr snapToGrid="0">
      <p:cViewPr>
        <p:scale>
          <a:sx n="75" d="100"/>
          <a:sy n="75" d="100"/>
        </p:scale>
        <p:origin x="191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the class and frame the session as a progression: define trustworthy automation, compare tool categories, examine network-level test doubles, and finish with a measurable EShop pilot. Emphasize that AI accelerates drafting but does not become the test oracle.</a:t>
            </a:r>
          </a:p>
          <a:p>
            <a:endParaRPr/>
          </a:p>
          <a:p>
            <a:r>
              <a:t>[Sources]</a:t>
            </a:r>
          </a:p>
          <a:p>
            <a:r>
              <a:t>- C:\Users\Nam\.codex\attachments\3ffc3a06-0f9b-4927-8423-bddb6ed575b2\pasted-text.txt</a:t>
            </a:r>
          </a:p>
          <a:p>
            <a:r>
              <a:t>- C:\Code\SoftwareTesting\ST-Group\Seminar\Final\Report.md</a:t>
            </a:r>
          </a:p>
          <a:p>
            <a:r>
              <a:t>- Generated cover asset: .codex-tmp\deck-build\assets\web-automation-hero.png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by workstream if member names are not being shown. The agenda is intentionally cumulative: the theory defines the evaluation criteria, the criteria drive the tool selection, and the selection is validated through a pilot rather than by opinion.</a:t>
            </a:r>
          </a:p>
          <a:p>
            <a:endParaRPr/>
          </a:p>
          <a:p>
            <a:r>
              <a:t>[Sources]</a:t>
            </a:r>
          </a:p>
          <a:p>
            <a:r>
              <a:t>- C:\Users\Nam\.codex\attachments\3ffc3a06-0f9b-4927-8423-bddb6ed575b2\pasted-text.txt</a:t>
            </a:r>
          </a:p>
          <a:p>
            <a:r>
              <a:t>- C:\Code\SoftwareTesting\ST-Group\Seminar\Final\Report.md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each technical characteristic to a testing consequence. The goal is not to claim that manual testing is obsolete; it is to show why repeatable regression and cross-browser checks need automation while exploratory and usability work still need people.</a:t>
            </a:r>
          </a:p>
          <a:p>
            <a:endParaRPr/>
          </a:p>
          <a:p>
            <a:r>
              <a:t>[Sources]</a:t>
            </a:r>
          </a:p>
          <a:p>
            <a:r>
              <a:t>- C:\Code\SoftwareTesting\ST-Group\Seminar\Final\Report.md, sections 1.1 and 1.5</a:t>
            </a:r>
          </a:p>
          <a:p>
            <a:r>
              <a:t>- https://www.istqb.org/specifications/certified-tester-foundation-level-syllabus/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seven lifecycle steps grouped into three phases. Stress that result analysis and maintenance are first-class activities; the lifecycle continues after the initial test turns green.</a:t>
            </a:r>
          </a:p>
          <a:p>
            <a:endParaRPr/>
          </a:p>
          <a:p>
            <a:r>
              <a:t>[Sources]</a:t>
            </a:r>
          </a:p>
          <a:p>
            <a:r>
              <a:t>- C:\Code\SoftwareTesting\ST-Group\Seminar\Final\Report.md, section 1.2</a:t>
            </a:r>
          </a:p>
          <a:p>
            <a:r>
              <a:t>- https://www.istqb.org/wp-content/uploads/2024/11/ISTQB_CTAL-TAE_Syllabus_v2.0.pdf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R1–R9 describe the execution platform, while R10 describes an assistance layer. The four outcomes are the lens for judging whether the capability is trustworthy in practice.</a:t>
            </a:r>
          </a:p>
          <a:p>
            <a:endParaRPr/>
          </a:p>
          <a:p>
            <a:r>
              <a:t>[Sources]</a:t>
            </a:r>
          </a:p>
          <a:p>
            <a:r>
              <a:t>- C:\Code\SoftwareTesting\ST-Group\Seminar\Final\Report.md, sections 1.3–1.5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categories distinct. A coding assistant may produce Playwright code, but it does not provide browser control, assertions, reports, or CI on its own. AI-native platforms bundle more features, but introduce practical access constraints for a classroom.</a:t>
            </a:r>
          </a:p>
          <a:p>
            <a:endParaRPr/>
          </a:p>
          <a:p>
            <a:r>
              <a:t>[Sources]</a:t>
            </a:r>
          </a:p>
          <a:p>
            <a:r>
              <a:t>- C:\Code\SoftwareTesting\ST-Group\Seminar\Final\Report.md, sections 2 and 3</a:t>
            </a:r>
          </a:p>
          <a:p>
            <a:r>
              <a:t>- https://playwright.dev/</a:t>
            </a:r>
          </a:p>
          <a:p>
            <a:r>
              <a:t>- https://docs.cypress.io/app/core-concepts/best-practices</a:t>
            </a:r>
          </a:p>
          <a:p>
            <a:r>
              <a:t>- https://www.selenium.dev/documentation/grid/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matrix horizontally. The AI-native tools cover many cells in one product, while Playwright covers the runtime core transparently. Copilot and Codex score highly only in the assistance column because they are not test runners.</a:t>
            </a:r>
          </a:p>
          <a:p>
            <a:endParaRPr/>
          </a:p>
          <a:p>
            <a:r>
              <a:t>[Sources]</a:t>
            </a:r>
          </a:p>
          <a:p>
            <a:r>
              <a:t>- C:\Code\SoftwareTesting\ST-Group\Seminar\Final\Report.md, section 4.2</a:t>
            </a:r>
          </a:p>
          <a:p>
            <a:r>
              <a:t>- https://playwright.dev/</a:t>
            </a:r>
          </a:p>
          <a:p>
            <a:r>
              <a:t>- https://docs.github.com/en/copilot/using-github-copilot/guides-on-using-github-copilot/writing-tests-with-github-copilot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separation of responsibilities. Copilot accelerates the draft; the team audits the locator, wait strategy, assertion, and assumptions; Playwright executes and collects evidence; EShop remains the SUT.</a:t>
            </a:r>
          </a:p>
          <a:p>
            <a:endParaRPr/>
          </a:p>
          <a:p>
            <a:r>
              <a:t>[Sources]</a:t>
            </a:r>
          </a:p>
          <a:p>
            <a:r>
              <a:t>- C:\Code\SoftwareTesting\ST-Group\Seminar\Final\Report.md, section 5</a:t>
            </a:r>
          </a:p>
          <a:p>
            <a:r>
              <a:t>- https://playwright.dev/</a:t>
            </a:r>
          </a:p>
          <a:p>
            <a:r>
              <a:t>- https://docs.github.com/en/copilot/responsible-use/code-review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Clarify the vocabulary: a mock is not a synonym for every test double. In the seminar, the practical emphasis is the stub-like behavior of route.fulfill and the error simulation enabled by route.abort.</a:t>
            </a:r>
          </a:p>
          <a:p>
            <a:endParaRPr/>
          </a:p>
          <a:p>
            <a:r>
              <a:t>[Sources]</a:t>
            </a:r>
          </a:p>
          <a:p>
            <a:r>
              <a:t>- C:\Code\SoftwareTesting\ST-Group\Seminar\Final\Report.md, section 1.6</a:t>
            </a:r>
          </a:p>
          <a:p>
            <a:r>
              <a:t>- https://martinfowler.com/articles/mocksArentStubs.html</a:t>
            </a:r>
          </a:p>
          <a:p>
            <a:r>
              <a:t>- https://xunitpatterns.com/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request lifecycle from left to right. The interceptor pauses a matching request and chooses whether to fulfill, continue, or abort it. This supports deterministic UI states and hard-to-trigger error cases, but does not verify the real backend integration.</a:t>
            </a:r>
          </a:p>
          <a:p>
            <a:endParaRPr/>
          </a:p>
          <a:p>
            <a:r>
              <a:t>[Sources]</a:t>
            </a:r>
          </a:p>
          <a:p>
            <a:r>
              <a:t>- C:\Code\SoftwareTesting\ST-Group\Seminar\Final\Report.md, sections 1.6.7–1.6.10</a:t>
            </a:r>
          </a:p>
          <a:p>
            <a:r>
              <a:t>- https://playwright.dev/docs/network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screenshot as evidence that the team has executed an EShop login flow in Playwright. Do not generalize the visible 2.3-second trace into a benchmark. Introduce the three flow families that the pilot will compare and measure.</a:t>
            </a:r>
          </a:p>
          <a:p>
            <a:endParaRPr/>
          </a:p>
          <a:p>
            <a:r>
              <a:t>[Sources]</a:t>
            </a:r>
          </a:p>
          <a:p>
            <a:r>
              <a:t>- C:\Code\SoftwareTesting\ST-Group\Seminar\Report_05\api_mocking.png</a:t>
            </a:r>
          </a:p>
          <a:p>
            <a:r>
              <a:t>- C:\Code\SoftwareTesting\ST-Group\Seminar\Final\scripts\login.spec.ts</a:t>
            </a:r>
          </a:p>
          <a:p>
            <a:r>
              <a:t>- C:\Code\SoftwareTesting\ST-Group\Seminar\Final\scripts\add-to-cart.spec.ts</a:t>
            </a:r>
          </a:p>
          <a:p>
            <a:r>
              <a:t>- C:\Code\SoftwareTesting\ST-Group\Seminar\Final\scripts\checkout.spec.ts</a:t>
            </a:r>
          </a:p>
          <a:p>
            <a:r>
              <a:t>- https://playwright.dev/docs/trace-viewer-intro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resolves the tension between the draft brief and the report. The report explicitly requires measured evidence and forbids AI-generated metrics. The comparison should use the same scenario, data, environment, and run count.</a:t>
            </a:r>
          </a:p>
          <a:p>
            <a:endParaRPr/>
          </a:p>
          <a:p>
            <a:r>
              <a:t>[Sources]</a:t>
            </a:r>
          </a:p>
          <a:p>
            <a:r>
              <a:t>- C:\Code\SoftwareTesting\ST-Group\Seminar\Final\Report.md, sections 6 and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activity is not a speed contest. The class should evaluate locator intent, synchronization, assertion quality, and the evidence available after failure. Close by writing a rubric that prioritizes role, label, test-id, and business-state assertions.</a:t>
            </a:r>
          </a:p>
          <a:p>
            <a:endParaRPr/>
          </a:p>
          <a:p>
            <a:r>
              <a:t>[Sources]</a:t>
            </a:r>
          </a:p>
          <a:p>
            <a:r>
              <a:t>- C:\Users\Nam\.codex\attachments\3ffc3a06-0f9b-4927-8423-bddb6ed575b2\pasted-text.txt</a:t>
            </a:r>
          </a:p>
          <a:p>
            <a:r>
              <a:t>- C:\Code\SoftwareTesting\ST-Group\Seminar\Final\Report.md, sections 1.5 and 6</a:t>
            </a:r>
          </a:p>
          <a:p>
            <a:r>
              <a:t>- https://playwright.dev/docs/locators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recommendation with its scope. Playwright is selected because it covers the seminar’s technical criteria, is reproducible locally, and exposes the mechanisms students need to understand. Retain real end-to-end smoke tests because fully mocked UI tests cannot verify integration.</a:t>
            </a:r>
          </a:p>
          <a:p>
            <a:endParaRPr/>
          </a:p>
          <a:p>
            <a:r>
              <a:t>[Sources]</a:t>
            </a:r>
          </a:p>
          <a:p>
            <a:r>
              <a:t>- C:\Code\SoftwareTesting\ST-Group\Seminar\Final\Report.md, sections 5, 7, and 8</a:t>
            </a:r>
          </a:p>
          <a:p>
            <a:r>
              <a:t>- https://playwright.dev/</a:t>
            </a:r>
          </a:p>
          <a:p>
            <a:r>
              <a:t>- https://docs.github.com/en/copilot/responsible-use/code-review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 by returning to the three decisions the seminar is designed to support: which results deserve trust, which checks are good automation candidates, and which metrics should be collected before making performance or reliability claims.</a:t>
            </a:r>
          </a:p>
          <a:p>
            <a:endParaRPr/>
          </a:p>
          <a:p>
            <a:r>
              <a:t>[Sources]</a:t>
            </a:r>
          </a:p>
          <a:p>
            <a:r>
              <a:t>- C:\Code\SoftwareTesting\ST-Group\Seminar\Final\Report.md</a:t>
            </a:r>
          </a:p>
          <a:p>
            <a:r>
              <a:t>- https://www.istqb.org/wp-content/uploads/2024/11/ISTQB_CTAL-TAE_Syllabus_v2.0.pdf</a:t>
            </a:r>
          </a:p>
          <a:p>
            <a:r>
              <a:t>- https://martinfowler.com/articles/mocksArentStubs.html</a:t>
            </a:r>
          </a:p>
          <a:p>
            <a:r>
              <a:t>- https://xunitpatterns.com/</a:t>
            </a:r>
          </a:p>
          <a:p>
            <a:r>
              <a:t>- https://playwright.dev/docs/network</a:t>
            </a:r>
          </a:p>
          <a:p>
            <a:r>
              <a:t>- https://playwright.dev/docs/locators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25378" r="25378"/>
          <a:stretch>
            <a:fillRect/>
          </a:stretch>
        </p:blipFill>
        <p:spPr>
          <a:xfrm>
            <a:off x="6191250" y="0"/>
            <a:ext cx="6000750" cy="6858000"/>
          </a:xfrm>
          <a:prstGeom prst="rect">
            <a:avLst/>
          </a:prstGeom>
        </p:spPr>
      </p:pic>
      <p:sp>
        <p:nvSpPr>
          <p:cNvPr id="2" name="cover-accent">
            <a:extLst>
              <a:ext uri="{FF2B5EF4-FFF2-40B4-BE49-F238E27FC236}">
                <a16:creationId xmlns:a16="http://schemas.microsoft.com/office/drawing/2014/main" id="{45F03350-69C7-4194-A326-63057BCE0C4F}"/>
              </a:ext>
            </a:extLst>
          </p:cNvPr>
          <p:cNvSpPr>
            <a:spLocks noGrp="1"/>
          </p:cNvSpPr>
          <p:nvPr/>
        </p:nvSpPr>
        <p:spPr>
          <a:xfrm>
            <a:off x="400050" y="590550"/>
            <a:ext cx="781050" cy="66675"/>
          </a:xfrm>
          <a:prstGeom prst="rect">
            <a:avLst/>
          </a:prstGeom>
          <a:solidFill>
            <a:srgbClr val="3D8DFF"/>
          </a:solidFill>
          <a:ln w="0">
            <a:noFill/>
            <a:prstDash val="solid"/>
          </a:ln>
        </p:spPr>
      </p:sp>
      <p:sp>
        <p:nvSpPr>
          <p:cNvPr id="3" name="cover-kicker">
            <a:extLst>
              <a:ext uri="{FF2B5EF4-FFF2-40B4-BE49-F238E27FC236}">
                <a16:creationId xmlns:a16="http://schemas.microsoft.com/office/drawing/2014/main" id="{3126ED51-8C1D-419B-BDF3-14CFEE612B0A}"/>
              </a:ext>
            </a:extLst>
          </p:cNvPr>
          <p:cNvSpPr>
            <a:spLocks noGrp="1"/>
          </p:cNvSpPr>
          <p:nvPr/>
        </p:nvSpPr>
        <p:spPr>
          <a:xfrm>
            <a:off x="400050" y="838200"/>
            <a:ext cx="5191125"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SOFTWARE TESTING SEMINAR • GROUP T02</a:t>
            </a:r>
          </a:p>
        </p:txBody>
      </p:sp>
      <p:sp>
        <p:nvSpPr>
          <p:cNvPr id="4" name="cover-title">
            <a:extLst>
              <a:ext uri="{FF2B5EF4-FFF2-40B4-BE49-F238E27FC236}">
                <a16:creationId xmlns:a16="http://schemas.microsoft.com/office/drawing/2014/main" id="{008145BC-4F2B-4042-88DA-00974FF50F2F}"/>
              </a:ext>
            </a:extLst>
          </p:cNvPr>
          <p:cNvSpPr>
            <a:spLocks noGrp="1"/>
          </p:cNvSpPr>
          <p:nvPr/>
        </p:nvSpPr>
        <p:spPr>
          <a:xfrm>
            <a:off x="400050" y="1409700"/>
            <a:ext cx="5286375" cy="1809750"/>
          </a:xfrm>
          <a:prstGeom prst="rect">
            <a:avLst/>
          </a:prstGeom>
          <a:noFill/>
          <a:ln w="0">
            <a:noFill/>
            <a:prstDash val="solid"/>
          </a:ln>
        </p:spPr>
        <p:txBody>
          <a:bodyPr wrap="square" lIns="0" tIns="0" rIns="0" bIns="0" anchor="t">
            <a:noAutofit/>
          </a:bodyPr>
          <a:lstStyle/>
          <a:p>
            <a:pPr algn="l">
              <a:lnSpc>
                <a:spcPct val="94000"/>
              </a:lnSpc>
              <a:buNone/>
              <a:defRPr sz="5100" b="1" i="0">
                <a:solidFill>
                  <a:srgbClr val="111827"/>
                </a:solidFill>
                <a:latin typeface="Arial"/>
                <a:ea typeface="Arial"/>
                <a:cs typeface="Arial"/>
              </a:defRPr>
            </a:pPr>
            <a:r>
              <a:rPr sz="5100" b="1" i="0">
                <a:solidFill>
                  <a:srgbClr val="111827"/>
                </a:solidFill>
                <a:latin typeface="Arial"/>
                <a:ea typeface="Arial"/>
                <a:cs typeface="Arial"/>
              </a:rPr>
              <a:t>Web Automation</a:t>
            </a:r>
          </a:p>
          <a:p>
            <a:pPr algn="l">
              <a:lnSpc>
                <a:spcPct val="94000"/>
              </a:lnSpc>
              <a:buNone/>
              <a:defRPr sz="5100" b="1" i="0">
                <a:solidFill>
                  <a:srgbClr val="111827"/>
                </a:solidFill>
                <a:latin typeface="Arial"/>
                <a:ea typeface="Arial"/>
                <a:cs typeface="Arial"/>
              </a:defRPr>
            </a:pPr>
            <a:r>
              <a:rPr sz="5100" b="1" i="0">
                <a:solidFill>
                  <a:srgbClr val="111827"/>
                </a:solidFill>
                <a:latin typeface="Arial"/>
                <a:ea typeface="Arial"/>
                <a:cs typeface="Arial"/>
              </a:rPr>
              <a:t>Testing</a:t>
            </a:r>
          </a:p>
        </p:txBody>
      </p:sp>
      <p:sp>
        <p:nvSpPr>
          <p:cNvPr id="5" name="cover-subtitle">
            <a:extLst>
              <a:ext uri="{FF2B5EF4-FFF2-40B4-BE49-F238E27FC236}">
                <a16:creationId xmlns:a16="http://schemas.microsoft.com/office/drawing/2014/main" id="{60E15CE6-476D-4C74-9E85-8855FE7A6900}"/>
              </a:ext>
            </a:extLst>
          </p:cNvPr>
          <p:cNvSpPr>
            <a:spLocks noGrp="1"/>
          </p:cNvSpPr>
          <p:nvPr/>
        </p:nvSpPr>
        <p:spPr>
          <a:xfrm>
            <a:off x="400050" y="3543300"/>
            <a:ext cx="5191125" cy="876300"/>
          </a:xfrm>
          <a:prstGeom prst="rect">
            <a:avLst/>
          </a:prstGeom>
          <a:noFill/>
          <a:ln w="0">
            <a:noFill/>
            <a:prstDash val="solid"/>
          </a:ln>
        </p:spPr>
        <p:txBody>
          <a:bodyPr wrap="square" lIns="0" tIns="0" rIns="0" bIns="0" anchor="t">
            <a:normAutofit fontScale="98202"/>
          </a:bodyPr>
          <a:lstStyle/>
          <a:p>
            <a:pPr algn="l">
              <a:lnSpc>
                <a:spcPct val="104000"/>
              </a:lnSpc>
              <a:buNone/>
              <a:defRPr sz="2025" b="0" i="0">
                <a:solidFill>
                  <a:srgbClr val="5F6B7A"/>
                </a:solidFill>
                <a:latin typeface="Arial"/>
                <a:ea typeface="Arial"/>
                <a:cs typeface="Arial"/>
              </a:defRPr>
            </a:pPr>
            <a:r>
              <a:rPr sz="2025" b="0" i="0">
                <a:solidFill>
                  <a:srgbClr val="5F6B7A"/>
                </a:solidFill>
                <a:latin typeface="Arial"/>
                <a:ea typeface="Arial"/>
                <a:cs typeface="Arial"/>
              </a:rPr>
              <a:t>End-to-end testing at speed—</a:t>
            </a:r>
          </a:p>
          <a:p>
            <a:pPr algn="l">
              <a:lnSpc>
                <a:spcPct val="104000"/>
              </a:lnSpc>
              <a:buNone/>
              <a:defRPr sz="2025" b="0" i="0">
                <a:solidFill>
                  <a:srgbClr val="5F6B7A"/>
                </a:solidFill>
                <a:latin typeface="Arial"/>
                <a:ea typeface="Arial"/>
                <a:cs typeface="Arial"/>
              </a:defRPr>
            </a:pPr>
            <a:r>
              <a:rPr sz="2025" b="0" i="0">
                <a:solidFill>
                  <a:srgbClr val="5F6B7A"/>
                </a:solidFill>
                <a:latin typeface="Arial"/>
                <a:ea typeface="Arial"/>
                <a:cs typeface="Arial"/>
              </a:rPr>
              <a:t>and the AI promised land under human control</a:t>
            </a:r>
          </a:p>
        </p:txBody>
      </p:sp>
      <p:sp>
        <p:nvSpPr>
          <p:cNvPr id="6" name="cover-scope">
            <a:extLst>
              <a:ext uri="{FF2B5EF4-FFF2-40B4-BE49-F238E27FC236}">
                <a16:creationId xmlns:a16="http://schemas.microsoft.com/office/drawing/2014/main" id="{F22FA404-4F15-4527-932C-340AF93497CC}"/>
              </a:ext>
            </a:extLst>
          </p:cNvPr>
          <p:cNvSpPr>
            <a:spLocks noGrp="1"/>
          </p:cNvSpPr>
          <p:nvPr/>
        </p:nvSpPr>
        <p:spPr>
          <a:xfrm>
            <a:off x="400050" y="5334000"/>
            <a:ext cx="5191125" cy="51435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0B1F3A"/>
                </a:solidFill>
                <a:latin typeface="Arial"/>
                <a:ea typeface="Arial"/>
                <a:cs typeface="Arial"/>
              </a:defRPr>
            </a:pPr>
            <a:r>
              <a:rPr sz="1350" b="1" i="0">
                <a:solidFill>
                  <a:srgbClr val="0B1F3A"/>
                </a:solidFill>
                <a:latin typeface="Arial"/>
                <a:ea typeface="Arial"/>
                <a:cs typeface="Arial"/>
              </a:rPr>
              <a:t>Theory • tool survey • Playwright API mocking • EShop pilot • 25-minute activity</a:t>
            </a:r>
          </a:p>
        </p:txBody>
      </p:sp>
      <p:sp>
        <p:nvSpPr>
          <p:cNvPr id="7" name="cover-date">
            <a:extLst>
              <a:ext uri="{FF2B5EF4-FFF2-40B4-BE49-F238E27FC236}">
                <a16:creationId xmlns:a16="http://schemas.microsoft.com/office/drawing/2014/main" id="{00A40FD9-B039-4FF2-AF6F-1140CE742D2E}"/>
              </a:ext>
            </a:extLst>
          </p:cNvPr>
          <p:cNvSpPr>
            <a:spLocks noGrp="1"/>
          </p:cNvSpPr>
          <p:nvPr/>
        </p:nvSpPr>
        <p:spPr>
          <a:xfrm>
            <a:off x="400050" y="6238875"/>
            <a:ext cx="2857500" cy="228600"/>
          </a:xfrm>
          <a:prstGeom prst="rect">
            <a:avLst/>
          </a:prstGeom>
          <a:noFill/>
          <a:ln w="0">
            <a:noFill/>
            <a:prstDash val="solid"/>
          </a:ln>
        </p:spPr>
        <p:txBody>
          <a:bodyPr wrap="square" lIns="0" tIns="0" rIns="0" bIns="0" anchor="t">
            <a:normAutofit/>
          </a:bodyPr>
          <a:lstStyle/>
          <a:p>
            <a:pPr algn="l">
              <a:lnSpc>
                <a:spcPct val="105000"/>
              </a:lnSpc>
              <a:buNone/>
              <a:defRPr sz="1125" b="0" i="0">
                <a:solidFill>
                  <a:srgbClr val="5F6B7A"/>
                </a:solidFill>
                <a:latin typeface="Arial"/>
                <a:ea typeface="Arial"/>
                <a:cs typeface="Arial"/>
              </a:defRPr>
            </a:pPr>
            <a:r>
              <a:rPr sz="1125" b="0" i="0">
                <a:solidFill>
                  <a:srgbClr val="5F6B7A"/>
                </a:solidFill>
                <a:latin typeface="Arial"/>
                <a:ea typeface="Arial"/>
                <a:cs typeface="Arial"/>
              </a:rPr>
              <a:t>CS423 / CSC15003</a:t>
            </a:r>
          </a:p>
        </p:txBody>
      </p:sp>
    </p:spTree>
    <p:extLst>
      <p:ext uri="{BB962C8B-B14F-4D97-AF65-F5344CB8AC3E}">
        <p14:creationId xmlns:p14="http://schemas.microsoft.com/office/powerpoint/2010/main" val="852448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ection-2">
            <a:extLst>
              <a:ext uri="{FF2B5EF4-FFF2-40B4-BE49-F238E27FC236}">
                <a16:creationId xmlns:a16="http://schemas.microsoft.com/office/drawing/2014/main" id="{D8DBBB61-76C1-4A3E-A112-4D70709DEFB9}"/>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WELCOME</a:t>
            </a:r>
          </a:p>
        </p:txBody>
      </p:sp>
      <p:sp>
        <p:nvSpPr>
          <p:cNvPr id="2" name="title-2">
            <a:extLst>
              <a:ext uri="{FF2B5EF4-FFF2-40B4-BE49-F238E27FC236}">
                <a16:creationId xmlns:a16="http://schemas.microsoft.com/office/drawing/2014/main" id="{B1864ADC-C092-4F19-80FE-4B2323790BF1}"/>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One story, three workstreams, six beats</a:t>
            </a:r>
          </a:p>
        </p:txBody>
      </p:sp>
      <p:sp>
        <p:nvSpPr>
          <p:cNvPr id="3" name="title-rule-2">
            <a:extLst>
              <a:ext uri="{FF2B5EF4-FFF2-40B4-BE49-F238E27FC236}">
                <a16:creationId xmlns:a16="http://schemas.microsoft.com/office/drawing/2014/main" id="{B0ED97F4-0C45-4A39-B2ED-5DAB4A322AB4}"/>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2">
            <a:extLst>
              <a:ext uri="{FF2B5EF4-FFF2-40B4-BE49-F238E27FC236}">
                <a16:creationId xmlns:a16="http://schemas.microsoft.com/office/drawing/2014/main" id="{EA4F7317-EB54-45C9-98E4-96E19E0F8236}"/>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2">
            <a:extLst>
              <a:ext uri="{FF2B5EF4-FFF2-40B4-BE49-F238E27FC236}">
                <a16:creationId xmlns:a16="http://schemas.microsoft.com/office/drawing/2014/main" id="{84D97B5F-5B96-43A9-8967-735D6800B4C4}"/>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02</a:t>
            </a:r>
          </a:p>
        </p:txBody>
      </p:sp>
      <p:sp>
        <p:nvSpPr>
          <p:cNvPr id="6" name="team-label">
            <a:extLst>
              <a:ext uri="{FF2B5EF4-FFF2-40B4-BE49-F238E27FC236}">
                <a16:creationId xmlns:a16="http://schemas.microsoft.com/office/drawing/2014/main" id="{894651DB-771B-4870-B9E3-676699FC5C37}"/>
              </a:ext>
            </a:extLst>
          </p:cNvPr>
          <p:cNvSpPr>
            <a:spLocks noGrp="1"/>
          </p:cNvSpPr>
          <p:nvPr/>
        </p:nvSpPr>
        <p:spPr>
          <a:xfrm>
            <a:off x="400050" y="1647825"/>
            <a:ext cx="2381250" cy="24765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3D8DFF"/>
                </a:solidFill>
                <a:latin typeface="Arial"/>
                <a:ea typeface="Arial"/>
                <a:cs typeface="Arial"/>
              </a:defRPr>
            </a:pPr>
            <a:r>
              <a:rPr sz="1275" b="1" i="0">
                <a:solidFill>
                  <a:srgbClr val="3D8DFF"/>
                </a:solidFill>
                <a:latin typeface="Arial"/>
                <a:ea typeface="Arial"/>
                <a:cs typeface="Arial"/>
              </a:rPr>
              <a:t>TEAM T02</a:t>
            </a:r>
          </a:p>
        </p:txBody>
      </p:sp>
      <p:sp>
        <p:nvSpPr>
          <p:cNvPr id="7" name="role-num-0">
            <a:extLst>
              <a:ext uri="{FF2B5EF4-FFF2-40B4-BE49-F238E27FC236}">
                <a16:creationId xmlns:a16="http://schemas.microsoft.com/office/drawing/2014/main" id="{C8ECCDDA-2346-44F3-9F70-3F17CECB7CFF}"/>
              </a:ext>
            </a:extLst>
          </p:cNvPr>
          <p:cNvSpPr>
            <a:spLocks noGrp="1"/>
          </p:cNvSpPr>
          <p:nvPr/>
        </p:nvSpPr>
        <p:spPr>
          <a:xfrm>
            <a:off x="400050" y="2076450"/>
            <a:ext cx="457200" cy="3619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6DCBF4"/>
                </a:solidFill>
                <a:latin typeface="Arial"/>
                <a:ea typeface="Arial"/>
                <a:cs typeface="Arial"/>
              </a:defRPr>
            </a:pPr>
            <a:r>
              <a:rPr sz="2100" b="1" i="0">
                <a:solidFill>
                  <a:srgbClr val="6DCBF4"/>
                </a:solidFill>
                <a:latin typeface="Arial"/>
                <a:ea typeface="Arial"/>
                <a:cs typeface="Arial"/>
              </a:rPr>
              <a:t>01</a:t>
            </a:r>
          </a:p>
        </p:txBody>
      </p:sp>
      <p:sp>
        <p:nvSpPr>
          <p:cNvPr id="8" name="role-0">
            <a:extLst>
              <a:ext uri="{FF2B5EF4-FFF2-40B4-BE49-F238E27FC236}">
                <a16:creationId xmlns:a16="http://schemas.microsoft.com/office/drawing/2014/main" id="{44DDC0F4-5C5B-4F93-9AED-D4B5B0052C07}"/>
              </a:ext>
            </a:extLst>
          </p:cNvPr>
          <p:cNvSpPr>
            <a:spLocks noGrp="1"/>
          </p:cNvSpPr>
          <p:nvPr/>
        </p:nvSpPr>
        <p:spPr>
          <a:xfrm>
            <a:off x="952500" y="2057400"/>
            <a:ext cx="3190875" cy="952500"/>
          </a:xfrm>
          <a:prstGeom prst="rect">
            <a:avLst/>
          </a:prstGeom>
          <a:noFill/>
          <a:ln w="0">
            <a:noFill/>
            <a:prstDash val="solid"/>
          </a:ln>
        </p:spPr>
        <p:txBody>
          <a:bodyPr wrap="square" lIns="0" tIns="0" rIns="0" bIns="0" anchor="t">
            <a:normAutofit/>
          </a:bodyPr>
          <a:lstStyle/>
          <a:p>
            <a:pPr algn="l">
              <a:spcAft>
                <a:spcPts val="7"/>
              </a:spcAft>
              <a:defRPr sz="1500" b="0" i="0">
                <a:solidFill>
                  <a:srgbClr val="111827"/>
                </a:solidFill>
                <a:latin typeface="Arial"/>
                <a:ea typeface="Arial"/>
                <a:cs typeface="Arial"/>
              </a:defRPr>
            </a:pPr>
            <a:r>
              <a:rPr sz="1650" b="1">
                <a:solidFill>
                  <a:srgbClr val="111827"/>
                </a:solidFill>
                <a:latin typeface="Arial"/>
                <a:ea typeface="Arial"/>
                <a:cs typeface="Arial"/>
              </a:rPr>
              <a:t>Seminar lead</a:t>
            </a:r>
          </a:p>
          <a:p>
            <a:pPr algn="l">
              <a:defRPr sz="1500" b="0" i="0">
                <a:solidFill>
                  <a:srgbClr val="111827"/>
                </a:solidFill>
                <a:latin typeface="Arial"/>
                <a:ea typeface="Arial"/>
                <a:cs typeface="Arial"/>
              </a:defRPr>
            </a:pPr>
            <a:r>
              <a:rPr sz="1275">
                <a:solidFill>
                  <a:srgbClr val="5F6B7A"/>
                </a:solidFill>
                <a:latin typeface="Arial"/>
                <a:ea typeface="Arial"/>
                <a:cs typeface="Arial"/>
              </a:rPr>
              <a:t>Automation theory
Narrative &amp; slide design</a:t>
            </a:r>
          </a:p>
        </p:txBody>
      </p:sp>
      <p:sp>
        <p:nvSpPr>
          <p:cNvPr id="9" name="role-num-1">
            <a:extLst>
              <a:ext uri="{FF2B5EF4-FFF2-40B4-BE49-F238E27FC236}">
                <a16:creationId xmlns:a16="http://schemas.microsoft.com/office/drawing/2014/main" id="{19A46F80-11AE-474E-AA47-94B40140205E}"/>
              </a:ext>
            </a:extLst>
          </p:cNvPr>
          <p:cNvSpPr>
            <a:spLocks noGrp="1"/>
          </p:cNvSpPr>
          <p:nvPr/>
        </p:nvSpPr>
        <p:spPr>
          <a:xfrm>
            <a:off x="400050" y="3314700"/>
            <a:ext cx="457200" cy="3619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6DCBF4"/>
                </a:solidFill>
                <a:latin typeface="Arial"/>
                <a:ea typeface="Arial"/>
                <a:cs typeface="Arial"/>
              </a:defRPr>
            </a:pPr>
            <a:r>
              <a:rPr sz="2100" b="1" i="0">
                <a:solidFill>
                  <a:srgbClr val="6DCBF4"/>
                </a:solidFill>
                <a:latin typeface="Arial"/>
                <a:ea typeface="Arial"/>
                <a:cs typeface="Arial"/>
              </a:rPr>
              <a:t>02</a:t>
            </a:r>
          </a:p>
        </p:txBody>
      </p:sp>
      <p:sp>
        <p:nvSpPr>
          <p:cNvPr id="10" name="role-1">
            <a:extLst>
              <a:ext uri="{FF2B5EF4-FFF2-40B4-BE49-F238E27FC236}">
                <a16:creationId xmlns:a16="http://schemas.microsoft.com/office/drawing/2014/main" id="{814E8EEC-1885-4985-9AF2-916F55355969}"/>
              </a:ext>
            </a:extLst>
          </p:cNvPr>
          <p:cNvSpPr>
            <a:spLocks noGrp="1"/>
          </p:cNvSpPr>
          <p:nvPr/>
        </p:nvSpPr>
        <p:spPr>
          <a:xfrm>
            <a:off x="952500" y="3295650"/>
            <a:ext cx="3190875" cy="952500"/>
          </a:xfrm>
          <a:prstGeom prst="rect">
            <a:avLst/>
          </a:prstGeom>
          <a:noFill/>
          <a:ln w="0">
            <a:noFill/>
            <a:prstDash val="solid"/>
          </a:ln>
        </p:spPr>
        <p:txBody>
          <a:bodyPr wrap="square" lIns="0" tIns="0" rIns="0" bIns="0" anchor="t">
            <a:normAutofit/>
          </a:bodyPr>
          <a:lstStyle/>
          <a:p>
            <a:pPr algn="l">
              <a:spcAft>
                <a:spcPts val="7"/>
              </a:spcAft>
              <a:defRPr sz="1500" b="0" i="0">
                <a:solidFill>
                  <a:srgbClr val="111827"/>
                </a:solidFill>
                <a:latin typeface="Arial"/>
                <a:ea typeface="Arial"/>
                <a:cs typeface="Arial"/>
              </a:defRPr>
            </a:pPr>
            <a:r>
              <a:rPr sz="1650" b="1">
                <a:solidFill>
                  <a:srgbClr val="111827"/>
                </a:solidFill>
                <a:latin typeface="Arial"/>
                <a:ea typeface="Arial"/>
                <a:cs typeface="Arial"/>
              </a:rPr>
              <a:t>Automation engineering</a:t>
            </a:r>
          </a:p>
          <a:p>
            <a:pPr algn="l">
              <a:defRPr sz="1500" b="0" i="0">
                <a:solidFill>
                  <a:srgbClr val="111827"/>
                </a:solidFill>
                <a:latin typeface="Arial"/>
                <a:ea typeface="Arial"/>
                <a:cs typeface="Arial"/>
              </a:defRPr>
            </a:pPr>
            <a:r>
              <a:rPr sz="1275">
                <a:solidFill>
                  <a:srgbClr val="5F6B7A"/>
                </a:solidFill>
                <a:latin typeface="Arial"/>
                <a:ea typeface="Arial"/>
                <a:cs typeface="Arial"/>
              </a:rPr>
              <a:t>Playwright setup
E2E flows &amp; API mocking</a:t>
            </a:r>
          </a:p>
        </p:txBody>
      </p:sp>
      <p:sp>
        <p:nvSpPr>
          <p:cNvPr id="11" name="role-num-2">
            <a:extLst>
              <a:ext uri="{FF2B5EF4-FFF2-40B4-BE49-F238E27FC236}">
                <a16:creationId xmlns:a16="http://schemas.microsoft.com/office/drawing/2014/main" id="{47ECA864-7673-4B2F-BA9A-F9F602EB5A52}"/>
              </a:ext>
            </a:extLst>
          </p:cNvPr>
          <p:cNvSpPr>
            <a:spLocks noGrp="1"/>
          </p:cNvSpPr>
          <p:nvPr/>
        </p:nvSpPr>
        <p:spPr>
          <a:xfrm>
            <a:off x="400050" y="4552950"/>
            <a:ext cx="457200" cy="3619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6DCBF4"/>
                </a:solidFill>
                <a:latin typeface="Arial"/>
                <a:ea typeface="Arial"/>
                <a:cs typeface="Arial"/>
              </a:defRPr>
            </a:pPr>
            <a:r>
              <a:rPr sz="2100" b="1" i="0">
                <a:solidFill>
                  <a:srgbClr val="6DCBF4"/>
                </a:solidFill>
                <a:latin typeface="Arial"/>
                <a:ea typeface="Arial"/>
                <a:cs typeface="Arial"/>
              </a:rPr>
              <a:t>03</a:t>
            </a:r>
          </a:p>
        </p:txBody>
      </p:sp>
      <p:sp>
        <p:nvSpPr>
          <p:cNvPr id="12" name="role-2">
            <a:extLst>
              <a:ext uri="{FF2B5EF4-FFF2-40B4-BE49-F238E27FC236}">
                <a16:creationId xmlns:a16="http://schemas.microsoft.com/office/drawing/2014/main" id="{F7DCA9FC-F348-40BC-B3AA-BE7BB495C1E7}"/>
              </a:ext>
            </a:extLst>
          </p:cNvPr>
          <p:cNvSpPr>
            <a:spLocks noGrp="1"/>
          </p:cNvSpPr>
          <p:nvPr/>
        </p:nvSpPr>
        <p:spPr>
          <a:xfrm>
            <a:off x="952500" y="4533900"/>
            <a:ext cx="3190875" cy="952500"/>
          </a:xfrm>
          <a:prstGeom prst="rect">
            <a:avLst/>
          </a:prstGeom>
          <a:noFill/>
          <a:ln w="0">
            <a:noFill/>
            <a:prstDash val="solid"/>
          </a:ln>
        </p:spPr>
        <p:txBody>
          <a:bodyPr wrap="square" lIns="0" tIns="0" rIns="0" bIns="0" anchor="t">
            <a:normAutofit/>
          </a:bodyPr>
          <a:lstStyle/>
          <a:p>
            <a:pPr algn="l">
              <a:spcAft>
                <a:spcPts val="7"/>
              </a:spcAft>
              <a:defRPr sz="1500" b="0" i="0">
                <a:solidFill>
                  <a:srgbClr val="111827"/>
                </a:solidFill>
                <a:latin typeface="Arial"/>
                <a:ea typeface="Arial"/>
                <a:cs typeface="Arial"/>
              </a:defRPr>
            </a:pPr>
            <a:r>
              <a:rPr sz="1650" b="1">
                <a:solidFill>
                  <a:srgbClr val="111827"/>
                </a:solidFill>
                <a:latin typeface="Arial"/>
                <a:ea typeface="Arial"/>
                <a:cs typeface="Arial"/>
              </a:rPr>
              <a:t>AI research &amp; activity</a:t>
            </a:r>
          </a:p>
          <a:p>
            <a:pPr algn="l">
              <a:defRPr sz="1500" b="0" i="0">
                <a:solidFill>
                  <a:srgbClr val="111827"/>
                </a:solidFill>
                <a:latin typeface="Arial"/>
                <a:ea typeface="Arial"/>
                <a:cs typeface="Arial"/>
              </a:defRPr>
            </a:pPr>
            <a:r>
              <a:rPr sz="1275">
                <a:solidFill>
                  <a:srgbClr val="5F6B7A"/>
                </a:solidFill>
                <a:latin typeface="Arial"/>
                <a:ea typeface="Arial"/>
                <a:cs typeface="Arial"/>
              </a:rPr>
              <a:t>Tool survey
Locator Brawl design</a:t>
            </a:r>
          </a:p>
        </p:txBody>
      </p:sp>
      <p:sp>
        <p:nvSpPr>
          <p:cNvPr id="13" name="agenda-label">
            <a:extLst>
              <a:ext uri="{FF2B5EF4-FFF2-40B4-BE49-F238E27FC236}">
                <a16:creationId xmlns:a16="http://schemas.microsoft.com/office/drawing/2014/main" id="{2C4F957F-91BF-45D5-B337-F991B7F8C05D}"/>
              </a:ext>
            </a:extLst>
          </p:cNvPr>
          <p:cNvSpPr>
            <a:spLocks noGrp="1"/>
          </p:cNvSpPr>
          <p:nvPr/>
        </p:nvSpPr>
        <p:spPr>
          <a:xfrm>
            <a:off x="4857750" y="1647825"/>
            <a:ext cx="2857500" cy="24765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3D8DFF"/>
                </a:solidFill>
                <a:latin typeface="Arial"/>
                <a:ea typeface="Arial"/>
                <a:cs typeface="Arial"/>
              </a:defRPr>
            </a:pPr>
            <a:r>
              <a:rPr sz="1275" b="1" i="0">
                <a:solidFill>
                  <a:srgbClr val="3D8DFF"/>
                </a:solidFill>
                <a:latin typeface="Arial"/>
                <a:ea typeface="Arial"/>
                <a:cs typeface="Arial"/>
              </a:rPr>
              <a:t>SEMINAR FLOW</a:t>
            </a:r>
          </a:p>
        </p:txBody>
      </p:sp>
      <p:sp>
        <p:nvSpPr>
          <p:cNvPr id="14" name="agenda-line-0">
            <a:extLst>
              <a:ext uri="{FF2B5EF4-FFF2-40B4-BE49-F238E27FC236}">
                <a16:creationId xmlns:a16="http://schemas.microsoft.com/office/drawing/2014/main" id="{F8C28906-872A-4732-AB9B-952D38F01CD3}"/>
              </a:ext>
            </a:extLst>
          </p:cNvPr>
          <p:cNvSpPr>
            <a:spLocks noGrp="1"/>
          </p:cNvSpPr>
          <p:nvPr/>
        </p:nvSpPr>
        <p:spPr>
          <a:xfrm>
            <a:off x="4857750" y="2514600"/>
            <a:ext cx="6667500" cy="0"/>
          </a:xfrm>
          <a:prstGeom prst="line">
            <a:avLst/>
          </a:prstGeom>
          <a:noFill/>
          <a:ln w="9525">
            <a:solidFill>
              <a:srgbClr val="B8BCC4"/>
            </a:solidFill>
            <a:prstDash val="solid"/>
          </a:ln>
        </p:spPr>
      </p:sp>
      <p:sp>
        <p:nvSpPr>
          <p:cNvPr id="15" name="agenda-number-0">
            <a:extLst>
              <a:ext uri="{FF2B5EF4-FFF2-40B4-BE49-F238E27FC236}">
                <a16:creationId xmlns:a16="http://schemas.microsoft.com/office/drawing/2014/main" id="{5036A3C0-B3E1-4DD5-A66C-2879C7091574}"/>
              </a:ext>
            </a:extLst>
          </p:cNvPr>
          <p:cNvSpPr>
            <a:spLocks noGrp="1"/>
          </p:cNvSpPr>
          <p:nvPr/>
        </p:nvSpPr>
        <p:spPr>
          <a:xfrm>
            <a:off x="4857750" y="2047875"/>
            <a:ext cx="552450" cy="400050"/>
          </a:xfrm>
          <a:prstGeom prst="rect">
            <a:avLst/>
          </a:prstGeom>
          <a:noFill/>
          <a:ln w="0">
            <a:noFill/>
            <a:prstDash val="solid"/>
          </a:ln>
        </p:spPr>
        <p:txBody>
          <a:bodyPr wrap="square" lIns="0" tIns="0" rIns="0" bIns="0" anchor="ctr">
            <a:normAutofit/>
          </a:bodyPr>
          <a:lstStyle/>
          <a:p>
            <a:pPr algn="l">
              <a:lnSpc>
                <a:spcPct val="105000"/>
              </a:lnSpc>
              <a:buNone/>
              <a:defRPr sz="1350" b="1" i="0">
                <a:solidFill>
                  <a:srgbClr val="5F6B7A"/>
                </a:solidFill>
                <a:latin typeface="Arial"/>
                <a:ea typeface="Arial"/>
                <a:cs typeface="Arial"/>
              </a:defRPr>
            </a:pPr>
            <a:r>
              <a:rPr sz="1350" b="1" i="0">
                <a:solidFill>
                  <a:srgbClr val="5F6B7A"/>
                </a:solidFill>
                <a:latin typeface="Arial"/>
                <a:ea typeface="Arial"/>
                <a:cs typeface="Arial"/>
              </a:rPr>
              <a:t>01</a:t>
            </a:r>
          </a:p>
        </p:txBody>
      </p:sp>
      <p:sp>
        <p:nvSpPr>
          <p:cNvPr id="16" name="agenda-item-0">
            <a:extLst>
              <a:ext uri="{FF2B5EF4-FFF2-40B4-BE49-F238E27FC236}">
                <a16:creationId xmlns:a16="http://schemas.microsoft.com/office/drawing/2014/main" id="{04FEF811-EBC3-4F0E-84E7-2589A913887D}"/>
              </a:ext>
            </a:extLst>
          </p:cNvPr>
          <p:cNvSpPr>
            <a:spLocks noGrp="1"/>
          </p:cNvSpPr>
          <p:nvPr/>
        </p:nvSpPr>
        <p:spPr>
          <a:xfrm>
            <a:off x="5619750" y="2047875"/>
            <a:ext cx="5905500" cy="400050"/>
          </a:xfrm>
          <a:prstGeom prst="rect">
            <a:avLst/>
          </a:prstGeom>
          <a:noFill/>
          <a:ln w="0">
            <a:noFill/>
            <a:prstDash val="solid"/>
          </a:ln>
        </p:spPr>
        <p:txBody>
          <a:bodyPr wrap="square" lIns="0" tIns="0" rIns="0" bIns="0" anchor="ctr">
            <a:normAutofit/>
          </a:bodyPr>
          <a:lstStyle/>
          <a:p>
            <a:pPr algn="l">
              <a:lnSpc>
                <a:spcPct val="105000"/>
              </a:lnSpc>
              <a:buNone/>
              <a:defRPr sz="1800" b="0" i="0">
                <a:solidFill>
                  <a:srgbClr val="111827"/>
                </a:solidFill>
                <a:latin typeface="Arial"/>
                <a:ea typeface="Arial"/>
                <a:cs typeface="Arial"/>
              </a:defRPr>
            </a:pPr>
            <a:r>
              <a:rPr sz="1800" b="0" i="0">
                <a:solidFill>
                  <a:srgbClr val="111827"/>
                </a:solidFill>
                <a:latin typeface="Arial"/>
                <a:ea typeface="Arial"/>
                <a:cs typeface="Arial"/>
              </a:rPr>
              <a:t>Automation foundations &amp; quality</a:t>
            </a:r>
          </a:p>
        </p:txBody>
      </p:sp>
      <p:sp>
        <p:nvSpPr>
          <p:cNvPr id="17" name="agenda-line-1">
            <a:extLst>
              <a:ext uri="{FF2B5EF4-FFF2-40B4-BE49-F238E27FC236}">
                <a16:creationId xmlns:a16="http://schemas.microsoft.com/office/drawing/2014/main" id="{F3D01E9E-F584-4380-8505-9F610BF7B662}"/>
              </a:ext>
            </a:extLst>
          </p:cNvPr>
          <p:cNvSpPr>
            <a:spLocks noGrp="1"/>
          </p:cNvSpPr>
          <p:nvPr/>
        </p:nvSpPr>
        <p:spPr>
          <a:xfrm>
            <a:off x="4857750" y="3171825"/>
            <a:ext cx="6667500" cy="0"/>
          </a:xfrm>
          <a:prstGeom prst="line">
            <a:avLst/>
          </a:prstGeom>
          <a:noFill/>
          <a:ln w="9525">
            <a:solidFill>
              <a:srgbClr val="B8BCC4"/>
            </a:solidFill>
            <a:prstDash val="solid"/>
          </a:ln>
        </p:spPr>
      </p:sp>
      <p:sp>
        <p:nvSpPr>
          <p:cNvPr id="18" name="agenda-number-1">
            <a:extLst>
              <a:ext uri="{FF2B5EF4-FFF2-40B4-BE49-F238E27FC236}">
                <a16:creationId xmlns:a16="http://schemas.microsoft.com/office/drawing/2014/main" id="{75E6C0D2-A50A-4D60-8862-49810D45A9F8}"/>
              </a:ext>
            </a:extLst>
          </p:cNvPr>
          <p:cNvSpPr>
            <a:spLocks noGrp="1"/>
          </p:cNvSpPr>
          <p:nvPr/>
        </p:nvSpPr>
        <p:spPr>
          <a:xfrm>
            <a:off x="4857750" y="2705100"/>
            <a:ext cx="552450" cy="400050"/>
          </a:xfrm>
          <a:prstGeom prst="rect">
            <a:avLst/>
          </a:prstGeom>
          <a:noFill/>
          <a:ln w="0">
            <a:noFill/>
            <a:prstDash val="solid"/>
          </a:ln>
        </p:spPr>
        <p:txBody>
          <a:bodyPr wrap="square" lIns="0" tIns="0" rIns="0" bIns="0" anchor="ctr">
            <a:normAutofit/>
          </a:bodyPr>
          <a:lstStyle/>
          <a:p>
            <a:pPr algn="l">
              <a:lnSpc>
                <a:spcPct val="105000"/>
              </a:lnSpc>
              <a:buNone/>
              <a:defRPr sz="1350" b="1" i="0">
                <a:solidFill>
                  <a:srgbClr val="5F6B7A"/>
                </a:solidFill>
                <a:latin typeface="Arial"/>
                <a:ea typeface="Arial"/>
                <a:cs typeface="Arial"/>
              </a:defRPr>
            </a:pPr>
            <a:r>
              <a:rPr sz="1350" b="1" i="0">
                <a:solidFill>
                  <a:srgbClr val="5F6B7A"/>
                </a:solidFill>
                <a:latin typeface="Arial"/>
                <a:ea typeface="Arial"/>
                <a:cs typeface="Arial"/>
              </a:rPr>
              <a:t>02</a:t>
            </a:r>
          </a:p>
        </p:txBody>
      </p:sp>
      <p:sp>
        <p:nvSpPr>
          <p:cNvPr id="19" name="agenda-item-1">
            <a:extLst>
              <a:ext uri="{FF2B5EF4-FFF2-40B4-BE49-F238E27FC236}">
                <a16:creationId xmlns:a16="http://schemas.microsoft.com/office/drawing/2014/main" id="{9AC38A49-D206-415C-A98E-74DA1F04CAD3}"/>
              </a:ext>
            </a:extLst>
          </p:cNvPr>
          <p:cNvSpPr>
            <a:spLocks noGrp="1"/>
          </p:cNvSpPr>
          <p:nvPr/>
        </p:nvSpPr>
        <p:spPr>
          <a:xfrm>
            <a:off x="5619750" y="2705100"/>
            <a:ext cx="5905500" cy="400050"/>
          </a:xfrm>
          <a:prstGeom prst="rect">
            <a:avLst/>
          </a:prstGeom>
          <a:noFill/>
          <a:ln w="0">
            <a:noFill/>
            <a:prstDash val="solid"/>
          </a:ln>
        </p:spPr>
        <p:txBody>
          <a:bodyPr wrap="square" lIns="0" tIns="0" rIns="0" bIns="0" anchor="ctr">
            <a:normAutofit/>
          </a:bodyPr>
          <a:lstStyle/>
          <a:p>
            <a:pPr algn="l">
              <a:lnSpc>
                <a:spcPct val="105000"/>
              </a:lnSpc>
              <a:buNone/>
              <a:defRPr sz="1800" b="0" i="0">
                <a:solidFill>
                  <a:srgbClr val="111827"/>
                </a:solidFill>
                <a:latin typeface="Arial"/>
                <a:ea typeface="Arial"/>
                <a:cs typeface="Arial"/>
              </a:defRPr>
            </a:pPr>
            <a:r>
              <a:rPr sz="1800" b="0" i="0">
                <a:solidFill>
                  <a:srgbClr val="111827"/>
                </a:solidFill>
                <a:latin typeface="Arial"/>
                <a:ea typeface="Arial"/>
                <a:cs typeface="Arial"/>
              </a:rPr>
              <a:t>Traditional vs. AI-augmented tools</a:t>
            </a:r>
          </a:p>
        </p:txBody>
      </p:sp>
      <p:sp>
        <p:nvSpPr>
          <p:cNvPr id="20" name="agenda-line-2">
            <a:extLst>
              <a:ext uri="{FF2B5EF4-FFF2-40B4-BE49-F238E27FC236}">
                <a16:creationId xmlns:a16="http://schemas.microsoft.com/office/drawing/2014/main" id="{4751F3B0-B139-423E-80B0-0C798060E866}"/>
              </a:ext>
            </a:extLst>
          </p:cNvPr>
          <p:cNvSpPr>
            <a:spLocks noGrp="1"/>
          </p:cNvSpPr>
          <p:nvPr/>
        </p:nvSpPr>
        <p:spPr>
          <a:xfrm>
            <a:off x="4857750" y="3829050"/>
            <a:ext cx="6667500" cy="0"/>
          </a:xfrm>
          <a:prstGeom prst="line">
            <a:avLst/>
          </a:prstGeom>
          <a:noFill/>
          <a:ln w="9525">
            <a:solidFill>
              <a:srgbClr val="B8BCC4"/>
            </a:solidFill>
            <a:prstDash val="solid"/>
          </a:ln>
        </p:spPr>
      </p:sp>
      <p:sp>
        <p:nvSpPr>
          <p:cNvPr id="21" name="agenda-number-2">
            <a:extLst>
              <a:ext uri="{FF2B5EF4-FFF2-40B4-BE49-F238E27FC236}">
                <a16:creationId xmlns:a16="http://schemas.microsoft.com/office/drawing/2014/main" id="{127C8455-F96C-4E7B-9C2B-39E3E2C54C63}"/>
              </a:ext>
            </a:extLst>
          </p:cNvPr>
          <p:cNvSpPr>
            <a:spLocks noGrp="1"/>
          </p:cNvSpPr>
          <p:nvPr/>
        </p:nvSpPr>
        <p:spPr>
          <a:xfrm>
            <a:off x="4857750" y="3362325"/>
            <a:ext cx="552450" cy="400050"/>
          </a:xfrm>
          <a:prstGeom prst="rect">
            <a:avLst/>
          </a:prstGeom>
          <a:noFill/>
          <a:ln w="0">
            <a:noFill/>
            <a:prstDash val="solid"/>
          </a:ln>
        </p:spPr>
        <p:txBody>
          <a:bodyPr wrap="square" lIns="0" tIns="0" rIns="0" bIns="0" anchor="ctr">
            <a:normAutofit/>
          </a:bodyPr>
          <a:lstStyle/>
          <a:p>
            <a:pPr algn="l">
              <a:lnSpc>
                <a:spcPct val="105000"/>
              </a:lnSpc>
              <a:buNone/>
              <a:defRPr sz="1350" b="1" i="0">
                <a:solidFill>
                  <a:srgbClr val="5F6B7A"/>
                </a:solidFill>
                <a:latin typeface="Arial"/>
                <a:ea typeface="Arial"/>
                <a:cs typeface="Arial"/>
              </a:defRPr>
            </a:pPr>
            <a:r>
              <a:rPr sz="1350" b="1" i="0">
                <a:solidFill>
                  <a:srgbClr val="5F6B7A"/>
                </a:solidFill>
                <a:latin typeface="Arial"/>
                <a:ea typeface="Arial"/>
                <a:cs typeface="Arial"/>
              </a:rPr>
              <a:t>03</a:t>
            </a:r>
          </a:p>
        </p:txBody>
      </p:sp>
      <p:sp>
        <p:nvSpPr>
          <p:cNvPr id="22" name="agenda-item-2">
            <a:extLst>
              <a:ext uri="{FF2B5EF4-FFF2-40B4-BE49-F238E27FC236}">
                <a16:creationId xmlns:a16="http://schemas.microsoft.com/office/drawing/2014/main" id="{F0195960-01F1-4799-8DAD-352DB103BADE}"/>
              </a:ext>
            </a:extLst>
          </p:cNvPr>
          <p:cNvSpPr>
            <a:spLocks noGrp="1"/>
          </p:cNvSpPr>
          <p:nvPr/>
        </p:nvSpPr>
        <p:spPr>
          <a:xfrm>
            <a:off x="5619750" y="3362325"/>
            <a:ext cx="5905500" cy="400050"/>
          </a:xfrm>
          <a:prstGeom prst="rect">
            <a:avLst/>
          </a:prstGeom>
          <a:noFill/>
          <a:ln w="0">
            <a:noFill/>
            <a:prstDash val="solid"/>
          </a:ln>
        </p:spPr>
        <p:txBody>
          <a:bodyPr wrap="square" lIns="0" tIns="0" rIns="0" bIns="0" anchor="ctr">
            <a:normAutofit/>
          </a:bodyPr>
          <a:lstStyle/>
          <a:p>
            <a:pPr algn="l">
              <a:lnSpc>
                <a:spcPct val="105000"/>
              </a:lnSpc>
              <a:buNone/>
              <a:defRPr sz="1800" b="0" i="0">
                <a:solidFill>
                  <a:srgbClr val="111827"/>
                </a:solidFill>
                <a:latin typeface="Arial"/>
                <a:ea typeface="Arial"/>
                <a:cs typeface="Arial"/>
              </a:defRPr>
            </a:pPr>
            <a:r>
              <a:rPr sz="1800" b="0" i="0">
                <a:solidFill>
                  <a:srgbClr val="111827"/>
                </a:solidFill>
                <a:latin typeface="Arial"/>
                <a:ea typeface="Arial"/>
                <a:cs typeface="Arial"/>
              </a:rPr>
              <a:t>Test doubles &amp; API mocking</a:t>
            </a:r>
          </a:p>
        </p:txBody>
      </p:sp>
      <p:sp>
        <p:nvSpPr>
          <p:cNvPr id="23" name="agenda-line-3">
            <a:extLst>
              <a:ext uri="{FF2B5EF4-FFF2-40B4-BE49-F238E27FC236}">
                <a16:creationId xmlns:a16="http://schemas.microsoft.com/office/drawing/2014/main" id="{5B7B6185-F4FD-4DE9-B712-7F278727592A}"/>
              </a:ext>
            </a:extLst>
          </p:cNvPr>
          <p:cNvSpPr>
            <a:spLocks noGrp="1"/>
          </p:cNvSpPr>
          <p:nvPr/>
        </p:nvSpPr>
        <p:spPr>
          <a:xfrm>
            <a:off x="4857750" y="4486275"/>
            <a:ext cx="6667500" cy="0"/>
          </a:xfrm>
          <a:prstGeom prst="line">
            <a:avLst/>
          </a:prstGeom>
          <a:noFill/>
          <a:ln w="9525">
            <a:solidFill>
              <a:srgbClr val="B8BCC4"/>
            </a:solidFill>
            <a:prstDash val="solid"/>
          </a:ln>
        </p:spPr>
      </p:sp>
      <p:sp>
        <p:nvSpPr>
          <p:cNvPr id="24" name="agenda-number-3">
            <a:extLst>
              <a:ext uri="{FF2B5EF4-FFF2-40B4-BE49-F238E27FC236}">
                <a16:creationId xmlns:a16="http://schemas.microsoft.com/office/drawing/2014/main" id="{BF64E48D-70E8-4875-8FCE-0BB27185DE8E}"/>
              </a:ext>
            </a:extLst>
          </p:cNvPr>
          <p:cNvSpPr>
            <a:spLocks noGrp="1"/>
          </p:cNvSpPr>
          <p:nvPr/>
        </p:nvSpPr>
        <p:spPr>
          <a:xfrm>
            <a:off x="4857750" y="4019550"/>
            <a:ext cx="552450" cy="400050"/>
          </a:xfrm>
          <a:prstGeom prst="rect">
            <a:avLst/>
          </a:prstGeom>
          <a:noFill/>
          <a:ln w="0">
            <a:noFill/>
            <a:prstDash val="solid"/>
          </a:ln>
        </p:spPr>
        <p:txBody>
          <a:bodyPr wrap="square" lIns="0" tIns="0" rIns="0" bIns="0" anchor="ctr">
            <a:normAutofit/>
          </a:bodyPr>
          <a:lstStyle/>
          <a:p>
            <a:pPr algn="l">
              <a:lnSpc>
                <a:spcPct val="105000"/>
              </a:lnSpc>
              <a:buNone/>
              <a:defRPr sz="1350" b="1" i="0">
                <a:solidFill>
                  <a:srgbClr val="5F6B7A"/>
                </a:solidFill>
                <a:latin typeface="Arial"/>
                <a:ea typeface="Arial"/>
                <a:cs typeface="Arial"/>
              </a:defRPr>
            </a:pPr>
            <a:r>
              <a:rPr sz="1350" b="1" i="0">
                <a:solidFill>
                  <a:srgbClr val="5F6B7A"/>
                </a:solidFill>
                <a:latin typeface="Arial"/>
                <a:ea typeface="Arial"/>
                <a:cs typeface="Arial"/>
              </a:rPr>
              <a:t>04</a:t>
            </a:r>
          </a:p>
        </p:txBody>
      </p:sp>
      <p:sp>
        <p:nvSpPr>
          <p:cNvPr id="25" name="agenda-item-3">
            <a:extLst>
              <a:ext uri="{FF2B5EF4-FFF2-40B4-BE49-F238E27FC236}">
                <a16:creationId xmlns:a16="http://schemas.microsoft.com/office/drawing/2014/main" id="{53C10D1D-8088-48B1-BD28-E8BCA46313CD}"/>
              </a:ext>
            </a:extLst>
          </p:cNvPr>
          <p:cNvSpPr>
            <a:spLocks noGrp="1"/>
          </p:cNvSpPr>
          <p:nvPr/>
        </p:nvSpPr>
        <p:spPr>
          <a:xfrm>
            <a:off x="5619750" y="4019550"/>
            <a:ext cx="5905500" cy="400050"/>
          </a:xfrm>
          <a:prstGeom prst="rect">
            <a:avLst/>
          </a:prstGeom>
          <a:noFill/>
          <a:ln w="0">
            <a:noFill/>
            <a:prstDash val="solid"/>
          </a:ln>
        </p:spPr>
        <p:txBody>
          <a:bodyPr wrap="square" lIns="0" tIns="0" rIns="0" bIns="0" anchor="ctr">
            <a:normAutofit/>
          </a:bodyPr>
          <a:lstStyle/>
          <a:p>
            <a:pPr algn="l">
              <a:lnSpc>
                <a:spcPct val="105000"/>
              </a:lnSpc>
              <a:buNone/>
              <a:defRPr sz="1800" b="0" i="0">
                <a:solidFill>
                  <a:srgbClr val="111827"/>
                </a:solidFill>
                <a:latin typeface="Arial"/>
                <a:ea typeface="Arial"/>
                <a:cs typeface="Arial"/>
              </a:defRPr>
            </a:pPr>
            <a:r>
              <a:rPr sz="1800" b="0" i="0">
                <a:solidFill>
                  <a:srgbClr val="111827"/>
                </a:solidFill>
                <a:latin typeface="Arial"/>
                <a:ea typeface="Arial"/>
                <a:cs typeface="Arial"/>
              </a:rPr>
              <a:t>EShop pilot and flakiness metrics</a:t>
            </a:r>
          </a:p>
        </p:txBody>
      </p:sp>
      <p:sp>
        <p:nvSpPr>
          <p:cNvPr id="26" name="agenda-line-4">
            <a:extLst>
              <a:ext uri="{FF2B5EF4-FFF2-40B4-BE49-F238E27FC236}">
                <a16:creationId xmlns:a16="http://schemas.microsoft.com/office/drawing/2014/main" id="{4374F101-F638-41CE-9650-F2F466AF4044}"/>
              </a:ext>
            </a:extLst>
          </p:cNvPr>
          <p:cNvSpPr>
            <a:spLocks noGrp="1"/>
          </p:cNvSpPr>
          <p:nvPr/>
        </p:nvSpPr>
        <p:spPr>
          <a:xfrm>
            <a:off x="4857750" y="5143500"/>
            <a:ext cx="6667500" cy="0"/>
          </a:xfrm>
          <a:prstGeom prst="line">
            <a:avLst/>
          </a:prstGeom>
          <a:noFill/>
          <a:ln w="9525">
            <a:solidFill>
              <a:srgbClr val="B8BCC4"/>
            </a:solidFill>
            <a:prstDash val="solid"/>
          </a:ln>
        </p:spPr>
      </p:sp>
      <p:sp>
        <p:nvSpPr>
          <p:cNvPr id="27" name="agenda-number-4">
            <a:extLst>
              <a:ext uri="{FF2B5EF4-FFF2-40B4-BE49-F238E27FC236}">
                <a16:creationId xmlns:a16="http://schemas.microsoft.com/office/drawing/2014/main" id="{4307D775-DEBE-4A7F-9347-E844DF2D6A72}"/>
              </a:ext>
            </a:extLst>
          </p:cNvPr>
          <p:cNvSpPr>
            <a:spLocks noGrp="1"/>
          </p:cNvSpPr>
          <p:nvPr/>
        </p:nvSpPr>
        <p:spPr>
          <a:xfrm>
            <a:off x="4857750" y="4676775"/>
            <a:ext cx="552450" cy="400050"/>
          </a:xfrm>
          <a:prstGeom prst="rect">
            <a:avLst/>
          </a:prstGeom>
          <a:noFill/>
          <a:ln w="0">
            <a:noFill/>
            <a:prstDash val="solid"/>
          </a:ln>
        </p:spPr>
        <p:txBody>
          <a:bodyPr wrap="square" lIns="0" tIns="0" rIns="0" bIns="0" anchor="ctr">
            <a:normAutofit/>
          </a:bodyPr>
          <a:lstStyle/>
          <a:p>
            <a:pPr algn="l">
              <a:lnSpc>
                <a:spcPct val="105000"/>
              </a:lnSpc>
              <a:buNone/>
              <a:defRPr sz="1350" b="1" i="0">
                <a:solidFill>
                  <a:srgbClr val="5F6B7A"/>
                </a:solidFill>
                <a:latin typeface="Arial"/>
                <a:ea typeface="Arial"/>
                <a:cs typeface="Arial"/>
              </a:defRPr>
            </a:pPr>
            <a:r>
              <a:rPr sz="1350" b="1" i="0">
                <a:solidFill>
                  <a:srgbClr val="5F6B7A"/>
                </a:solidFill>
                <a:latin typeface="Arial"/>
                <a:ea typeface="Arial"/>
                <a:cs typeface="Arial"/>
              </a:rPr>
              <a:t>05</a:t>
            </a:r>
          </a:p>
        </p:txBody>
      </p:sp>
      <p:sp>
        <p:nvSpPr>
          <p:cNvPr id="28" name="agenda-item-4">
            <a:extLst>
              <a:ext uri="{FF2B5EF4-FFF2-40B4-BE49-F238E27FC236}">
                <a16:creationId xmlns:a16="http://schemas.microsoft.com/office/drawing/2014/main" id="{D13DCD56-DE5A-41CE-8D79-F8923A19413E}"/>
              </a:ext>
            </a:extLst>
          </p:cNvPr>
          <p:cNvSpPr>
            <a:spLocks noGrp="1"/>
          </p:cNvSpPr>
          <p:nvPr/>
        </p:nvSpPr>
        <p:spPr>
          <a:xfrm>
            <a:off x="5619750" y="4676775"/>
            <a:ext cx="5905500" cy="400050"/>
          </a:xfrm>
          <a:prstGeom prst="rect">
            <a:avLst/>
          </a:prstGeom>
          <a:noFill/>
          <a:ln w="0">
            <a:noFill/>
            <a:prstDash val="solid"/>
          </a:ln>
        </p:spPr>
        <p:txBody>
          <a:bodyPr wrap="square" lIns="0" tIns="0" rIns="0" bIns="0" anchor="ctr">
            <a:normAutofit/>
          </a:bodyPr>
          <a:lstStyle/>
          <a:p>
            <a:pPr algn="l">
              <a:lnSpc>
                <a:spcPct val="105000"/>
              </a:lnSpc>
              <a:buNone/>
              <a:defRPr sz="1800" b="0" i="0">
                <a:solidFill>
                  <a:srgbClr val="111827"/>
                </a:solidFill>
                <a:latin typeface="Arial"/>
                <a:ea typeface="Arial"/>
                <a:cs typeface="Arial"/>
              </a:defRPr>
            </a:pPr>
            <a:r>
              <a:rPr sz="1800" b="0" i="0">
                <a:solidFill>
                  <a:srgbClr val="111827"/>
                </a:solidFill>
                <a:latin typeface="Arial"/>
                <a:ea typeface="Arial"/>
                <a:cs typeface="Arial"/>
              </a:rPr>
              <a:t>Locator Brawl activity</a:t>
            </a:r>
          </a:p>
        </p:txBody>
      </p:sp>
      <p:sp>
        <p:nvSpPr>
          <p:cNvPr id="29" name="agenda-line-5">
            <a:extLst>
              <a:ext uri="{FF2B5EF4-FFF2-40B4-BE49-F238E27FC236}">
                <a16:creationId xmlns:a16="http://schemas.microsoft.com/office/drawing/2014/main" id="{F6645BFA-F894-4644-B6C8-849F617CEF0E}"/>
              </a:ext>
            </a:extLst>
          </p:cNvPr>
          <p:cNvSpPr>
            <a:spLocks noGrp="1"/>
          </p:cNvSpPr>
          <p:nvPr/>
        </p:nvSpPr>
        <p:spPr>
          <a:xfrm>
            <a:off x="4857750" y="5800725"/>
            <a:ext cx="6667500" cy="0"/>
          </a:xfrm>
          <a:prstGeom prst="line">
            <a:avLst/>
          </a:prstGeom>
          <a:noFill/>
          <a:ln w="0">
            <a:noFill/>
            <a:prstDash val="solid"/>
          </a:ln>
        </p:spPr>
      </p:sp>
      <p:sp>
        <p:nvSpPr>
          <p:cNvPr id="30" name="agenda-number-5">
            <a:extLst>
              <a:ext uri="{FF2B5EF4-FFF2-40B4-BE49-F238E27FC236}">
                <a16:creationId xmlns:a16="http://schemas.microsoft.com/office/drawing/2014/main" id="{1A0C4249-AC72-41C4-9E84-1818450E4DE3}"/>
              </a:ext>
            </a:extLst>
          </p:cNvPr>
          <p:cNvSpPr>
            <a:spLocks noGrp="1"/>
          </p:cNvSpPr>
          <p:nvPr/>
        </p:nvSpPr>
        <p:spPr>
          <a:xfrm>
            <a:off x="4857750" y="5334000"/>
            <a:ext cx="552450" cy="400050"/>
          </a:xfrm>
          <a:prstGeom prst="rect">
            <a:avLst/>
          </a:prstGeom>
          <a:noFill/>
          <a:ln w="0">
            <a:noFill/>
            <a:prstDash val="solid"/>
          </a:ln>
        </p:spPr>
        <p:txBody>
          <a:bodyPr wrap="square" lIns="0" tIns="0" rIns="0" bIns="0" anchor="ctr">
            <a:normAutofit/>
          </a:bodyPr>
          <a:lstStyle/>
          <a:p>
            <a:pPr algn="l">
              <a:lnSpc>
                <a:spcPct val="105000"/>
              </a:lnSpc>
              <a:buNone/>
              <a:defRPr sz="1350" b="1" i="0">
                <a:solidFill>
                  <a:srgbClr val="5F6B7A"/>
                </a:solidFill>
                <a:latin typeface="Arial"/>
                <a:ea typeface="Arial"/>
                <a:cs typeface="Arial"/>
              </a:defRPr>
            </a:pPr>
            <a:r>
              <a:rPr sz="1350" b="1" i="0">
                <a:solidFill>
                  <a:srgbClr val="5F6B7A"/>
                </a:solidFill>
                <a:latin typeface="Arial"/>
                <a:ea typeface="Arial"/>
                <a:cs typeface="Arial"/>
              </a:rPr>
              <a:t>06</a:t>
            </a:r>
          </a:p>
        </p:txBody>
      </p:sp>
      <p:sp>
        <p:nvSpPr>
          <p:cNvPr id="31" name="agenda-item-5">
            <a:extLst>
              <a:ext uri="{FF2B5EF4-FFF2-40B4-BE49-F238E27FC236}">
                <a16:creationId xmlns:a16="http://schemas.microsoft.com/office/drawing/2014/main" id="{5F260C24-2E24-4D14-AB50-F3C17A63763B}"/>
              </a:ext>
            </a:extLst>
          </p:cNvPr>
          <p:cNvSpPr>
            <a:spLocks noGrp="1"/>
          </p:cNvSpPr>
          <p:nvPr/>
        </p:nvSpPr>
        <p:spPr>
          <a:xfrm>
            <a:off x="5619750" y="5334000"/>
            <a:ext cx="5905500" cy="400050"/>
          </a:xfrm>
          <a:prstGeom prst="rect">
            <a:avLst/>
          </a:prstGeom>
          <a:noFill/>
          <a:ln w="0">
            <a:noFill/>
            <a:prstDash val="solid"/>
          </a:ln>
        </p:spPr>
        <p:txBody>
          <a:bodyPr wrap="square" lIns="0" tIns="0" rIns="0" bIns="0" anchor="ctr">
            <a:normAutofit/>
          </a:bodyPr>
          <a:lstStyle/>
          <a:p>
            <a:pPr algn="l">
              <a:lnSpc>
                <a:spcPct val="105000"/>
              </a:lnSpc>
              <a:buNone/>
              <a:defRPr sz="1800" b="1" i="0">
                <a:solidFill>
                  <a:srgbClr val="3D8DFF"/>
                </a:solidFill>
                <a:latin typeface="Arial"/>
                <a:ea typeface="Arial"/>
                <a:cs typeface="Arial"/>
              </a:defRPr>
            </a:pPr>
            <a:r>
              <a:rPr sz="1800" b="1" i="0">
                <a:solidFill>
                  <a:srgbClr val="3D8DFF"/>
                </a:solidFill>
                <a:latin typeface="Arial"/>
                <a:ea typeface="Arial"/>
                <a:cs typeface="Arial"/>
              </a:rPr>
              <a:t>Recommendation and approval</a:t>
            </a:r>
          </a:p>
        </p:txBody>
      </p:sp>
    </p:spTree>
    <p:extLst>
      <p:ext uri="{BB962C8B-B14F-4D97-AF65-F5344CB8AC3E}">
        <p14:creationId xmlns:p14="http://schemas.microsoft.com/office/powerpoint/2010/main" val="196341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ection-3">
            <a:extLst>
              <a:ext uri="{FF2B5EF4-FFF2-40B4-BE49-F238E27FC236}">
                <a16:creationId xmlns:a16="http://schemas.microsoft.com/office/drawing/2014/main" id="{D5C5C57E-7C81-4F10-93F4-AB0BCA3A5CF0}"/>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WHY AUTOMATE</a:t>
            </a:r>
          </a:p>
        </p:txBody>
      </p:sp>
      <p:sp>
        <p:nvSpPr>
          <p:cNvPr id="2" name="title-3">
            <a:extLst>
              <a:ext uri="{FF2B5EF4-FFF2-40B4-BE49-F238E27FC236}">
                <a16:creationId xmlns:a16="http://schemas.microsoft.com/office/drawing/2014/main" id="{317803DA-9E5A-448D-AF1D-ECF0B54971DD}"/>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fontScale="82445"/>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Modern web apps turn timing and state into the real test problem</a:t>
            </a:r>
          </a:p>
        </p:txBody>
      </p:sp>
      <p:sp>
        <p:nvSpPr>
          <p:cNvPr id="3" name="title-rule-3">
            <a:extLst>
              <a:ext uri="{FF2B5EF4-FFF2-40B4-BE49-F238E27FC236}">
                <a16:creationId xmlns:a16="http://schemas.microsoft.com/office/drawing/2014/main" id="{D7FA787B-5E0F-405D-B735-8CA67E41B5FE}"/>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3">
            <a:extLst>
              <a:ext uri="{FF2B5EF4-FFF2-40B4-BE49-F238E27FC236}">
                <a16:creationId xmlns:a16="http://schemas.microsoft.com/office/drawing/2014/main" id="{B2D7464F-52CD-4084-8821-4C57224E397B}"/>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3">
            <a:extLst>
              <a:ext uri="{FF2B5EF4-FFF2-40B4-BE49-F238E27FC236}">
                <a16:creationId xmlns:a16="http://schemas.microsoft.com/office/drawing/2014/main" id="{9846AD45-CA54-44C7-9727-B87379EFF535}"/>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03</a:t>
            </a:r>
          </a:p>
        </p:txBody>
      </p:sp>
      <p:sp>
        <p:nvSpPr>
          <p:cNvPr id="6" name="pain-num-0">
            <a:extLst>
              <a:ext uri="{FF2B5EF4-FFF2-40B4-BE49-F238E27FC236}">
                <a16:creationId xmlns:a16="http://schemas.microsoft.com/office/drawing/2014/main" id="{8EB4110A-9B0C-4474-A093-967AE51D6BDE}"/>
              </a:ext>
            </a:extLst>
          </p:cNvPr>
          <p:cNvSpPr>
            <a:spLocks noGrp="1"/>
          </p:cNvSpPr>
          <p:nvPr/>
        </p:nvSpPr>
        <p:spPr>
          <a:xfrm>
            <a:off x="400050" y="1714500"/>
            <a:ext cx="857250" cy="666750"/>
          </a:xfrm>
          <a:prstGeom prst="rect">
            <a:avLst/>
          </a:prstGeom>
          <a:noFill/>
          <a:ln w="0">
            <a:noFill/>
            <a:prstDash val="solid"/>
          </a:ln>
        </p:spPr>
        <p:txBody>
          <a:bodyPr wrap="square" lIns="0" tIns="0" rIns="0" bIns="0" anchor="t">
            <a:normAutofit/>
          </a:bodyPr>
          <a:lstStyle/>
          <a:p>
            <a:pPr algn="l">
              <a:lnSpc>
                <a:spcPct val="105000"/>
              </a:lnSpc>
              <a:buNone/>
              <a:defRPr sz="3600" b="1" i="0">
                <a:solidFill>
                  <a:srgbClr val="6DCBF4"/>
                </a:solidFill>
                <a:latin typeface="Arial"/>
                <a:ea typeface="Arial"/>
                <a:cs typeface="Arial"/>
              </a:defRPr>
            </a:pPr>
            <a:r>
              <a:rPr sz="3600" b="1" i="0">
                <a:solidFill>
                  <a:srgbClr val="6DCBF4"/>
                </a:solidFill>
                <a:latin typeface="Arial"/>
                <a:ea typeface="Arial"/>
                <a:cs typeface="Arial"/>
              </a:rPr>
              <a:t>01</a:t>
            </a:r>
          </a:p>
        </p:txBody>
      </p:sp>
      <p:sp>
        <p:nvSpPr>
          <p:cNvPr id="7" name="pain-title-0">
            <a:extLst>
              <a:ext uri="{FF2B5EF4-FFF2-40B4-BE49-F238E27FC236}">
                <a16:creationId xmlns:a16="http://schemas.microsoft.com/office/drawing/2014/main" id="{65C19FD8-AA91-4B27-B236-BE97FF7E355E}"/>
              </a:ext>
            </a:extLst>
          </p:cNvPr>
          <p:cNvSpPr>
            <a:spLocks noGrp="1"/>
          </p:cNvSpPr>
          <p:nvPr/>
        </p:nvSpPr>
        <p:spPr>
          <a:xfrm>
            <a:off x="400050" y="2609850"/>
            <a:ext cx="34290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111827"/>
                </a:solidFill>
                <a:latin typeface="Arial"/>
                <a:ea typeface="Arial"/>
                <a:cs typeface="Arial"/>
              </a:defRPr>
            </a:pPr>
            <a:r>
              <a:rPr sz="2100" b="1" i="0">
                <a:solidFill>
                  <a:srgbClr val="111827"/>
                </a:solidFill>
                <a:latin typeface="Arial"/>
                <a:ea typeface="Arial"/>
                <a:cs typeface="Arial"/>
              </a:rPr>
              <a:t>Dynamic UI</a:t>
            </a:r>
          </a:p>
        </p:txBody>
      </p:sp>
      <p:sp>
        <p:nvSpPr>
          <p:cNvPr id="8" name="pain-body-0">
            <a:extLst>
              <a:ext uri="{FF2B5EF4-FFF2-40B4-BE49-F238E27FC236}">
                <a16:creationId xmlns:a16="http://schemas.microsoft.com/office/drawing/2014/main" id="{80B6D636-966B-4AB2-B569-6A741593BEE7}"/>
              </a:ext>
            </a:extLst>
          </p:cNvPr>
          <p:cNvSpPr>
            <a:spLocks noGrp="1"/>
          </p:cNvSpPr>
          <p:nvPr/>
        </p:nvSpPr>
        <p:spPr>
          <a:xfrm>
            <a:off x="400050" y="3162300"/>
            <a:ext cx="3429000" cy="17145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5F6B7A"/>
                </a:solidFill>
                <a:latin typeface="Arial"/>
                <a:ea typeface="Arial"/>
                <a:cs typeface="Arial"/>
              </a:defRPr>
            </a:pPr>
            <a:r>
              <a:rPr sz="1575" b="0" i="0">
                <a:solidFill>
                  <a:srgbClr val="5F6B7A"/>
                </a:solidFill>
                <a:latin typeface="Arial"/>
                <a:ea typeface="Arial"/>
                <a:cs typeface="Arial"/>
              </a:rPr>
              <a:t>SPAs re-render without full page loads. Deep DOM trees and changing component structure make selectors fragile.</a:t>
            </a:r>
          </a:p>
        </p:txBody>
      </p:sp>
      <p:sp>
        <p:nvSpPr>
          <p:cNvPr id="9" name="pain-divider-0">
            <a:extLst>
              <a:ext uri="{FF2B5EF4-FFF2-40B4-BE49-F238E27FC236}">
                <a16:creationId xmlns:a16="http://schemas.microsoft.com/office/drawing/2014/main" id="{E55E627F-A5F6-400D-B3B0-D54A6A6D60F3}"/>
              </a:ext>
            </a:extLst>
          </p:cNvPr>
          <p:cNvSpPr>
            <a:spLocks noGrp="1"/>
          </p:cNvSpPr>
          <p:nvPr/>
        </p:nvSpPr>
        <p:spPr>
          <a:xfrm>
            <a:off x="4019550" y="1695450"/>
            <a:ext cx="0" cy="3562350"/>
          </a:xfrm>
          <a:prstGeom prst="line">
            <a:avLst/>
          </a:prstGeom>
          <a:noFill/>
          <a:ln w="9525">
            <a:solidFill>
              <a:srgbClr val="B8BCC4"/>
            </a:solidFill>
            <a:prstDash val="solid"/>
          </a:ln>
        </p:spPr>
      </p:sp>
      <p:sp>
        <p:nvSpPr>
          <p:cNvPr id="10" name="pain-num-1">
            <a:extLst>
              <a:ext uri="{FF2B5EF4-FFF2-40B4-BE49-F238E27FC236}">
                <a16:creationId xmlns:a16="http://schemas.microsoft.com/office/drawing/2014/main" id="{37992D9F-ACF8-40E6-A05C-98D5ED4F011B}"/>
              </a:ext>
            </a:extLst>
          </p:cNvPr>
          <p:cNvSpPr>
            <a:spLocks noGrp="1"/>
          </p:cNvSpPr>
          <p:nvPr/>
        </p:nvSpPr>
        <p:spPr>
          <a:xfrm>
            <a:off x="4305300" y="1714500"/>
            <a:ext cx="857250" cy="666750"/>
          </a:xfrm>
          <a:prstGeom prst="rect">
            <a:avLst/>
          </a:prstGeom>
          <a:noFill/>
          <a:ln w="0">
            <a:noFill/>
            <a:prstDash val="solid"/>
          </a:ln>
        </p:spPr>
        <p:txBody>
          <a:bodyPr wrap="square" lIns="0" tIns="0" rIns="0" bIns="0" anchor="t">
            <a:normAutofit/>
          </a:bodyPr>
          <a:lstStyle/>
          <a:p>
            <a:pPr algn="l">
              <a:lnSpc>
                <a:spcPct val="105000"/>
              </a:lnSpc>
              <a:buNone/>
              <a:defRPr sz="3600" b="1" i="0">
                <a:solidFill>
                  <a:srgbClr val="6DCBF4"/>
                </a:solidFill>
                <a:latin typeface="Arial"/>
                <a:ea typeface="Arial"/>
                <a:cs typeface="Arial"/>
              </a:defRPr>
            </a:pPr>
            <a:r>
              <a:rPr sz="3600" b="1" i="0">
                <a:solidFill>
                  <a:srgbClr val="6DCBF4"/>
                </a:solidFill>
                <a:latin typeface="Arial"/>
                <a:ea typeface="Arial"/>
                <a:cs typeface="Arial"/>
              </a:rPr>
              <a:t>02</a:t>
            </a:r>
          </a:p>
        </p:txBody>
      </p:sp>
      <p:sp>
        <p:nvSpPr>
          <p:cNvPr id="11" name="pain-title-1">
            <a:extLst>
              <a:ext uri="{FF2B5EF4-FFF2-40B4-BE49-F238E27FC236}">
                <a16:creationId xmlns:a16="http://schemas.microsoft.com/office/drawing/2014/main" id="{01E12284-5913-4C24-A0A5-40ACC613BABF}"/>
              </a:ext>
            </a:extLst>
          </p:cNvPr>
          <p:cNvSpPr>
            <a:spLocks noGrp="1"/>
          </p:cNvSpPr>
          <p:nvPr/>
        </p:nvSpPr>
        <p:spPr>
          <a:xfrm>
            <a:off x="4305300" y="2609850"/>
            <a:ext cx="34290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111827"/>
                </a:solidFill>
                <a:latin typeface="Arial"/>
                <a:ea typeface="Arial"/>
                <a:cs typeface="Arial"/>
              </a:defRPr>
            </a:pPr>
            <a:r>
              <a:rPr sz="2100" b="1" i="0">
                <a:solidFill>
                  <a:srgbClr val="111827"/>
                </a:solidFill>
                <a:latin typeface="Arial"/>
                <a:ea typeface="Arial"/>
                <a:cs typeface="Arial"/>
              </a:rPr>
              <a:t>Asynchronous state</a:t>
            </a:r>
          </a:p>
        </p:txBody>
      </p:sp>
      <p:sp>
        <p:nvSpPr>
          <p:cNvPr id="12" name="pain-body-1">
            <a:extLst>
              <a:ext uri="{FF2B5EF4-FFF2-40B4-BE49-F238E27FC236}">
                <a16:creationId xmlns:a16="http://schemas.microsoft.com/office/drawing/2014/main" id="{0B70F912-9693-4E76-86B6-FF1CA519DCF9}"/>
              </a:ext>
            </a:extLst>
          </p:cNvPr>
          <p:cNvSpPr>
            <a:spLocks noGrp="1"/>
          </p:cNvSpPr>
          <p:nvPr/>
        </p:nvSpPr>
        <p:spPr>
          <a:xfrm>
            <a:off x="4305300" y="3162300"/>
            <a:ext cx="3429000" cy="17145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5F6B7A"/>
                </a:solidFill>
                <a:latin typeface="Arial"/>
                <a:ea typeface="Arial"/>
                <a:cs typeface="Arial"/>
              </a:defRPr>
            </a:pPr>
            <a:r>
              <a:rPr sz="1575" b="0" i="0">
                <a:solidFill>
                  <a:srgbClr val="5F6B7A"/>
                </a:solidFill>
                <a:latin typeface="Arial"/>
                <a:ea typeface="Arial"/>
                <a:cs typeface="Arial"/>
              </a:rPr>
              <a:t>AJAX and Fetch update the interface on their own schedule. Race conditions punish hard-coded waits.</a:t>
            </a:r>
          </a:p>
        </p:txBody>
      </p:sp>
      <p:sp>
        <p:nvSpPr>
          <p:cNvPr id="13" name="pain-divider-1">
            <a:extLst>
              <a:ext uri="{FF2B5EF4-FFF2-40B4-BE49-F238E27FC236}">
                <a16:creationId xmlns:a16="http://schemas.microsoft.com/office/drawing/2014/main" id="{2AA4F82A-3D9D-4FDA-92EB-78EF01FD2D21}"/>
              </a:ext>
            </a:extLst>
          </p:cNvPr>
          <p:cNvSpPr>
            <a:spLocks noGrp="1"/>
          </p:cNvSpPr>
          <p:nvPr/>
        </p:nvSpPr>
        <p:spPr>
          <a:xfrm>
            <a:off x="7924800" y="1695450"/>
            <a:ext cx="0" cy="3562350"/>
          </a:xfrm>
          <a:prstGeom prst="line">
            <a:avLst/>
          </a:prstGeom>
          <a:noFill/>
          <a:ln w="9525">
            <a:solidFill>
              <a:srgbClr val="B8BCC4"/>
            </a:solidFill>
            <a:prstDash val="solid"/>
          </a:ln>
        </p:spPr>
      </p:sp>
      <p:sp>
        <p:nvSpPr>
          <p:cNvPr id="14" name="pain-num-2">
            <a:extLst>
              <a:ext uri="{FF2B5EF4-FFF2-40B4-BE49-F238E27FC236}">
                <a16:creationId xmlns:a16="http://schemas.microsoft.com/office/drawing/2014/main" id="{0B53A094-777D-483E-9F26-B1E11A4EDC8D}"/>
              </a:ext>
            </a:extLst>
          </p:cNvPr>
          <p:cNvSpPr>
            <a:spLocks noGrp="1"/>
          </p:cNvSpPr>
          <p:nvPr/>
        </p:nvSpPr>
        <p:spPr>
          <a:xfrm>
            <a:off x="8210550" y="1714500"/>
            <a:ext cx="857250" cy="666750"/>
          </a:xfrm>
          <a:prstGeom prst="rect">
            <a:avLst/>
          </a:prstGeom>
          <a:noFill/>
          <a:ln w="0">
            <a:noFill/>
            <a:prstDash val="solid"/>
          </a:ln>
        </p:spPr>
        <p:txBody>
          <a:bodyPr wrap="square" lIns="0" tIns="0" rIns="0" bIns="0" anchor="t">
            <a:normAutofit/>
          </a:bodyPr>
          <a:lstStyle/>
          <a:p>
            <a:pPr algn="l">
              <a:lnSpc>
                <a:spcPct val="105000"/>
              </a:lnSpc>
              <a:buNone/>
              <a:defRPr sz="3600" b="1" i="0">
                <a:solidFill>
                  <a:srgbClr val="6DCBF4"/>
                </a:solidFill>
                <a:latin typeface="Arial"/>
                <a:ea typeface="Arial"/>
                <a:cs typeface="Arial"/>
              </a:defRPr>
            </a:pPr>
            <a:r>
              <a:rPr sz="3600" b="1" i="0">
                <a:solidFill>
                  <a:srgbClr val="6DCBF4"/>
                </a:solidFill>
                <a:latin typeface="Arial"/>
                <a:ea typeface="Arial"/>
                <a:cs typeface="Arial"/>
              </a:rPr>
              <a:t>03</a:t>
            </a:r>
          </a:p>
        </p:txBody>
      </p:sp>
      <p:sp>
        <p:nvSpPr>
          <p:cNvPr id="15" name="pain-title-2">
            <a:extLst>
              <a:ext uri="{FF2B5EF4-FFF2-40B4-BE49-F238E27FC236}">
                <a16:creationId xmlns:a16="http://schemas.microsoft.com/office/drawing/2014/main" id="{A5B3B3F6-D9E7-4E76-878B-ECED4B9A9D9D}"/>
              </a:ext>
            </a:extLst>
          </p:cNvPr>
          <p:cNvSpPr>
            <a:spLocks noGrp="1"/>
          </p:cNvSpPr>
          <p:nvPr/>
        </p:nvSpPr>
        <p:spPr>
          <a:xfrm>
            <a:off x="8210550" y="2609850"/>
            <a:ext cx="3429000" cy="4000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111827"/>
                </a:solidFill>
                <a:latin typeface="Arial"/>
                <a:ea typeface="Arial"/>
                <a:cs typeface="Arial"/>
              </a:defRPr>
            </a:pPr>
            <a:r>
              <a:rPr sz="2100" b="1" i="0">
                <a:solidFill>
                  <a:srgbClr val="111827"/>
                </a:solidFill>
                <a:latin typeface="Arial"/>
                <a:ea typeface="Arial"/>
                <a:cs typeface="Arial"/>
              </a:rPr>
              <a:t>Continuous delivery</a:t>
            </a:r>
          </a:p>
        </p:txBody>
      </p:sp>
      <p:sp>
        <p:nvSpPr>
          <p:cNvPr id="16" name="pain-body-2">
            <a:extLst>
              <a:ext uri="{FF2B5EF4-FFF2-40B4-BE49-F238E27FC236}">
                <a16:creationId xmlns:a16="http://schemas.microsoft.com/office/drawing/2014/main" id="{E37C1ABA-1AAC-431E-B1DC-39341930AC00}"/>
              </a:ext>
            </a:extLst>
          </p:cNvPr>
          <p:cNvSpPr>
            <a:spLocks noGrp="1"/>
          </p:cNvSpPr>
          <p:nvPr/>
        </p:nvSpPr>
        <p:spPr>
          <a:xfrm>
            <a:off x="8210550" y="3162300"/>
            <a:ext cx="3429000" cy="1714500"/>
          </a:xfrm>
          <a:prstGeom prst="rect">
            <a:avLst/>
          </a:prstGeom>
          <a:noFill/>
          <a:ln w="0">
            <a:noFill/>
            <a:prstDash val="solid"/>
          </a:ln>
        </p:spPr>
        <p:txBody>
          <a:bodyPr wrap="square" lIns="0" tIns="0" rIns="0" bIns="0" anchor="t">
            <a:normAutofit/>
          </a:bodyPr>
          <a:lstStyle/>
          <a:p>
            <a:pPr algn="l">
              <a:lnSpc>
                <a:spcPct val="112000"/>
              </a:lnSpc>
              <a:buNone/>
              <a:defRPr sz="1575" b="0" i="0">
                <a:solidFill>
                  <a:srgbClr val="5F6B7A"/>
                </a:solidFill>
                <a:latin typeface="Arial"/>
                <a:ea typeface="Arial"/>
                <a:cs typeface="Arial"/>
              </a:defRPr>
            </a:pPr>
            <a:r>
              <a:rPr sz="1575" b="0" i="0">
                <a:solidFill>
                  <a:srgbClr val="5F6B7A"/>
                </a:solidFill>
                <a:latin typeface="Arial"/>
                <a:ea typeface="Arial"/>
                <a:cs typeface="Arial"/>
              </a:rPr>
              <a:t>Regression must cover browsers and releases repeatedly. Manual-only execution becomes a pipeline bottleneck.</a:t>
            </a:r>
          </a:p>
        </p:txBody>
      </p:sp>
      <p:sp>
        <p:nvSpPr>
          <p:cNvPr id="17" name="manual-callout">
            <a:extLst>
              <a:ext uri="{FF2B5EF4-FFF2-40B4-BE49-F238E27FC236}">
                <a16:creationId xmlns:a16="http://schemas.microsoft.com/office/drawing/2014/main" id="{7D89C856-B62B-4CCB-8C74-80678B434484}"/>
              </a:ext>
            </a:extLst>
          </p:cNvPr>
          <p:cNvSpPr>
            <a:spLocks noGrp="1"/>
          </p:cNvSpPr>
          <p:nvPr/>
        </p:nvSpPr>
        <p:spPr>
          <a:xfrm>
            <a:off x="400050" y="5448300"/>
            <a:ext cx="11391900" cy="685800"/>
          </a:xfrm>
          <a:prstGeom prst="rect">
            <a:avLst/>
          </a:prstGeom>
          <a:solidFill>
            <a:srgbClr val="DDF3FC"/>
          </a:solidFill>
          <a:ln w="0">
            <a:noFill/>
            <a:prstDash val="solid"/>
          </a:ln>
        </p:spPr>
      </p:sp>
      <p:sp>
        <p:nvSpPr>
          <p:cNvPr id="18" name="manual-callout-text">
            <a:extLst>
              <a:ext uri="{FF2B5EF4-FFF2-40B4-BE49-F238E27FC236}">
                <a16:creationId xmlns:a16="http://schemas.microsoft.com/office/drawing/2014/main" id="{DFBBDCA8-B72B-4BD2-983C-4BEF8E75298C}"/>
              </a:ext>
            </a:extLst>
          </p:cNvPr>
          <p:cNvSpPr>
            <a:spLocks noGrp="1"/>
          </p:cNvSpPr>
          <p:nvPr/>
        </p:nvSpPr>
        <p:spPr>
          <a:xfrm>
            <a:off x="666750" y="5572125"/>
            <a:ext cx="10858500" cy="438150"/>
          </a:xfrm>
          <a:prstGeom prst="rect">
            <a:avLst/>
          </a:prstGeom>
          <a:noFill/>
          <a:ln w="0">
            <a:noFill/>
            <a:prstDash val="solid"/>
          </a:ln>
        </p:spPr>
        <p:txBody>
          <a:bodyPr wrap="square" lIns="0" tIns="0" rIns="0" bIns="0" anchor="ctr">
            <a:normAutofit fontScale="79365"/>
          </a:bodyPr>
          <a:lstStyle/>
          <a:p>
            <a:pPr algn="l">
              <a:lnSpc>
                <a:spcPct val="105000"/>
              </a:lnSpc>
              <a:buNone/>
              <a:defRPr sz="1725" b="1" i="0">
                <a:solidFill>
                  <a:srgbClr val="0B1F3A"/>
                </a:solidFill>
                <a:latin typeface="Arial"/>
                <a:ea typeface="Arial"/>
                <a:cs typeface="Arial"/>
              </a:defRPr>
            </a:pPr>
            <a:r>
              <a:rPr sz="1725" b="1" i="0">
                <a:solidFill>
                  <a:srgbClr val="0B1F3A"/>
                </a:solidFill>
                <a:latin typeface="Arial"/>
                <a:ea typeface="Arial"/>
                <a:cs typeface="Arial"/>
              </a:rPr>
              <a:t>Automation earns its place when the work is repeatable, the expected result is clear, and feedback must arrive faster than a human regression cycle.</a:t>
            </a:r>
          </a:p>
        </p:txBody>
      </p:sp>
    </p:spTree>
    <p:extLst>
      <p:ext uri="{BB962C8B-B14F-4D97-AF65-F5344CB8AC3E}">
        <p14:creationId xmlns:p14="http://schemas.microsoft.com/office/powerpoint/2010/main" val="1523236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ection-4">
            <a:extLst>
              <a:ext uri="{FF2B5EF4-FFF2-40B4-BE49-F238E27FC236}">
                <a16:creationId xmlns:a16="http://schemas.microsoft.com/office/drawing/2014/main" id="{126FE732-D8B9-4AEC-AB49-34D9AD24C560}"/>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FOUNDATIONS</a:t>
            </a:r>
          </a:p>
        </p:txBody>
      </p:sp>
      <p:sp>
        <p:nvSpPr>
          <p:cNvPr id="2" name="title-4">
            <a:extLst>
              <a:ext uri="{FF2B5EF4-FFF2-40B4-BE49-F238E27FC236}">
                <a16:creationId xmlns:a16="http://schemas.microsoft.com/office/drawing/2014/main" id="{4B1EC41F-DD80-414E-9961-CF9BBEAD2E0E}"/>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dirty="0">
                <a:solidFill>
                  <a:srgbClr val="111827"/>
                </a:solidFill>
                <a:latin typeface="Arial"/>
                <a:ea typeface="Arial"/>
                <a:cs typeface="Arial"/>
              </a:rPr>
              <a:t>Automation is a lifecycle</a:t>
            </a:r>
            <a:r>
              <a:rPr lang="vi-VN" sz="3450" b="1" i="0" dirty="0">
                <a:solidFill>
                  <a:srgbClr val="111827"/>
                </a:solidFill>
                <a:latin typeface="Arial"/>
                <a:ea typeface="Arial"/>
                <a:cs typeface="Arial"/>
              </a:rPr>
              <a:t> - </a:t>
            </a:r>
            <a:r>
              <a:rPr sz="3450" b="1" i="0" dirty="0">
                <a:solidFill>
                  <a:srgbClr val="111827"/>
                </a:solidFill>
                <a:latin typeface="Arial"/>
                <a:ea typeface="Arial"/>
                <a:cs typeface="Arial"/>
              </a:rPr>
              <a:t>not a pile of scripts</a:t>
            </a:r>
          </a:p>
        </p:txBody>
      </p:sp>
      <p:sp>
        <p:nvSpPr>
          <p:cNvPr id="3" name="title-rule-4">
            <a:extLst>
              <a:ext uri="{FF2B5EF4-FFF2-40B4-BE49-F238E27FC236}">
                <a16:creationId xmlns:a16="http://schemas.microsoft.com/office/drawing/2014/main" id="{71B5A4F6-A764-45E0-927E-52BCDE2AE616}"/>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4">
            <a:extLst>
              <a:ext uri="{FF2B5EF4-FFF2-40B4-BE49-F238E27FC236}">
                <a16:creationId xmlns:a16="http://schemas.microsoft.com/office/drawing/2014/main" id="{02033ADE-2E96-41ED-9F7E-A0754F826469}"/>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4">
            <a:extLst>
              <a:ext uri="{FF2B5EF4-FFF2-40B4-BE49-F238E27FC236}">
                <a16:creationId xmlns:a16="http://schemas.microsoft.com/office/drawing/2014/main" id="{21D22D54-2D17-47EE-9A0D-F7F1F31FD7BE}"/>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04</a:t>
            </a:r>
          </a:p>
        </p:txBody>
      </p:sp>
      <p:sp>
        <p:nvSpPr>
          <p:cNvPr id="6" name="lifecycle-line">
            <a:extLst>
              <a:ext uri="{FF2B5EF4-FFF2-40B4-BE49-F238E27FC236}">
                <a16:creationId xmlns:a16="http://schemas.microsoft.com/office/drawing/2014/main" id="{04C031E0-AAD4-4FD2-8713-5648523EED25}"/>
              </a:ext>
            </a:extLst>
          </p:cNvPr>
          <p:cNvSpPr>
            <a:spLocks noGrp="1"/>
          </p:cNvSpPr>
          <p:nvPr/>
        </p:nvSpPr>
        <p:spPr>
          <a:xfrm>
            <a:off x="762000" y="3362325"/>
            <a:ext cx="10287000" cy="0"/>
          </a:xfrm>
          <a:prstGeom prst="line">
            <a:avLst/>
          </a:prstGeom>
          <a:noFill/>
          <a:ln w="19050">
            <a:solidFill>
              <a:srgbClr val="111827"/>
            </a:solidFill>
            <a:prstDash val="solid"/>
          </a:ln>
        </p:spPr>
      </p:sp>
      <p:sp>
        <p:nvSpPr>
          <p:cNvPr id="7" name="phase-label-0">
            <a:extLst>
              <a:ext uri="{FF2B5EF4-FFF2-40B4-BE49-F238E27FC236}">
                <a16:creationId xmlns:a16="http://schemas.microsoft.com/office/drawing/2014/main" id="{7C227128-C6EE-4F2B-BCC3-B73E78BCEFF5}"/>
              </a:ext>
            </a:extLst>
          </p:cNvPr>
          <p:cNvSpPr>
            <a:spLocks noGrp="1"/>
          </p:cNvSpPr>
          <p:nvPr/>
        </p:nvSpPr>
        <p:spPr>
          <a:xfrm>
            <a:off x="857250" y="1847850"/>
            <a:ext cx="171450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DECIDE</a:t>
            </a:r>
          </a:p>
        </p:txBody>
      </p:sp>
      <p:sp>
        <p:nvSpPr>
          <p:cNvPr id="8" name="phase-title-0">
            <a:extLst>
              <a:ext uri="{FF2B5EF4-FFF2-40B4-BE49-F238E27FC236}">
                <a16:creationId xmlns:a16="http://schemas.microsoft.com/office/drawing/2014/main" id="{6397E908-8017-4971-ABCB-6544BD440FBB}"/>
              </a:ext>
            </a:extLst>
          </p:cNvPr>
          <p:cNvSpPr>
            <a:spLocks noGrp="1"/>
          </p:cNvSpPr>
          <p:nvPr/>
        </p:nvSpPr>
        <p:spPr>
          <a:xfrm>
            <a:off x="857250" y="2209800"/>
            <a:ext cx="2857500" cy="895350"/>
          </a:xfrm>
          <a:prstGeom prst="rect">
            <a:avLst/>
          </a:prstGeom>
          <a:noFill/>
          <a:ln w="0">
            <a:noFill/>
            <a:prstDash val="solid"/>
          </a:ln>
        </p:spPr>
        <p:txBody>
          <a:bodyPr wrap="square" lIns="0" tIns="0" rIns="0" bIns="0" anchor="t">
            <a:normAutofit/>
          </a:bodyPr>
          <a:lstStyle/>
          <a:p>
            <a:pPr algn="l">
              <a:lnSpc>
                <a:spcPct val="98000"/>
              </a:lnSpc>
              <a:buNone/>
              <a:defRPr sz="2325" b="1" i="0">
                <a:solidFill>
                  <a:srgbClr val="111827"/>
                </a:solidFill>
                <a:latin typeface="Arial"/>
                <a:ea typeface="Arial"/>
                <a:cs typeface="Arial"/>
              </a:defRPr>
            </a:pPr>
            <a:r>
              <a:rPr sz="2325" b="1" i="0">
                <a:solidFill>
                  <a:srgbClr val="111827"/>
                </a:solidFill>
                <a:latin typeface="Arial"/>
                <a:ea typeface="Arial"/>
                <a:cs typeface="Arial"/>
              </a:rPr>
              <a:t>Feasibility</a:t>
            </a:r>
          </a:p>
          <a:p>
            <a:pPr algn="l">
              <a:lnSpc>
                <a:spcPct val="98000"/>
              </a:lnSpc>
              <a:buNone/>
              <a:defRPr sz="2325" b="1" i="0">
                <a:solidFill>
                  <a:srgbClr val="111827"/>
                </a:solidFill>
                <a:latin typeface="Arial"/>
                <a:ea typeface="Arial"/>
                <a:cs typeface="Arial"/>
              </a:defRPr>
            </a:pPr>
            <a:r>
              <a:rPr sz="2325" b="1" i="0">
                <a:solidFill>
                  <a:srgbClr val="111827"/>
                </a:solidFill>
                <a:latin typeface="Arial"/>
                <a:ea typeface="Arial"/>
                <a:cs typeface="Arial"/>
              </a:rPr>
              <a:t>Tool selection</a:t>
            </a:r>
          </a:p>
        </p:txBody>
      </p:sp>
      <p:sp>
        <p:nvSpPr>
          <p:cNvPr id="9" name="phase-dot-0">
            <a:extLst>
              <a:ext uri="{FF2B5EF4-FFF2-40B4-BE49-F238E27FC236}">
                <a16:creationId xmlns:a16="http://schemas.microsoft.com/office/drawing/2014/main" id="{49556093-EC07-4D64-B19C-38D8DA487DF6}"/>
              </a:ext>
            </a:extLst>
          </p:cNvPr>
          <p:cNvSpPr>
            <a:spLocks noGrp="1"/>
          </p:cNvSpPr>
          <p:nvPr/>
        </p:nvSpPr>
        <p:spPr>
          <a:xfrm>
            <a:off x="857250" y="3267075"/>
            <a:ext cx="190500" cy="190500"/>
          </a:xfrm>
          <a:prstGeom prst="ellipse">
            <a:avLst/>
          </a:prstGeom>
          <a:solidFill>
            <a:srgbClr val="111827"/>
          </a:solidFill>
          <a:ln w="0">
            <a:noFill/>
            <a:prstDash val="solid"/>
          </a:ln>
        </p:spPr>
      </p:sp>
      <p:sp>
        <p:nvSpPr>
          <p:cNvPr id="10" name="phase-body-0">
            <a:extLst>
              <a:ext uri="{FF2B5EF4-FFF2-40B4-BE49-F238E27FC236}">
                <a16:creationId xmlns:a16="http://schemas.microsoft.com/office/drawing/2014/main" id="{4822DFFF-845F-404E-8CB0-986DBBF0391B}"/>
              </a:ext>
            </a:extLst>
          </p:cNvPr>
          <p:cNvSpPr>
            <a:spLocks noGrp="1"/>
          </p:cNvSpPr>
          <p:nvPr/>
        </p:nvSpPr>
        <p:spPr>
          <a:xfrm>
            <a:off x="857250" y="3762375"/>
            <a:ext cx="2952750" cy="1428750"/>
          </a:xfrm>
          <a:prstGeom prst="rect">
            <a:avLst/>
          </a:prstGeom>
          <a:noFill/>
          <a:ln w="0">
            <a:noFill/>
            <a:prstDash val="solid"/>
          </a:ln>
        </p:spPr>
        <p:txBody>
          <a:bodyPr wrap="square" lIns="0" tIns="0" rIns="0" bIns="0" anchor="t">
            <a:normAutofit/>
          </a:bodyPr>
          <a:lstStyle/>
          <a:p>
            <a:pPr algn="l">
              <a:lnSpc>
                <a:spcPct val="112000"/>
              </a:lnSpc>
              <a:buNone/>
              <a:defRPr sz="1500" b="0" i="0">
                <a:solidFill>
                  <a:srgbClr val="5F6B7A"/>
                </a:solidFill>
                <a:latin typeface="Arial"/>
                <a:ea typeface="Arial"/>
                <a:cs typeface="Arial"/>
              </a:defRPr>
            </a:pPr>
            <a:r>
              <a:rPr sz="1500" b="0" i="0">
                <a:solidFill>
                  <a:srgbClr val="5F6B7A"/>
                </a:solidFill>
                <a:latin typeface="Arial"/>
                <a:ea typeface="Arial"/>
                <a:cs typeface="Arial"/>
              </a:rPr>
              <a:t>Choose valuable cases and evaluate fit before writing code.</a:t>
            </a:r>
          </a:p>
        </p:txBody>
      </p:sp>
      <p:sp>
        <p:nvSpPr>
          <p:cNvPr id="11" name="phase-label-1">
            <a:extLst>
              <a:ext uri="{FF2B5EF4-FFF2-40B4-BE49-F238E27FC236}">
                <a16:creationId xmlns:a16="http://schemas.microsoft.com/office/drawing/2014/main" id="{D95BCDD4-85F5-432C-8622-95358BFA21E5}"/>
              </a:ext>
            </a:extLst>
          </p:cNvPr>
          <p:cNvSpPr>
            <a:spLocks noGrp="1"/>
          </p:cNvSpPr>
          <p:nvPr/>
        </p:nvSpPr>
        <p:spPr>
          <a:xfrm>
            <a:off x="4667250" y="1847850"/>
            <a:ext cx="171450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BUILD</a:t>
            </a:r>
          </a:p>
        </p:txBody>
      </p:sp>
      <p:sp>
        <p:nvSpPr>
          <p:cNvPr id="12" name="phase-title-1">
            <a:extLst>
              <a:ext uri="{FF2B5EF4-FFF2-40B4-BE49-F238E27FC236}">
                <a16:creationId xmlns:a16="http://schemas.microsoft.com/office/drawing/2014/main" id="{BABBC63C-7348-45B4-A793-43BEDBFD4AB7}"/>
              </a:ext>
            </a:extLst>
          </p:cNvPr>
          <p:cNvSpPr>
            <a:spLocks noGrp="1"/>
          </p:cNvSpPr>
          <p:nvPr/>
        </p:nvSpPr>
        <p:spPr>
          <a:xfrm>
            <a:off x="4667250" y="2209800"/>
            <a:ext cx="2857500" cy="895350"/>
          </a:xfrm>
          <a:prstGeom prst="rect">
            <a:avLst/>
          </a:prstGeom>
          <a:noFill/>
          <a:ln w="0">
            <a:noFill/>
            <a:prstDash val="solid"/>
          </a:ln>
        </p:spPr>
        <p:txBody>
          <a:bodyPr wrap="square" lIns="0" tIns="0" rIns="0" bIns="0" anchor="t">
            <a:normAutofit/>
          </a:bodyPr>
          <a:lstStyle/>
          <a:p>
            <a:pPr algn="l">
              <a:lnSpc>
                <a:spcPct val="98000"/>
              </a:lnSpc>
              <a:buNone/>
              <a:defRPr sz="2325" b="1" i="0">
                <a:solidFill>
                  <a:srgbClr val="111827"/>
                </a:solidFill>
                <a:latin typeface="Arial"/>
                <a:ea typeface="Arial"/>
                <a:cs typeface="Arial"/>
              </a:defRPr>
            </a:pPr>
            <a:r>
              <a:rPr sz="2325" b="1" i="0">
                <a:solidFill>
                  <a:srgbClr val="111827"/>
                </a:solidFill>
                <a:latin typeface="Arial"/>
                <a:ea typeface="Arial"/>
                <a:cs typeface="Arial"/>
              </a:rPr>
              <a:t>Architecture</a:t>
            </a:r>
          </a:p>
          <a:p>
            <a:pPr algn="l">
              <a:lnSpc>
                <a:spcPct val="98000"/>
              </a:lnSpc>
              <a:buNone/>
              <a:defRPr sz="2325" b="1" i="0">
                <a:solidFill>
                  <a:srgbClr val="111827"/>
                </a:solidFill>
                <a:latin typeface="Arial"/>
                <a:ea typeface="Arial"/>
                <a:cs typeface="Arial"/>
              </a:defRPr>
            </a:pPr>
            <a:r>
              <a:rPr sz="2325" b="1" i="0">
                <a:solidFill>
                  <a:srgbClr val="111827"/>
                </a:solidFill>
                <a:latin typeface="Arial"/>
                <a:ea typeface="Arial"/>
                <a:cs typeface="Arial"/>
              </a:rPr>
              <a:t>Implementation</a:t>
            </a:r>
          </a:p>
        </p:txBody>
      </p:sp>
      <p:sp>
        <p:nvSpPr>
          <p:cNvPr id="13" name="phase-dot-1">
            <a:extLst>
              <a:ext uri="{FF2B5EF4-FFF2-40B4-BE49-F238E27FC236}">
                <a16:creationId xmlns:a16="http://schemas.microsoft.com/office/drawing/2014/main" id="{AEB20F60-893D-4BF0-8699-9A490C540728}"/>
              </a:ext>
            </a:extLst>
          </p:cNvPr>
          <p:cNvSpPr>
            <a:spLocks noGrp="1"/>
          </p:cNvSpPr>
          <p:nvPr/>
        </p:nvSpPr>
        <p:spPr>
          <a:xfrm>
            <a:off x="4667250" y="3267075"/>
            <a:ext cx="190500" cy="190500"/>
          </a:xfrm>
          <a:prstGeom prst="ellipse">
            <a:avLst/>
          </a:prstGeom>
          <a:solidFill>
            <a:srgbClr val="111827"/>
          </a:solidFill>
          <a:ln w="0">
            <a:noFill/>
            <a:prstDash val="solid"/>
          </a:ln>
        </p:spPr>
      </p:sp>
      <p:sp>
        <p:nvSpPr>
          <p:cNvPr id="14" name="phase-body-1">
            <a:extLst>
              <a:ext uri="{FF2B5EF4-FFF2-40B4-BE49-F238E27FC236}">
                <a16:creationId xmlns:a16="http://schemas.microsoft.com/office/drawing/2014/main" id="{064A394F-C116-460B-B2E0-2D9797379306}"/>
              </a:ext>
            </a:extLst>
          </p:cNvPr>
          <p:cNvSpPr>
            <a:spLocks noGrp="1"/>
          </p:cNvSpPr>
          <p:nvPr/>
        </p:nvSpPr>
        <p:spPr>
          <a:xfrm>
            <a:off x="4667250" y="3762375"/>
            <a:ext cx="2952750" cy="1428750"/>
          </a:xfrm>
          <a:prstGeom prst="rect">
            <a:avLst/>
          </a:prstGeom>
          <a:noFill/>
          <a:ln w="0">
            <a:noFill/>
            <a:prstDash val="solid"/>
          </a:ln>
        </p:spPr>
        <p:txBody>
          <a:bodyPr wrap="square" lIns="0" tIns="0" rIns="0" bIns="0" anchor="t">
            <a:normAutofit/>
          </a:bodyPr>
          <a:lstStyle/>
          <a:p>
            <a:pPr algn="l">
              <a:lnSpc>
                <a:spcPct val="112000"/>
              </a:lnSpc>
              <a:buNone/>
              <a:defRPr sz="1500" b="0" i="0">
                <a:solidFill>
                  <a:srgbClr val="5F6B7A"/>
                </a:solidFill>
                <a:latin typeface="Arial"/>
                <a:ea typeface="Arial"/>
                <a:cs typeface="Arial"/>
              </a:defRPr>
            </a:pPr>
            <a:r>
              <a:rPr sz="1500" b="0" i="0">
                <a:solidFill>
                  <a:srgbClr val="5F6B7A"/>
                </a:solidFill>
                <a:latin typeface="Arial"/>
                <a:ea typeface="Arial"/>
                <a:cs typeface="Arial"/>
              </a:rPr>
              <a:t>Design fixtures, data, locators, assertions, and reusable structure.</a:t>
            </a:r>
          </a:p>
        </p:txBody>
      </p:sp>
      <p:sp>
        <p:nvSpPr>
          <p:cNvPr id="15" name="phase-label-2">
            <a:extLst>
              <a:ext uri="{FF2B5EF4-FFF2-40B4-BE49-F238E27FC236}">
                <a16:creationId xmlns:a16="http://schemas.microsoft.com/office/drawing/2014/main" id="{0C562D16-E5F7-44A9-996D-C806C7463294}"/>
              </a:ext>
            </a:extLst>
          </p:cNvPr>
          <p:cNvSpPr>
            <a:spLocks noGrp="1"/>
          </p:cNvSpPr>
          <p:nvPr/>
        </p:nvSpPr>
        <p:spPr>
          <a:xfrm>
            <a:off x="8477250" y="1847850"/>
            <a:ext cx="171450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OPERATE</a:t>
            </a:r>
          </a:p>
        </p:txBody>
      </p:sp>
      <p:sp>
        <p:nvSpPr>
          <p:cNvPr id="16" name="phase-title-2">
            <a:extLst>
              <a:ext uri="{FF2B5EF4-FFF2-40B4-BE49-F238E27FC236}">
                <a16:creationId xmlns:a16="http://schemas.microsoft.com/office/drawing/2014/main" id="{CE064B2E-5C2F-45B0-A877-3C9A337CF909}"/>
              </a:ext>
            </a:extLst>
          </p:cNvPr>
          <p:cNvSpPr>
            <a:spLocks noGrp="1"/>
          </p:cNvSpPr>
          <p:nvPr/>
        </p:nvSpPr>
        <p:spPr>
          <a:xfrm>
            <a:off x="8477250" y="2209800"/>
            <a:ext cx="2857500" cy="895350"/>
          </a:xfrm>
          <a:prstGeom prst="rect">
            <a:avLst/>
          </a:prstGeom>
          <a:noFill/>
          <a:ln w="0">
            <a:noFill/>
            <a:prstDash val="solid"/>
          </a:ln>
        </p:spPr>
        <p:txBody>
          <a:bodyPr wrap="square" lIns="0" tIns="0" rIns="0" bIns="0" anchor="t">
            <a:normAutofit fontScale="85948"/>
          </a:bodyPr>
          <a:lstStyle/>
          <a:p>
            <a:pPr algn="l">
              <a:lnSpc>
                <a:spcPct val="98000"/>
              </a:lnSpc>
              <a:buNone/>
              <a:defRPr sz="2325" b="1" i="0">
                <a:solidFill>
                  <a:srgbClr val="111827"/>
                </a:solidFill>
                <a:latin typeface="Arial"/>
                <a:ea typeface="Arial"/>
                <a:cs typeface="Arial"/>
              </a:defRPr>
            </a:pPr>
            <a:r>
              <a:rPr sz="2325" b="1" i="0">
                <a:solidFill>
                  <a:srgbClr val="111827"/>
                </a:solidFill>
                <a:latin typeface="Arial"/>
                <a:ea typeface="Arial"/>
                <a:cs typeface="Arial"/>
              </a:rPr>
              <a:t>Execution</a:t>
            </a:r>
          </a:p>
          <a:p>
            <a:pPr algn="l">
              <a:lnSpc>
                <a:spcPct val="98000"/>
              </a:lnSpc>
              <a:buNone/>
              <a:defRPr sz="2325" b="1" i="0">
                <a:solidFill>
                  <a:srgbClr val="111827"/>
                </a:solidFill>
                <a:latin typeface="Arial"/>
                <a:ea typeface="Arial"/>
                <a:cs typeface="Arial"/>
              </a:defRPr>
            </a:pPr>
            <a:r>
              <a:rPr sz="2325" b="1" i="0">
                <a:solidFill>
                  <a:srgbClr val="111827"/>
                </a:solidFill>
                <a:latin typeface="Arial"/>
                <a:ea typeface="Arial"/>
                <a:cs typeface="Arial"/>
              </a:rPr>
              <a:t>Analysis</a:t>
            </a:r>
          </a:p>
          <a:p>
            <a:pPr algn="l">
              <a:lnSpc>
                <a:spcPct val="98000"/>
              </a:lnSpc>
              <a:buNone/>
              <a:defRPr sz="2325" b="1" i="0">
                <a:solidFill>
                  <a:srgbClr val="111827"/>
                </a:solidFill>
                <a:latin typeface="Arial"/>
                <a:ea typeface="Arial"/>
                <a:cs typeface="Arial"/>
              </a:defRPr>
            </a:pPr>
            <a:r>
              <a:rPr sz="2325" b="1" i="0">
                <a:solidFill>
                  <a:srgbClr val="111827"/>
                </a:solidFill>
                <a:latin typeface="Arial"/>
                <a:ea typeface="Arial"/>
                <a:cs typeface="Arial"/>
              </a:rPr>
              <a:t>Maintenance</a:t>
            </a:r>
          </a:p>
        </p:txBody>
      </p:sp>
      <p:sp>
        <p:nvSpPr>
          <p:cNvPr id="17" name="phase-dot-2">
            <a:extLst>
              <a:ext uri="{FF2B5EF4-FFF2-40B4-BE49-F238E27FC236}">
                <a16:creationId xmlns:a16="http://schemas.microsoft.com/office/drawing/2014/main" id="{BB7D0833-497A-468F-974B-6C8DFD9749F4}"/>
              </a:ext>
            </a:extLst>
          </p:cNvPr>
          <p:cNvSpPr>
            <a:spLocks noGrp="1"/>
          </p:cNvSpPr>
          <p:nvPr/>
        </p:nvSpPr>
        <p:spPr>
          <a:xfrm>
            <a:off x="8477250" y="3267075"/>
            <a:ext cx="190500" cy="190500"/>
          </a:xfrm>
          <a:prstGeom prst="ellipse">
            <a:avLst/>
          </a:prstGeom>
          <a:solidFill>
            <a:srgbClr val="3D8DFF"/>
          </a:solidFill>
          <a:ln w="0">
            <a:noFill/>
            <a:prstDash val="solid"/>
          </a:ln>
        </p:spPr>
      </p:sp>
      <p:sp>
        <p:nvSpPr>
          <p:cNvPr id="18" name="phase-body-2">
            <a:extLst>
              <a:ext uri="{FF2B5EF4-FFF2-40B4-BE49-F238E27FC236}">
                <a16:creationId xmlns:a16="http://schemas.microsoft.com/office/drawing/2014/main" id="{EE5906C5-2581-4D44-8CFD-671380721CE0}"/>
              </a:ext>
            </a:extLst>
          </p:cNvPr>
          <p:cNvSpPr>
            <a:spLocks noGrp="1"/>
          </p:cNvSpPr>
          <p:nvPr/>
        </p:nvSpPr>
        <p:spPr>
          <a:xfrm>
            <a:off x="8477250" y="3762375"/>
            <a:ext cx="2952750" cy="1428750"/>
          </a:xfrm>
          <a:prstGeom prst="rect">
            <a:avLst/>
          </a:prstGeom>
          <a:noFill/>
          <a:ln w="0">
            <a:noFill/>
            <a:prstDash val="solid"/>
          </a:ln>
        </p:spPr>
        <p:txBody>
          <a:bodyPr wrap="square" lIns="0" tIns="0" rIns="0" bIns="0" anchor="t">
            <a:normAutofit/>
          </a:bodyPr>
          <a:lstStyle/>
          <a:p>
            <a:pPr algn="l">
              <a:lnSpc>
                <a:spcPct val="112000"/>
              </a:lnSpc>
              <a:buNone/>
              <a:defRPr sz="1500" b="0" i="0">
                <a:solidFill>
                  <a:srgbClr val="5F6B7A"/>
                </a:solidFill>
                <a:latin typeface="Arial"/>
                <a:ea typeface="Arial"/>
                <a:cs typeface="Arial"/>
              </a:defRPr>
            </a:pPr>
            <a:r>
              <a:rPr sz="1500" b="0" i="0">
                <a:solidFill>
                  <a:srgbClr val="5F6B7A"/>
                </a:solidFill>
                <a:latin typeface="Arial"/>
                <a:ea typeface="Arial"/>
                <a:cs typeface="Arial"/>
              </a:rPr>
              <a:t>Run, diagnose, improve, and remove flakiness as the SUT changes.</a:t>
            </a:r>
          </a:p>
        </p:txBody>
      </p:sp>
      <p:sp>
        <p:nvSpPr>
          <p:cNvPr id="19" name="lifecycle-caption">
            <a:extLst>
              <a:ext uri="{FF2B5EF4-FFF2-40B4-BE49-F238E27FC236}">
                <a16:creationId xmlns:a16="http://schemas.microsoft.com/office/drawing/2014/main" id="{344F94AD-A13D-4E6F-A4F2-B22E79BDCE97}"/>
              </a:ext>
            </a:extLst>
          </p:cNvPr>
          <p:cNvSpPr>
            <a:spLocks noGrp="1"/>
          </p:cNvSpPr>
          <p:nvPr/>
        </p:nvSpPr>
        <p:spPr>
          <a:xfrm>
            <a:off x="762000" y="5619750"/>
            <a:ext cx="10287000" cy="381000"/>
          </a:xfrm>
          <a:prstGeom prst="rect">
            <a:avLst/>
          </a:prstGeom>
          <a:noFill/>
          <a:ln w="0">
            <a:noFill/>
            <a:prstDash val="solid"/>
          </a:ln>
        </p:spPr>
        <p:txBody>
          <a:bodyPr wrap="square" lIns="0" tIns="0" rIns="0" bIns="0" anchor="t">
            <a:normAutofit/>
          </a:bodyPr>
          <a:lstStyle/>
          <a:p>
            <a:pPr algn="ctr">
              <a:lnSpc>
                <a:spcPct val="105000"/>
              </a:lnSpc>
              <a:buNone/>
              <a:defRPr sz="1875" b="1" i="0">
                <a:solidFill>
                  <a:srgbClr val="0B1F3A"/>
                </a:solidFill>
                <a:latin typeface="Arial"/>
                <a:ea typeface="Arial"/>
                <a:cs typeface="Arial"/>
              </a:defRPr>
            </a:pPr>
            <a:r>
              <a:rPr sz="1875" b="1" i="0">
                <a:solidFill>
                  <a:srgbClr val="0B1F3A"/>
                </a:solidFill>
                <a:latin typeface="Arial"/>
                <a:ea typeface="Arial"/>
                <a:cs typeface="Arial"/>
              </a:rPr>
              <a:t>A test that passes today but cannot be diagnosed or maintained is unfinished automation.</a:t>
            </a:r>
          </a:p>
        </p:txBody>
      </p:sp>
    </p:spTree>
    <p:extLst>
      <p:ext uri="{BB962C8B-B14F-4D97-AF65-F5344CB8AC3E}">
        <p14:creationId xmlns:p14="http://schemas.microsoft.com/office/powerpoint/2010/main" val="120786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section-5">
            <a:extLst>
              <a:ext uri="{FF2B5EF4-FFF2-40B4-BE49-F238E27FC236}">
                <a16:creationId xmlns:a16="http://schemas.microsoft.com/office/drawing/2014/main" id="{0BB0B1DB-73F2-4D47-A938-DB4F8A30DF8B}"/>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EVALUATION MODEL</a:t>
            </a:r>
          </a:p>
        </p:txBody>
      </p:sp>
      <p:sp>
        <p:nvSpPr>
          <p:cNvPr id="2" name="title-5">
            <a:extLst>
              <a:ext uri="{FF2B5EF4-FFF2-40B4-BE49-F238E27FC236}">
                <a16:creationId xmlns:a16="http://schemas.microsoft.com/office/drawing/2014/main" id="{EF17B87B-08A1-46ED-A765-86F705FC62CE}"/>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fontScale="77992" lnSpcReduction="10000"/>
          </a:bodyPr>
          <a:lstStyle/>
          <a:p>
            <a:pPr algn="l">
              <a:lnSpc>
                <a:spcPct val="105000"/>
              </a:lnSpc>
              <a:buNone/>
              <a:defRPr sz="3450" b="1" i="0">
                <a:solidFill>
                  <a:srgbClr val="111827"/>
                </a:solidFill>
                <a:latin typeface="Arial"/>
                <a:ea typeface="Arial"/>
                <a:cs typeface="Arial"/>
              </a:defRPr>
            </a:pPr>
            <a:r>
              <a:rPr sz="3450" b="1" i="0" dirty="0">
                <a:solidFill>
                  <a:srgbClr val="111827"/>
                </a:solidFill>
                <a:latin typeface="Arial"/>
                <a:ea typeface="Arial"/>
                <a:cs typeface="Arial"/>
              </a:rPr>
              <a:t>A credible solution must satisfy </a:t>
            </a:r>
            <a:r>
              <a:rPr lang="vi-VN" sz="3450" b="1" i="0" dirty="0">
                <a:solidFill>
                  <a:srgbClr val="111827"/>
                </a:solidFill>
                <a:latin typeface="Arial"/>
                <a:ea typeface="Arial"/>
                <a:cs typeface="Arial"/>
              </a:rPr>
              <a:t>R1-</a:t>
            </a:r>
            <a:r>
              <a:rPr sz="3450" b="1" i="0" dirty="0">
                <a:solidFill>
                  <a:srgbClr val="111827"/>
                </a:solidFill>
                <a:latin typeface="Arial"/>
                <a:ea typeface="Arial"/>
                <a:cs typeface="Arial"/>
              </a:rPr>
              <a:t>R10</a:t>
            </a:r>
            <a:r>
              <a:rPr lang="vi-VN" sz="3450" b="1" i="0" dirty="0">
                <a:solidFill>
                  <a:srgbClr val="111827"/>
                </a:solidFill>
                <a:latin typeface="Arial"/>
                <a:ea typeface="Arial"/>
                <a:cs typeface="Arial"/>
              </a:rPr>
              <a:t> - </a:t>
            </a:r>
            <a:r>
              <a:rPr sz="3450" b="1" i="0" dirty="0">
                <a:solidFill>
                  <a:srgbClr val="111827"/>
                </a:solidFill>
                <a:latin typeface="Arial"/>
                <a:ea typeface="Arial"/>
                <a:cs typeface="Arial"/>
              </a:rPr>
              <a:t>and four quality outcomes</a:t>
            </a:r>
          </a:p>
        </p:txBody>
      </p:sp>
      <p:sp>
        <p:nvSpPr>
          <p:cNvPr id="3" name="title-rule-5">
            <a:extLst>
              <a:ext uri="{FF2B5EF4-FFF2-40B4-BE49-F238E27FC236}">
                <a16:creationId xmlns:a16="http://schemas.microsoft.com/office/drawing/2014/main" id="{6D8D22FC-0525-48C2-AFAD-6E97A6F67E8B}"/>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5">
            <a:extLst>
              <a:ext uri="{FF2B5EF4-FFF2-40B4-BE49-F238E27FC236}">
                <a16:creationId xmlns:a16="http://schemas.microsoft.com/office/drawing/2014/main" id="{6E37856A-CC11-4BAC-8AD5-73CED658785A}"/>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5">
            <a:extLst>
              <a:ext uri="{FF2B5EF4-FFF2-40B4-BE49-F238E27FC236}">
                <a16:creationId xmlns:a16="http://schemas.microsoft.com/office/drawing/2014/main" id="{117F45E1-93D9-4121-9ED0-03F504CFABE1}"/>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05</a:t>
            </a:r>
          </a:p>
        </p:txBody>
      </p:sp>
      <p:sp>
        <p:nvSpPr>
          <p:cNvPr id="6" name="r-label">
            <a:extLst>
              <a:ext uri="{FF2B5EF4-FFF2-40B4-BE49-F238E27FC236}">
                <a16:creationId xmlns:a16="http://schemas.microsoft.com/office/drawing/2014/main" id="{E146E913-EDC5-44E4-A70C-3E23528382BF}"/>
              </a:ext>
            </a:extLst>
          </p:cNvPr>
          <p:cNvSpPr>
            <a:spLocks noGrp="1"/>
          </p:cNvSpPr>
          <p:nvPr/>
        </p:nvSpPr>
        <p:spPr>
          <a:xfrm>
            <a:off x="400050" y="1657350"/>
            <a:ext cx="4000500" cy="26670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3D8DFF"/>
                </a:solidFill>
                <a:latin typeface="Arial"/>
                <a:ea typeface="Arial"/>
                <a:cs typeface="Arial"/>
              </a:defRPr>
            </a:pPr>
            <a:r>
              <a:rPr sz="1275" b="1" i="0">
                <a:solidFill>
                  <a:srgbClr val="3D8DFF"/>
                </a:solidFill>
                <a:latin typeface="Arial"/>
                <a:ea typeface="Arial"/>
                <a:cs typeface="Arial"/>
              </a:rPr>
              <a:t>CORE CAPABILITIES</a:t>
            </a:r>
          </a:p>
        </p:txBody>
      </p:sp>
      <p:sp>
        <p:nvSpPr>
          <p:cNvPr id="7" name="r-code-0">
            <a:extLst>
              <a:ext uri="{FF2B5EF4-FFF2-40B4-BE49-F238E27FC236}">
                <a16:creationId xmlns:a16="http://schemas.microsoft.com/office/drawing/2014/main" id="{D8F012E1-EA64-49E5-8BB2-3984A7AB7A07}"/>
              </a:ext>
            </a:extLst>
          </p:cNvPr>
          <p:cNvSpPr>
            <a:spLocks noGrp="1"/>
          </p:cNvSpPr>
          <p:nvPr/>
        </p:nvSpPr>
        <p:spPr>
          <a:xfrm>
            <a:off x="400050" y="2114550"/>
            <a:ext cx="1047750" cy="38100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111827"/>
                </a:solidFill>
                <a:latin typeface="Arial"/>
                <a:ea typeface="Arial"/>
                <a:cs typeface="Arial"/>
              </a:defRPr>
            </a:pPr>
            <a:r>
              <a:rPr sz="1875" b="1" i="0">
                <a:solidFill>
                  <a:srgbClr val="111827"/>
                </a:solidFill>
                <a:latin typeface="Arial"/>
                <a:ea typeface="Arial"/>
                <a:cs typeface="Arial"/>
              </a:rPr>
              <a:t>R1–R3</a:t>
            </a:r>
          </a:p>
        </p:txBody>
      </p:sp>
      <p:sp>
        <p:nvSpPr>
          <p:cNvPr id="8" name="r-desc-0">
            <a:extLst>
              <a:ext uri="{FF2B5EF4-FFF2-40B4-BE49-F238E27FC236}">
                <a16:creationId xmlns:a16="http://schemas.microsoft.com/office/drawing/2014/main" id="{CBBBEC15-2CB1-4475-A672-5928D3D50DF9}"/>
              </a:ext>
            </a:extLst>
          </p:cNvPr>
          <p:cNvSpPr>
            <a:spLocks noGrp="1"/>
          </p:cNvSpPr>
          <p:nvPr/>
        </p:nvSpPr>
        <p:spPr>
          <a:xfrm>
            <a:off x="1524000" y="2114550"/>
            <a:ext cx="4191000" cy="552450"/>
          </a:xfrm>
          <a:prstGeom prst="rect">
            <a:avLst/>
          </a:prstGeom>
          <a:noFill/>
          <a:ln w="0">
            <a:noFill/>
            <a:prstDash val="solid"/>
          </a:ln>
        </p:spPr>
        <p:txBody>
          <a:bodyPr wrap="square" lIns="0" tIns="0" rIns="0" bIns="0" anchor="t">
            <a:normAutofit/>
          </a:bodyPr>
          <a:lstStyle/>
          <a:p>
            <a:pPr algn="l">
              <a:lnSpc>
                <a:spcPct val="105000"/>
              </a:lnSpc>
              <a:buNone/>
              <a:defRPr sz="1575" b="0" i="0">
                <a:solidFill>
                  <a:srgbClr val="5F6B7A"/>
                </a:solidFill>
                <a:latin typeface="Arial"/>
                <a:ea typeface="Arial"/>
                <a:cs typeface="Arial"/>
              </a:defRPr>
            </a:pPr>
            <a:r>
              <a:rPr sz="1575" b="0" i="0">
                <a:solidFill>
                  <a:srgbClr val="5F6B7A"/>
                </a:solidFill>
                <a:latin typeface="Arial"/>
                <a:ea typeface="Arial"/>
                <a:cs typeface="Arial"/>
              </a:rPr>
              <a:t>Execution, resilient locators, synchronization</a:t>
            </a:r>
          </a:p>
        </p:txBody>
      </p:sp>
      <p:sp>
        <p:nvSpPr>
          <p:cNvPr id="9" name="r-code-1">
            <a:extLst>
              <a:ext uri="{FF2B5EF4-FFF2-40B4-BE49-F238E27FC236}">
                <a16:creationId xmlns:a16="http://schemas.microsoft.com/office/drawing/2014/main" id="{6E51DF26-1181-452A-A01D-F1A40FEA9676}"/>
              </a:ext>
            </a:extLst>
          </p:cNvPr>
          <p:cNvSpPr>
            <a:spLocks noGrp="1"/>
          </p:cNvSpPr>
          <p:nvPr/>
        </p:nvSpPr>
        <p:spPr>
          <a:xfrm>
            <a:off x="400050" y="3009900"/>
            <a:ext cx="1047750" cy="38100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111827"/>
                </a:solidFill>
                <a:latin typeface="Arial"/>
                <a:ea typeface="Arial"/>
                <a:cs typeface="Arial"/>
              </a:defRPr>
            </a:pPr>
            <a:r>
              <a:rPr sz="1875" b="1" i="0">
                <a:solidFill>
                  <a:srgbClr val="111827"/>
                </a:solidFill>
                <a:latin typeface="Arial"/>
                <a:ea typeface="Arial"/>
                <a:cs typeface="Arial"/>
              </a:rPr>
              <a:t>R4–R6</a:t>
            </a:r>
          </a:p>
        </p:txBody>
      </p:sp>
      <p:sp>
        <p:nvSpPr>
          <p:cNvPr id="10" name="r-desc-1">
            <a:extLst>
              <a:ext uri="{FF2B5EF4-FFF2-40B4-BE49-F238E27FC236}">
                <a16:creationId xmlns:a16="http://schemas.microsoft.com/office/drawing/2014/main" id="{2E712866-0C93-438A-B140-C9ADADE8E229}"/>
              </a:ext>
            </a:extLst>
          </p:cNvPr>
          <p:cNvSpPr>
            <a:spLocks noGrp="1"/>
          </p:cNvSpPr>
          <p:nvPr/>
        </p:nvSpPr>
        <p:spPr>
          <a:xfrm>
            <a:off x="1524000" y="3009900"/>
            <a:ext cx="4191000" cy="552450"/>
          </a:xfrm>
          <a:prstGeom prst="rect">
            <a:avLst/>
          </a:prstGeom>
          <a:noFill/>
          <a:ln w="0">
            <a:noFill/>
            <a:prstDash val="solid"/>
          </a:ln>
        </p:spPr>
        <p:txBody>
          <a:bodyPr wrap="square" lIns="0" tIns="0" rIns="0" bIns="0" anchor="t">
            <a:normAutofit/>
          </a:bodyPr>
          <a:lstStyle/>
          <a:p>
            <a:pPr algn="l">
              <a:lnSpc>
                <a:spcPct val="105000"/>
              </a:lnSpc>
              <a:buNone/>
              <a:defRPr sz="1575" b="0" i="0">
                <a:solidFill>
                  <a:srgbClr val="5F6B7A"/>
                </a:solidFill>
                <a:latin typeface="Arial"/>
                <a:ea typeface="Arial"/>
                <a:cs typeface="Arial"/>
              </a:defRPr>
            </a:pPr>
            <a:r>
              <a:rPr sz="1575" b="0" i="0">
                <a:solidFill>
                  <a:srgbClr val="5F6B7A"/>
                </a:solidFill>
                <a:latin typeface="Arial"/>
                <a:ea typeface="Arial"/>
                <a:cs typeface="Arial"/>
              </a:rPr>
              <a:t>Assertions, isolated data, reusable structure</a:t>
            </a:r>
          </a:p>
        </p:txBody>
      </p:sp>
      <p:sp>
        <p:nvSpPr>
          <p:cNvPr id="11" name="r-code-2">
            <a:extLst>
              <a:ext uri="{FF2B5EF4-FFF2-40B4-BE49-F238E27FC236}">
                <a16:creationId xmlns:a16="http://schemas.microsoft.com/office/drawing/2014/main" id="{0D3F8375-12C4-4090-8EB1-AA665DABC9C1}"/>
              </a:ext>
            </a:extLst>
          </p:cNvPr>
          <p:cNvSpPr>
            <a:spLocks noGrp="1"/>
          </p:cNvSpPr>
          <p:nvPr/>
        </p:nvSpPr>
        <p:spPr>
          <a:xfrm>
            <a:off x="400050" y="3905250"/>
            <a:ext cx="1047750" cy="38100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111827"/>
                </a:solidFill>
                <a:latin typeface="Arial"/>
                <a:ea typeface="Arial"/>
                <a:cs typeface="Arial"/>
              </a:defRPr>
            </a:pPr>
            <a:r>
              <a:rPr sz="1875" b="1" i="0">
                <a:solidFill>
                  <a:srgbClr val="111827"/>
                </a:solidFill>
                <a:latin typeface="Arial"/>
                <a:ea typeface="Arial"/>
                <a:cs typeface="Arial"/>
              </a:rPr>
              <a:t>R7–R9</a:t>
            </a:r>
          </a:p>
        </p:txBody>
      </p:sp>
      <p:sp>
        <p:nvSpPr>
          <p:cNvPr id="12" name="r-desc-2">
            <a:extLst>
              <a:ext uri="{FF2B5EF4-FFF2-40B4-BE49-F238E27FC236}">
                <a16:creationId xmlns:a16="http://schemas.microsoft.com/office/drawing/2014/main" id="{CA39E171-AA2C-44E9-B68C-5E0E74525E1B}"/>
              </a:ext>
            </a:extLst>
          </p:cNvPr>
          <p:cNvSpPr>
            <a:spLocks noGrp="1"/>
          </p:cNvSpPr>
          <p:nvPr/>
        </p:nvSpPr>
        <p:spPr>
          <a:xfrm>
            <a:off x="1524000" y="3905250"/>
            <a:ext cx="4191000" cy="552450"/>
          </a:xfrm>
          <a:prstGeom prst="rect">
            <a:avLst/>
          </a:prstGeom>
          <a:noFill/>
          <a:ln w="0">
            <a:noFill/>
            <a:prstDash val="solid"/>
          </a:ln>
        </p:spPr>
        <p:txBody>
          <a:bodyPr wrap="square" lIns="0" tIns="0" rIns="0" bIns="0" anchor="t">
            <a:normAutofit/>
          </a:bodyPr>
          <a:lstStyle/>
          <a:p>
            <a:pPr algn="l">
              <a:lnSpc>
                <a:spcPct val="105000"/>
              </a:lnSpc>
              <a:buNone/>
              <a:defRPr sz="1575" b="0" i="0">
                <a:solidFill>
                  <a:srgbClr val="5F6B7A"/>
                </a:solidFill>
                <a:latin typeface="Arial"/>
                <a:ea typeface="Arial"/>
                <a:cs typeface="Arial"/>
              </a:defRPr>
            </a:pPr>
            <a:r>
              <a:rPr sz="1575" b="0" i="0">
                <a:solidFill>
                  <a:srgbClr val="5F6B7A"/>
                </a:solidFill>
                <a:latin typeface="Arial"/>
                <a:ea typeface="Arial"/>
                <a:cs typeface="Arial"/>
              </a:rPr>
              <a:t>Cross-browser/parallel, evidence, CI/CD</a:t>
            </a:r>
          </a:p>
        </p:txBody>
      </p:sp>
      <p:sp>
        <p:nvSpPr>
          <p:cNvPr id="13" name="r-code-3">
            <a:extLst>
              <a:ext uri="{FF2B5EF4-FFF2-40B4-BE49-F238E27FC236}">
                <a16:creationId xmlns:a16="http://schemas.microsoft.com/office/drawing/2014/main" id="{FEAD4E25-A1F6-43E7-9C1D-502D1E9F9A2D}"/>
              </a:ext>
            </a:extLst>
          </p:cNvPr>
          <p:cNvSpPr>
            <a:spLocks noGrp="1"/>
          </p:cNvSpPr>
          <p:nvPr/>
        </p:nvSpPr>
        <p:spPr>
          <a:xfrm>
            <a:off x="400050" y="4800600"/>
            <a:ext cx="1047750" cy="38100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3D8DFF"/>
                </a:solidFill>
                <a:latin typeface="Arial"/>
                <a:ea typeface="Arial"/>
                <a:cs typeface="Arial"/>
              </a:defRPr>
            </a:pPr>
            <a:r>
              <a:rPr sz="1875" b="1" i="0">
                <a:solidFill>
                  <a:srgbClr val="3D8DFF"/>
                </a:solidFill>
                <a:latin typeface="Arial"/>
                <a:ea typeface="Arial"/>
                <a:cs typeface="Arial"/>
              </a:rPr>
              <a:t>R10</a:t>
            </a:r>
          </a:p>
        </p:txBody>
      </p:sp>
      <p:sp>
        <p:nvSpPr>
          <p:cNvPr id="14" name="r-desc-3">
            <a:extLst>
              <a:ext uri="{FF2B5EF4-FFF2-40B4-BE49-F238E27FC236}">
                <a16:creationId xmlns:a16="http://schemas.microsoft.com/office/drawing/2014/main" id="{92EFF851-7BAB-4304-A31B-260EE6B7FABC}"/>
              </a:ext>
            </a:extLst>
          </p:cNvPr>
          <p:cNvSpPr>
            <a:spLocks noGrp="1"/>
          </p:cNvSpPr>
          <p:nvPr/>
        </p:nvSpPr>
        <p:spPr>
          <a:xfrm>
            <a:off x="1524000" y="4800600"/>
            <a:ext cx="4191000" cy="552450"/>
          </a:xfrm>
          <a:prstGeom prst="rect">
            <a:avLst/>
          </a:prstGeom>
          <a:noFill/>
          <a:ln w="0">
            <a:noFill/>
            <a:prstDash val="solid"/>
          </a:ln>
        </p:spPr>
        <p:txBody>
          <a:bodyPr wrap="square" lIns="0" tIns="0" rIns="0" bIns="0" anchor="t">
            <a:normAutofit/>
          </a:bodyPr>
          <a:lstStyle/>
          <a:p>
            <a:pPr algn="l">
              <a:lnSpc>
                <a:spcPct val="105000"/>
              </a:lnSpc>
              <a:buNone/>
              <a:defRPr sz="1575" b="0" i="0">
                <a:solidFill>
                  <a:srgbClr val="5F6B7A"/>
                </a:solidFill>
                <a:latin typeface="Arial"/>
                <a:ea typeface="Arial"/>
                <a:cs typeface="Arial"/>
              </a:defRPr>
            </a:pPr>
            <a:r>
              <a:rPr sz="1575" b="0" i="0">
                <a:solidFill>
                  <a:srgbClr val="5F6B7A"/>
                </a:solidFill>
                <a:latin typeface="Arial"/>
                <a:ea typeface="Arial"/>
                <a:cs typeface="Arial"/>
              </a:rPr>
              <a:t>AI assistance that remains auditable</a:t>
            </a:r>
          </a:p>
        </p:txBody>
      </p:sp>
      <p:sp>
        <p:nvSpPr>
          <p:cNvPr id="15" name="r-divider">
            <a:extLst>
              <a:ext uri="{FF2B5EF4-FFF2-40B4-BE49-F238E27FC236}">
                <a16:creationId xmlns:a16="http://schemas.microsoft.com/office/drawing/2014/main" id="{4C6B90CC-C94B-4F66-9A0E-32792B98D840}"/>
              </a:ext>
            </a:extLst>
          </p:cNvPr>
          <p:cNvSpPr>
            <a:spLocks noGrp="1"/>
          </p:cNvSpPr>
          <p:nvPr/>
        </p:nvSpPr>
        <p:spPr>
          <a:xfrm>
            <a:off x="6038850" y="1666875"/>
            <a:ext cx="0" cy="3810000"/>
          </a:xfrm>
          <a:prstGeom prst="line">
            <a:avLst/>
          </a:prstGeom>
          <a:noFill/>
          <a:ln w="9525">
            <a:solidFill>
              <a:srgbClr val="B8BCC4"/>
            </a:solidFill>
            <a:prstDash val="solid"/>
          </a:ln>
        </p:spPr>
      </p:sp>
      <p:sp>
        <p:nvSpPr>
          <p:cNvPr id="16" name="q-label">
            <a:extLst>
              <a:ext uri="{FF2B5EF4-FFF2-40B4-BE49-F238E27FC236}">
                <a16:creationId xmlns:a16="http://schemas.microsoft.com/office/drawing/2014/main" id="{52EADD0C-E588-4997-BF4F-72CC435C26C6}"/>
              </a:ext>
            </a:extLst>
          </p:cNvPr>
          <p:cNvSpPr>
            <a:spLocks noGrp="1"/>
          </p:cNvSpPr>
          <p:nvPr/>
        </p:nvSpPr>
        <p:spPr>
          <a:xfrm>
            <a:off x="6477000" y="1657350"/>
            <a:ext cx="4000500" cy="26670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3D8DFF"/>
                </a:solidFill>
                <a:latin typeface="Arial"/>
                <a:ea typeface="Arial"/>
                <a:cs typeface="Arial"/>
              </a:defRPr>
            </a:pPr>
            <a:r>
              <a:rPr sz="1275" b="1" i="0">
                <a:solidFill>
                  <a:srgbClr val="3D8DFF"/>
                </a:solidFill>
                <a:latin typeface="Arial"/>
                <a:ea typeface="Arial"/>
                <a:cs typeface="Arial"/>
              </a:rPr>
              <a:t>QUALITY OUTCOMES</a:t>
            </a:r>
          </a:p>
        </p:txBody>
      </p:sp>
      <p:sp>
        <p:nvSpPr>
          <p:cNvPr id="17" name="q-num-0">
            <a:extLst>
              <a:ext uri="{FF2B5EF4-FFF2-40B4-BE49-F238E27FC236}">
                <a16:creationId xmlns:a16="http://schemas.microsoft.com/office/drawing/2014/main" id="{D4DA72E4-728E-43B5-B887-EFB79F238517}"/>
              </a:ext>
            </a:extLst>
          </p:cNvPr>
          <p:cNvSpPr>
            <a:spLocks noGrp="1"/>
          </p:cNvSpPr>
          <p:nvPr/>
        </p:nvSpPr>
        <p:spPr>
          <a:xfrm>
            <a:off x="6477000" y="2095500"/>
            <a:ext cx="476250" cy="32385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6DCBF4"/>
                </a:solidFill>
                <a:latin typeface="Arial"/>
                <a:ea typeface="Arial"/>
                <a:cs typeface="Arial"/>
              </a:defRPr>
            </a:pPr>
            <a:r>
              <a:rPr sz="1350" b="1" i="0">
                <a:solidFill>
                  <a:srgbClr val="6DCBF4"/>
                </a:solidFill>
                <a:latin typeface="Arial"/>
                <a:ea typeface="Arial"/>
                <a:cs typeface="Arial"/>
              </a:rPr>
              <a:t>01</a:t>
            </a:r>
          </a:p>
        </p:txBody>
      </p:sp>
      <p:sp>
        <p:nvSpPr>
          <p:cNvPr id="18" name="q-title-0">
            <a:extLst>
              <a:ext uri="{FF2B5EF4-FFF2-40B4-BE49-F238E27FC236}">
                <a16:creationId xmlns:a16="http://schemas.microsoft.com/office/drawing/2014/main" id="{F871E27E-C9D9-4D35-B0A3-8BA4BB97E281}"/>
              </a:ext>
            </a:extLst>
          </p:cNvPr>
          <p:cNvSpPr>
            <a:spLocks noGrp="1"/>
          </p:cNvSpPr>
          <p:nvPr/>
        </p:nvSpPr>
        <p:spPr>
          <a:xfrm>
            <a:off x="7105650" y="2095500"/>
            <a:ext cx="1905000" cy="3048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Correctness</a:t>
            </a:r>
          </a:p>
        </p:txBody>
      </p:sp>
      <p:sp>
        <p:nvSpPr>
          <p:cNvPr id="19" name="q-desc-0">
            <a:extLst>
              <a:ext uri="{FF2B5EF4-FFF2-40B4-BE49-F238E27FC236}">
                <a16:creationId xmlns:a16="http://schemas.microsoft.com/office/drawing/2014/main" id="{F9BDDC5F-2159-4526-8895-758E7A604A1F}"/>
              </a:ext>
            </a:extLst>
          </p:cNvPr>
          <p:cNvSpPr>
            <a:spLocks noGrp="1"/>
          </p:cNvSpPr>
          <p:nvPr/>
        </p:nvSpPr>
        <p:spPr>
          <a:xfrm>
            <a:off x="7105650" y="2419350"/>
            <a:ext cx="4095750" cy="4191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F6B7A"/>
                </a:solidFill>
                <a:latin typeface="Arial"/>
                <a:ea typeface="Arial"/>
                <a:cs typeface="Arial"/>
              </a:defRPr>
            </a:pPr>
            <a:r>
              <a:rPr sz="1350" b="0" i="0">
                <a:solidFill>
                  <a:srgbClr val="5F6B7A"/>
                </a:solidFill>
                <a:latin typeface="Arial"/>
                <a:ea typeface="Arial"/>
                <a:cs typeface="Arial"/>
              </a:rPr>
              <a:t>Tests the requirement, not just the screen.</a:t>
            </a:r>
          </a:p>
        </p:txBody>
      </p:sp>
      <p:sp>
        <p:nvSpPr>
          <p:cNvPr id="20" name="q-num-1">
            <a:extLst>
              <a:ext uri="{FF2B5EF4-FFF2-40B4-BE49-F238E27FC236}">
                <a16:creationId xmlns:a16="http://schemas.microsoft.com/office/drawing/2014/main" id="{3925981D-6B4E-4199-A4EE-0629AA158FBC}"/>
              </a:ext>
            </a:extLst>
          </p:cNvPr>
          <p:cNvSpPr>
            <a:spLocks noGrp="1"/>
          </p:cNvSpPr>
          <p:nvPr/>
        </p:nvSpPr>
        <p:spPr>
          <a:xfrm>
            <a:off x="6477000" y="2971800"/>
            <a:ext cx="476250" cy="32385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6DCBF4"/>
                </a:solidFill>
                <a:latin typeface="Arial"/>
                <a:ea typeface="Arial"/>
                <a:cs typeface="Arial"/>
              </a:defRPr>
            </a:pPr>
            <a:r>
              <a:rPr sz="1350" b="1" i="0">
                <a:solidFill>
                  <a:srgbClr val="6DCBF4"/>
                </a:solidFill>
                <a:latin typeface="Arial"/>
                <a:ea typeface="Arial"/>
                <a:cs typeface="Arial"/>
              </a:rPr>
              <a:t>02</a:t>
            </a:r>
          </a:p>
        </p:txBody>
      </p:sp>
      <p:sp>
        <p:nvSpPr>
          <p:cNvPr id="21" name="q-title-1">
            <a:extLst>
              <a:ext uri="{FF2B5EF4-FFF2-40B4-BE49-F238E27FC236}">
                <a16:creationId xmlns:a16="http://schemas.microsoft.com/office/drawing/2014/main" id="{DC1B0D8B-DB5E-45BD-BB45-339D216768A2}"/>
              </a:ext>
            </a:extLst>
          </p:cNvPr>
          <p:cNvSpPr>
            <a:spLocks noGrp="1"/>
          </p:cNvSpPr>
          <p:nvPr/>
        </p:nvSpPr>
        <p:spPr>
          <a:xfrm>
            <a:off x="7105650" y="2971800"/>
            <a:ext cx="1905000" cy="3048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Reliability</a:t>
            </a:r>
          </a:p>
        </p:txBody>
      </p:sp>
      <p:sp>
        <p:nvSpPr>
          <p:cNvPr id="22" name="q-desc-1">
            <a:extLst>
              <a:ext uri="{FF2B5EF4-FFF2-40B4-BE49-F238E27FC236}">
                <a16:creationId xmlns:a16="http://schemas.microsoft.com/office/drawing/2014/main" id="{172E4613-68DB-4164-B338-31EB5396C248}"/>
              </a:ext>
            </a:extLst>
          </p:cNvPr>
          <p:cNvSpPr>
            <a:spLocks noGrp="1"/>
          </p:cNvSpPr>
          <p:nvPr/>
        </p:nvSpPr>
        <p:spPr>
          <a:xfrm>
            <a:off x="7105650" y="3295650"/>
            <a:ext cx="4095750" cy="4191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F6B7A"/>
                </a:solidFill>
                <a:latin typeface="Arial"/>
                <a:ea typeface="Arial"/>
                <a:cs typeface="Arial"/>
              </a:defRPr>
            </a:pPr>
            <a:r>
              <a:rPr sz="1350" b="0" i="0">
                <a:solidFill>
                  <a:srgbClr val="5F6B7A"/>
                </a:solidFill>
                <a:latin typeface="Arial"/>
                <a:ea typeface="Arial"/>
                <a:cs typeface="Arial"/>
              </a:rPr>
              <a:t>Produces stable results under the same conditions.</a:t>
            </a:r>
          </a:p>
        </p:txBody>
      </p:sp>
      <p:sp>
        <p:nvSpPr>
          <p:cNvPr id="23" name="q-num-2">
            <a:extLst>
              <a:ext uri="{FF2B5EF4-FFF2-40B4-BE49-F238E27FC236}">
                <a16:creationId xmlns:a16="http://schemas.microsoft.com/office/drawing/2014/main" id="{002E0281-03D4-4E18-BA36-CC92F4D32798}"/>
              </a:ext>
            </a:extLst>
          </p:cNvPr>
          <p:cNvSpPr>
            <a:spLocks noGrp="1"/>
          </p:cNvSpPr>
          <p:nvPr/>
        </p:nvSpPr>
        <p:spPr>
          <a:xfrm>
            <a:off x="6477000" y="3848100"/>
            <a:ext cx="476250" cy="32385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6DCBF4"/>
                </a:solidFill>
                <a:latin typeface="Arial"/>
                <a:ea typeface="Arial"/>
                <a:cs typeface="Arial"/>
              </a:defRPr>
            </a:pPr>
            <a:r>
              <a:rPr sz="1350" b="1" i="0">
                <a:solidFill>
                  <a:srgbClr val="6DCBF4"/>
                </a:solidFill>
                <a:latin typeface="Arial"/>
                <a:ea typeface="Arial"/>
                <a:cs typeface="Arial"/>
              </a:rPr>
              <a:t>03</a:t>
            </a:r>
          </a:p>
        </p:txBody>
      </p:sp>
      <p:sp>
        <p:nvSpPr>
          <p:cNvPr id="24" name="q-title-2">
            <a:extLst>
              <a:ext uri="{FF2B5EF4-FFF2-40B4-BE49-F238E27FC236}">
                <a16:creationId xmlns:a16="http://schemas.microsoft.com/office/drawing/2014/main" id="{4275989A-272B-4413-8293-CC36754402D3}"/>
              </a:ext>
            </a:extLst>
          </p:cNvPr>
          <p:cNvSpPr>
            <a:spLocks noGrp="1"/>
          </p:cNvSpPr>
          <p:nvPr/>
        </p:nvSpPr>
        <p:spPr>
          <a:xfrm>
            <a:off x="7105650" y="3848100"/>
            <a:ext cx="1905000" cy="3048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Maintainability</a:t>
            </a:r>
          </a:p>
        </p:txBody>
      </p:sp>
      <p:sp>
        <p:nvSpPr>
          <p:cNvPr id="25" name="q-desc-2">
            <a:extLst>
              <a:ext uri="{FF2B5EF4-FFF2-40B4-BE49-F238E27FC236}">
                <a16:creationId xmlns:a16="http://schemas.microsoft.com/office/drawing/2014/main" id="{281EDD2A-5B78-4737-8DFE-76A15EA28F60}"/>
              </a:ext>
            </a:extLst>
          </p:cNvPr>
          <p:cNvSpPr>
            <a:spLocks noGrp="1"/>
          </p:cNvSpPr>
          <p:nvPr/>
        </p:nvSpPr>
        <p:spPr>
          <a:xfrm>
            <a:off x="7105650" y="4171950"/>
            <a:ext cx="4095750" cy="4191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F6B7A"/>
                </a:solidFill>
                <a:latin typeface="Arial"/>
                <a:ea typeface="Arial"/>
                <a:cs typeface="Arial"/>
              </a:defRPr>
            </a:pPr>
            <a:r>
              <a:rPr sz="1350" b="0" i="0">
                <a:solidFill>
                  <a:srgbClr val="5F6B7A"/>
                </a:solidFill>
                <a:latin typeface="Arial"/>
                <a:ea typeface="Arial"/>
                <a:cs typeface="Arial"/>
              </a:rPr>
              <a:t>Survives UI change without widespread rewrites.</a:t>
            </a:r>
          </a:p>
        </p:txBody>
      </p:sp>
      <p:sp>
        <p:nvSpPr>
          <p:cNvPr id="26" name="q-num-3">
            <a:extLst>
              <a:ext uri="{FF2B5EF4-FFF2-40B4-BE49-F238E27FC236}">
                <a16:creationId xmlns:a16="http://schemas.microsoft.com/office/drawing/2014/main" id="{6D84AD1D-DCF6-431A-8780-5C72E090F751}"/>
              </a:ext>
            </a:extLst>
          </p:cNvPr>
          <p:cNvSpPr>
            <a:spLocks noGrp="1"/>
          </p:cNvSpPr>
          <p:nvPr/>
        </p:nvSpPr>
        <p:spPr>
          <a:xfrm>
            <a:off x="6477000" y="4724400"/>
            <a:ext cx="476250" cy="32385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6DCBF4"/>
                </a:solidFill>
                <a:latin typeface="Arial"/>
                <a:ea typeface="Arial"/>
                <a:cs typeface="Arial"/>
              </a:defRPr>
            </a:pPr>
            <a:r>
              <a:rPr sz="1350" b="1" i="0">
                <a:solidFill>
                  <a:srgbClr val="6DCBF4"/>
                </a:solidFill>
                <a:latin typeface="Arial"/>
                <a:ea typeface="Arial"/>
                <a:cs typeface="Arial"/>
              </a:rPr>
              <a:t>04</a:t>
            </a:r>
          </a:p>
        </p:txBody>
      </p:sp>
      <p:sp>
        <p:nvSpPr>
          <p:cNvPr id="27" name="q-title-3">
            <a:extLst>
              <a:ext uri="{FF2B5EF4-FFF2-40B4-BE49-F238E27FC236}">
                <a16:creationId xmlns:a16="http://schemas.microsoft.com/office/drawing/2014/main" id="{977B10CD-113F-4761-AC6B-897EF745CE56}"/>
              </a:ext>
            </a:extLst>
          </p:cNvPr>
          <p:cNvSpPr>
            <a:spLocks noGrp="1"/>
          </p:cNvSpPr>
          <p:nvPr/>
        </p:nvSpPr>
        <p:spPr>
          <a:xfrm>
            <a:off x="7105650" y="4724400"/>
            <a:ext cx="1905000" cy="3048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Diagnosability</a:t>
            </a:r>
          </a:p>
        </p:txBody>
      </p:sp>
      <p:sp>
        <p:nvSpPr>
          <p:cNvPr id="28" name="q-desc-3">
            <a:extLst>
              <a:ext uri="{FF2B5EF4-FFF2-40B4-BE49-F238E27FC236}">
                <a16:creationId xmlns:a16="http://schemas.microsoft.com/office/drawing/2014/main" id="{C56E44B1-F834-4673-96CE-160B4C76ED9E}"/>
              </a:ext>
            </a:extLst>
          </p:cNvPr>
          <p:cNvSpPr>
            <a:spLocks noGrp="1"/>
          </p:cNvSpPr>
          <p:nvPr/>
        </p:nvSpPr>
        <p:spPr>
          <a:xfrm>
            <a:off x="7105650" y="5048250"/>
            <a:ext cx="4095750" cy="4191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F6B7A"/>
                </a:solidFill>
                <a:latin typeface="Arial"/>
                <a:ea typeface="Arial"/>
                <a:cs typeface="Arial"/>
              </a:defRPr>
            </a:pPr>
            <a:r>
              <a:rPr sz="1350" b="0" i="0">
                <a:solidFill>
                  <a:srgbClr val="5F6B7A"/>
                </a:solidFill>
                <a:latin typeface="Arial"/>
                <a:ea typeface="Arial"/>
                <a:cs typeface="Arial"/>
              </a:rPr>
              <a:t>Leaves traceable evidence when it fails.</a:t>
            </a:r>
          </a:p>
        </p:txBody>
      </p:sp>
      <p:sp>
        <p:nvSpPr>
          <p:cNvPr id="29" name="risk-strip">
            <a:extLst>
              <a:ext uri="{FF2B5EF4-FFF2-40B4-BE49-F238E27FC236}">
                <a16:creationId xmlns:a16="http://schemas.microsoft.com/office/drawing/2014/main" id="{4982941A-EA65-4BDF-9C6D-608EACFA1888}"/>
              </a:ext>
            </a:extLst>
          </p:cNvPr>
          <p:cNvSpPr>
            <a:spLocks noGrp="1"/>
          </p:cNvSpPr>
          <p:nvPr/>
        </p:nvSpPr>
        <p:spPr>
          <a:xfrm>
            <a:off x="400050" y="5715000"/>
            <a:ext cx="11391900" cy="457200"/>
          </a:xfrm>
          <a:prstGeom prst="rect">
            <a:avLst/>
          </a:prstGeom>
          <a:solidFill>
            <a:srgbClr val="FFF4E5"/>
          </a:solidFill>
          <a:ln w="0">
            <a:noFill/>
            <a:prstDash val="solid"/>
          </a:ln>
        </p:spPr>
      </p:sp>
      <p:sp>
        <p:nvSpPr>
          <p:cNvPr id="30" name="risk-strip-text">
            <a:extLst>
              <a:ext uri="{FF2B5EF4-FFF2-40B4-BE49-F238E27FC236}">
                <a16:creationId xmlns:a16="http://schemas.microsoft.com/office/drawing/2014/main" id="{B0024C0F-21C4-4F2C-9C08-E081EBE1A380}"/>
              </a:ext>
            </a:extLst>
          </p:cNvPr>
          <p:cNvSpPr>
            <a:spLocks noGrp="1"/>
          </p:cNvSpPr>
          <p:nvPr/>
        </p:nvSpPr>
        <p:spPr>
          <a:xfrm>
            <a:off x="628650" y="5791200"/>
            <a:ext cx="10953750" cy="304800"/>
          </a:xfrm>
          <a:prstGeom prst="rect">
            <a:avLst/>
          </a:prstGeom>
          <a:noFill/>
          <a:ln w="0">
            <a:noFill/>
            <a:prstDash val="solid"/>
          </a:ln>
        </p:spPr>
        <p:txBody>
          <a:bodyPr wrap="square" lIns="0" tIns="0" rIns="0" bIns="0" anchor="ctr">
            <a:normAutofit/>
          </a:bodyPr>
          <a:lstStyle/>
          <a:p>
            <a:pPr algn="l">
              <a:lnSpc>
                <a:spcPct val="105000"/>
              </a:lnSpc>
              <a:buNone/>
              <a:defRPr sz="1500" b="1" i="0">
                <a:solidFill>
                  <a:srgbClr val="B7791F"/>
                </a:solidFill>
                <a:latin typeface="Arial"/>
                <a:ea typeface="Arial"/>
                <a:cs typeface="Arial"/>
              </a:defRPr>
            </a:pPr>
            <a:r>
              <a:rPr sz="1500" b="1" i="0">
                <a:solidFill>
                  <a:srgbClr val="B7791F"/>
                </a:solidFill>
                <a:latin typeface="Arial"/>
                <a:ea typeface="Arial"/>
                <a:cs typeface="Arial"/>
              </a:rPr>
              <a:t>Guard against brittle locators, weak oracles, polluted data, false positives, self-healing errors, and AI hallucination.</a:t>
            </a:r>
          </a:p>
        </p:txBody>
      </p:sp>
    </p:spTree>
    <p:extLst>
      <p:ext uri="{BB962C8B-B14F-4D97-AF65-F5344CB8AC3E}">
        <p14:creationId xmlns:p14="http://schemas.microsoft.com/office/powerpoint/2010/main" val="675321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ection-6">
            <a:extLst>
              <a:ext uri="{FF2B5EF4-FFF2-40B4-BE49-F238E27FC236}">
                <a16:creationId xmlns:a16="http://schemas.microsoft.com/office/drawing/2014/main" id="{53375057-6475-49A7-BE61-7C65D9337D1E}"/>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TOOL SURVEY</a:t>
            </a:r>
          </a:p>
        </p:txBody>
      </p:sp>
      <p:sp>
        <p:nvSpPr>
          <p:cNvPr id="2" name="title-6">
            <a:extLst>
              <a:ext uri="{FF2B5EF4-FFF2-40B4-BE49-F238E27FC236}">
                <a16:creationId xmlns:a16="http://schemas.microsoft.com/office/drawing/2014/main" id="{D2DDDC56-AA45-4CFC-B420-D70B850AC7C8}"/>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Three tool families serve different jobs</a:t>
            </a:r>
          </a:p>
        </p:txBody>
      </p:sp>
      <p:sp>
        <p:nvSpPr>
          <p:cNvPr id="3" name="title-rule-6">
            <a:extLst>
              <a:ext uri="{FF2B5EF4-FFF2-40B4-BE49-F238E27FC236}">
                <a16:creationId xmlns:a16="http://schemas.microsoft.com/office/drawing/2014/main" id="{5208D348-AB48-4A4B-8E98-1C08729FB80A}"/>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6">
            <a:extLst>
              <a:ext uri="{FF2B5EF4-FFF2-40B4-BE49-F238E27FC236}">
                <a16:creationId xmlns:a16="http://schemas.microsoft.com/office/drawing/2014/main" id="{59756D2F-AD29-4C46-9A56-4B7674E76EAF}"/>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6">
            <a:extLst>
              <a:ext uri="{FF2B5EF4-FFF2-40B4-BE49-F238E27FC236}">
                <a16:creationId xmlns:a16="http://schemas.microsoft.com/office/drawing/2014/main" id="{65AE1D48-8B67-440C-9702-4D9C9ED3F140}"/>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06</a:t>
            </a:r>
          </a:p>
        </p:txBody>
      </p:sp>
      <p:sp>
        <p:nvSpPr>
          <p:cNvPr id="6" name="tool-group-0">
            <a:extLst>
              <a:ext uri="{FF2B5EF4-FFF2-40B4-BE49-F238E27FC236}">
                <a16:creationId xmlns:a16="http://schemas.microsoft.com/office/drawing/2014/main" id="{79038951-B7CD-494F-B80A-812E2F0DC693}"/>
              </a:ext>
            </a:extLst>
          </p:cNvPr>
          <p:cNvSpPr>
            <a:spLocks noGrp="1"/>
          </p:cNvSpPr>
          <p:nvPr/>
        </p:nvSpPr>
        <p:spPr>
          <a:xfrm>
            <a:off x="400050" y="1733550"/>
            <a:ext cx="3524250" cy="3048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CODE-FIRST FRAMEWORKS</a:t>
            </a:r>
          </a:p>
        </p:txBody>
      </p:sp>
      <p:sp>
        <p:nvSpPr>
          <p:cNvPr id="7" name="tool-list-0">
            <a:extLst>
              <a:ext uri="{FF2B5EF4-FFF2-40B4-BE49-F238E27FC236}">
                <a16:creationId xmlns:a16="http://schemas.microsoft.com/office/drawing/2014/main" id="{2186233A-783D-4912-A902-A74204394ABE}"/>
              </a:ext>
            </a:extLst>
          </p:cNvPr>
          <p:cNvSpPr>
            <a:spLocks noGrp="1"/>
          </p:cNvSpPr>
          <p:nvPr/>
        </p:nvSpPr>
        <p:spPr>
          <a:xfrm>
            <a:off x="400050" y="2305050"/>
            <a:ext cx="3429000" cy="121920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11827"/>
                </a:solidFill>
                <a:latin typeface="Arial"/>
                <a:ea typeface="Arial"/>
                <a:cs typeface="Arial"/>
              </a:defRPr>
            </a:pPr>
            <a:r>
              <a:rPr sz="2325" b="1" i="0">
                <a:solidFill>
                  <a:srgbClr val="111827"/>
                </a:solidFill>
                <a:latin typeface="Arial"/>
                <a:ea typeface="Arial"/>
                <a:cs typeface="Arial"/>
              </a:rPr>
              <a:t>Playwright</a:t>
            </a:r>
          </a:p>
          <a:p>
            <a:pPr algn="l">
              <a:lnSpc>
                <a:spcPct val="102000"/>
              </a:lnSpc>
              <a:buNone/>
              <a:defRPr sz="2325" b="1" i="0">
                <a:solidFill>
                  <a:srgbClr val="111827"/>
                </a:solidFill>
                <a:latin typeface="Arial"/>
                <a:ea typeface="Arial"/>
                <a:cs typeface="Arial"/>
              </a:defRPr>
            </a:pPr>
            <a:r>
              <a:rPr sz="2325" b="1" i="0">
                <a:solidFill>
                  <a:srgbClr val="111827"/>
                </a:solidFill>
                <a:latin typeface="Arial"/>
                <a:ea typeface="Arial"/>
                <a:cs typeface="Arial"/>
              </a:rPr>
              <a:t>Cypress</a:t>
            </a:r>
          </a:p>
          <a:p>
            <a:pPr algn="l">
              <a:lnSpc>
                <a:spcPct val="102000"/>
              </a:lnSpc>
              <a:buNone/>
              <a:defRPr sz="2325" b="1" i="0">
                <a:solidFill>
                  <a:srgbClr val="111827"/>
                </a:solidFill>
                <a:latin typeface="Arial"/>
                <a:ea typeface="Arial"/>
                <a:cs typeface="Arial"/>
              </a:defRPr>
            </a:pPr>
            <a:r>
              <a:rPr sz="2325" b="1" i="0">
                <a:solidFill>
                  <a:srgbClr val="111827"/>
                </a:solidFill>
                <a:latin typeface="Arial"/>
                <a:ea typeface="Arial"/>
                <a:cs typeface="Arial"/>
              </a:rPr>
              <a:t>Selenium 4</a:t>
            </a:r>
          </a:p>
        </p:txBody>
      </p:sp>
      <p:sp>
        <p:nvSpPr>
          <p:cNvPr id="8" name="tool-body-0">
            <a:extLst>
              <a:ext uri="{FF2B5EF4-FFF2-40B4-BE49-F238E27FC236}">
                <a16:creationId xmlns:a16="http://schemas.microsoft.com/office/drawing/2014/main" id="{37FBF2EE-38A3-495D-A923-206EEDF66A8D}"/>
              </a:ext>
            </a:extLst>
          </p:cNvPr>
          <p:cNvSpPr>
            <a:spLocks noGrp="1"/>
          </p:cNvSpPr>
          <p:nvPr/>
        </p:nvSpPr>
        <p:spPr>
          <a:xfrm>
            <a:off x="400050" y="3810000"/>
            <a:ext cx="3381375" cy="1619250"/>
          </a:xfrm>
          <a:prstGeom prst="rect">
            <a:avLst/>
          </a:prstGeom>
          <a:noFill/>
          <a:ln w="0">
            <a:noFill/>
            <a:prstDash val="solid"/>
          </a:ln>
        </p:spPr>
        <p:txBody>
          <a:bodyPr wrap="square" lIns="0" tIns="0" rIns="0" bIns="0" anchor="t">
            <a:normAutofit/>
          </a:bodyPr>
          <a:lstStyle/>
          <a:p>
            <a:pPr algn="l">
              <a:lnSpc>
                <a:spcPct val="112000"/>
              </a:lnSpc>
              <a:buNone/>
              <a:defRPr sz="1500" b="0" i="0">
                <a:solidFill>
                  <a:srgbClr val="5F6B7A"/>
                </a:solidFill>
                <a:latin typeface="Arial"/>
                <a:ea typeface="Arial"/>
                <a:cs typeface="Arial"/>
              </a:defRPr>
            </a:pPr>
            <a:r>
              <a:rPr sz="1500" b="0" i="0">
                <a:solidFill>
                  <a:srgbClr val="5F6B7A"/>
                </a:solidFill>
                <a:latin typeface="Arial"/>
                <a:ea typeface="Arial"/>
                <a:cs typeface="Arial"/>
              </a:rPr>
              <a:t>Maximum control over execution, data, assertions, and CI. Best for exposing the mechanics students need to learn.</a:t>
            </a:r>
          </a:p>
        </p:txBody>
      </p:sp>
      <p:sp>
        <p:nvSpPr>
          <p:cNvPr id="9" name="tool-divider-0">
            <a:extLst>
              <a:ext uri="{FF2B5EF4-FFF2-40B4-BE49-F238E27FC236}">
                <a16:creationId xmlns:a16="http://schemas.microsoft.com/office/drawing/2014/main" id="{63C21196-7C5C-43DC-BBF0-E4B86C73D4F7}"/>
              </a:ext>
            </a:extLst>
          </p:cNvPr>
          <p:cNvSpPr>
            <a:spLocks noGrp="1"/>
          </p:cNvSpPr>
          <p:nvPr/>
        </p:nvSpPr>
        <p:spPr>
          <a:xfrm>
            <a:off x="4038600" y="1733550"/>
            <a:ext cx="0" cy="3810000"/>
          </a:xfrm>
          <a:prstGeom prst="line">
            <a:avLst/>
          </a:prstGeom>
          <a:noFill/>
          <a:ln w="9525">
            <a:solidFill>
              <a:srgbClr val="B8BCC4"/>
            </a:solidFill>
            <a:prstDash val="solid"/>
          </a:ln>
        </p:spPr>
      </p:sp>
      <p:sp>
        <p:nvSpPr>
          <p:cNvPr id="10" name="tool-group-1">
            <a:extLst>
              <a:ext uri="{FF2B5EF4-FFF2-40B4-BE49-F238E27FC236}">
                <a16:creationId xmlns:a16="http://schemas.microsoft.com/office/drawing/2014/main" id="{462D6D34-A0BE-4F80-9AA7-6144F0F16315}"/>
              </a:ext>
            </a:extLst>
          </p:cNvPr>
          <p:cNvSpPr>
            <a:spLocks noGrp="1"/>
          </p:cNvSpPr>
          <p:nvPr/>
        </p:nvSpPr>
        <p:spPr>
          <a:xfrm>
            <a:off x="4305300" y="1733550"/>
            <a:ext cx="3524250" cy="3048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AI CODING ASSISTANTS</a:t>
            </a:r>
          </a:p>
        </p:txBody>
      </p:sp>
      <p:sp>
        <p:nvSpPr>
          <p:cNvPr id="11" name="tool-list-1">
            <a:extLst>
              <a:ext uri="{FF2B5EF4-FFF2-40B4-BE49-F238E27FC236}">
                <a16:creationId xmlns:a16="http://schemas.microsoft.com/office/drawing/2014/main" id="{9237A7AB-FA2F-496E-A386-D2D39F921380}"/>
              </a:ext>
            </a:extLst>
          </p:cNvPr>
          <p:cNvSpPr>
            <a:spLocks noGrp="1"/>
          </p:cNvSpPr>
          <p:nvPr/>
        </p:nvSpPr>
        <p:spPr>
          <a:xfrm>
            <a:off x="4305300" y="2305050"/>
            <a:ext cx="3429000" cy="121920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11827"/>
                </a:solidFill>
                <a:latin typeface="Arial"/>
                <a:ea typeface="Arial"/>
                <a:cs typeface="Arial"/>
              </a:defRPr>
            </a:pPr>
            <a:r>
              <a:rPr sz="2325" b="1" i="0" dirty="0">
                <a:solidFill>
                  <a:srgbClr val="111827"/>
                </a:solidFill>
                <a:latin typeface="Arial"/>
                <a:ea typeface="Arial"/>
                <a:cs typeface="Arial"/>
              </a:rPr>
              <a:t>GitHub Copilot</a:t>
            </a:r>
          </a:p>
          <a:p>
            <a:pPr algn="l">
              <a:lnSpc>
                <a:spcPct val="102000"/>
              </a:lnSpc>
              <a:buNone/>
              <a:defRPr sz="2325" b="1" i="0">
                <a:solidFill>
                  <a:srgbClr val="111827"/>
                </a:solidFill>
                <a:latin typeface="Arial"/>
                <a:ea typeface="Arial"/>
                <a:cs typeface="Arial"/>
              </a:defRPr>
            </a:pPr>
            <a:r>
              <a:rPr sz="2325" b="1" i="0" dirty="0">
                <a:solidFill>
                  <a:srgbClr val="111827"/>
                </a:solidFill>
                <a:latin typeface="Arial"/>
                <a:ea typeface="Arial"/>
                <a:cs typeface="Arial"/>
              </a:rPr>
              <a:t>OpenAI Codex</a:t>
            </a:r>
          </a:p>
          <a:p>
            <a:pPr algn="l">
              <a:lnSpc>
                <a:spcPct val="102000"/>
              </a:lnSpc>
              <a:buNone/>
              <a:defRPr sz="2325" b="1" i="0">
                <a:solidFill>
                  <a:srgbClr val="111827"/>
                </a:solidFill>
                <a:latin typeface="Arial"/>
                <a:ea typeface="Arial"/>
                <a:cs typeface="Arial"/>
              </a:defRPr>
            </a:pPr>
            <a:r>
              <a:rPr sz="2325" b="1" i="0" dirty="0">
                <a:solidFill>
                  <a:srgbClr val="111827"/>
                </a:solidFill>
                <a:latin typeface="Arial"/>
                <a:ea typeface="Arial"/>
                <a:cs typeface="Arial"/>
              </a:rPr>
              <a:t>Antigravity</a:t>
            </a:r>
          </a:p>
        </p:txBody>
      </p:sp>
      <p:sp>
        <p:nvSpPr>
          <p:cNvPr id="12" name="tool-body-1">
            <a:extLst>
              <a:ext uri="{FF2B5EF4-FFF2-40B4-BE49-F238E27FC236}">
                <a16:creationId xmlns:a16="http://schemas.microsoft.com/office/drawing/2014/main" id="{063C9194-3FE0-4DE6-9EBB-8FF592AA8626}"/>
              </a:ext>
            </a:extLst>
          </p:cNvPr>
          <p:cNvSpPr>
            <a:spLocks noGrp="1"/>
          </p:cNvSpPr>
          <p:nvPr/>
        </p:nvSpPr>
        <p:spPr>
          <a:xfrm>
            <a:off x="4305300" y="3810000"/>
            <a:ext cx="3381375" cy="1619250"/>
          </a:xfrm>
          <a:prstGeom prst="rect">
            <a:avLst/>
          </a:prstGeom>
          <a:noFill/>
          <a:ln w="0">
            <a:noFill/>
            <a:prstDash val="solid"/>
          </a:ln>
        </p:spPr>
        <p:txBody>
          <a:bodyPr wrap="square" lIns="0" tIns="0" rIns="0" bIns="0" anchor="t">
            <a:normAutofit/>
          </a:bodyPr>
          <a:lstStyle/>
          <a:p>
            <a:pPr algn="l">
              <a:lnSpc>
                <a:spcPct val="112000"/>
              </a:lnSpc>
              <a:buNone/>
              <a:defRPr sz="1500" b="0" i="0">
                <a:solidFill>
                  <a:srgbClr val="5F6B7A"/>
                </a:solidFill>
                <a:latin typeface="Arial"/>
                <a:ea typeface="Arial"/>
                <a:cs typeface="Arial"/>
              </a:defRPr>
            </a:pPr>
            <a:r>
              <a:rPr sz="1500" b="0" i="0">
                <a:solidFill>
                  <a:srgbClr val="5F6B7A"/>
                </a:solidFill>
                <a:latin typeface="Arial"/>
                <a:ea typeface="Arial"/>
                <a:cs typeface="Arial"/>
              </a:rPr>
              <a:t>Draft or refactor test code and suggest locators. They still require a framework, a test oracle, and human review.</a:t>
            </a:r>
          </a:p>
        </p:txBody>
      </p:sp>
      <p:sp>
        <p:nvSpPr>
          <p:cNvPr id="13" name="tool-divider-1">
            <a:extLst>
              <a:ext uri="{FF2B5EF4-FFF2-40B4-BE49-F238E27FC236}">
                <a16:creationId xmlns:a16="http://schemas.microsoft.com/office/drawing/2014/main" id="{8F726DE8-1A9B-4E86-95E9-26FC72E0228F}"/>
              </a:ext>
            </a:extLst>
          </p:cNvPr>
          <p:cNvSpPr>
            <a:spLocks noGrp="1"/>
          </p:cNvSpPr>
          <p:nvPr/>
        </p:nvSpPr>
        <p:spPr>
          <a:xfrm>
            <a:off x="7943850" y="1733550"/>
            <a:ext cx="0" cy="3810000"/>
          </a:xfrm>
          <a:prstGeom prst="line">
            <a:avLst/>
          </a:prstGeom>
          <a:noFill/>
          <a:ln w="9525">
            <a:solidFill>
              <a:srgbClr val="B8BCC4"/>
            </a:solidFill>
            <a:prstDash val="solid"/>
          </a:ln>
        </p:spPr>
      </p:sp>
      <p:sp>
        <p:nvSpPr>
          <p:cNvPr id="14" name="tool-group-2">
            <a:extLst>
              <a:ext uri="{FF2B5EF4-FFF2-40B4-BE49-F238E27FC236}">
                <a16:creationId xmlns:a16="http://schemas.microsoft.com/office/drawing/2014/main" id="{2102C2BE-8BBC-4D80-AF7B-AE53C8E7AC98}"/>
              </a:ext>
            </a:extLst>
          </p:cNvPr>
          <p:cNvSpPr>
            <a:spLocks noGrp="1"/>
          </p:cNvSpPr>
          <p:nvPr/>
        </p:nvSpPr>
        <p:spPr>
          <a:xfrm>
            <a:off x="8210550" y="1733550"/>
            <a:ext cx="3524250" cy="3048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AI-NATIVE / LOW-CODE</a:t>
            </a:r>
          </a:p>
        </p:txBody>
      </p:sp>
      <p:sp>
        <p:nvSpPr>
          <p:cNvPr id="15" name="tool-list-2">
            <a:extLst>
              <a:ext uri="{FF2B5EF4-FFF2-40B4-BE49-F238E27FC236}">
                <a16:creationId xmlns:a16="http://schemas.microsoft.com/office/drawing/2014/main" id="{7A3DD4A4-5655-4944-A4E0-4CA7153BDF05}"/>
              </a:ext>
            </a:extLst>
          </p:cNvPr>
          <p:cNvSpPr>
            <a:spLocks noGrp="1"/>
          </p:cNvSpPr>
          <p:nvPr/>
        </p:nvSpPr>
        <p:spPr>
          <a:xfrm>
            <a:off x="8210550" y="2305050"/>
            <a:ext cx="3429000" cy="1219200"/>
          </a:xfrm>
          <a:prstGeom prst="rect">
            <a:avLst/>
          </a:prstGeom>
          <a:noFill/>
          <a:ln w="0">
            <a:noFill/>
            <a:prstDash val="solid"/>
          </a:ln>
        </p:spPr>
        <p:txBody>
          <a:bodyPr wrap="square" lIns="0" tIns="0" rIns="0" bIns="0" anchor="t">
            <a:normAutofit/>
          </a:bodyPr>
          <a:lstStyle/>
          <a:p>
            <a:pPr algn="l">
              <a:lnSpc>
                <a:spcPct val="102000"/>
              </a:lnSpc>
              <a:buNone/>
              <a:defRPr sz="2325" b="1" i="0">
                <a:solidFill>
                  <a:srgbClr val="111827"/>
                </a:solidFill>
                <a:latin typeface="Arial"/>
                <a:ea typeface="Arial"/>
                <a:cs typeface="Arial"/>
              </a:defRPr>
            </a:pPr>
            <a:r>
              <a:rPr sz="2325" b="1" i="0">
                <a:solidFill>
                  <a:srgbClr val="111827"/>
                </a:solidFill>
                <a:latin typeface="Arial"/>
                <a:ea typeface="Arial"/>
                <a:cs typeface="Arial"/>
              </a:rPr>
              <a:t>Testim • mabl</a:t>
            </a:r>
          </a:p>
          <a:p>
            <a:pPr algn="l">
              <a:lnSpc>
                <a:spcPct val="102000"/>
              </a:lnSpc>
              <a:buNone/>
              <a:defRPr sz="2325" b="1" i="0">
                <a:solidFill>
                  <a:srgbClr val="111827"/>
                </a:solidFill>
                <a:latin typeface="Arial"/>
                <a:ea typeface="Arial"/>
                <a:cs typeface="Arial"/>
              </a:defRPr>
            </a:pPr>
            <a:r>
              <a:rPr sz="2325" b="1" i="0">
                <a:solidFill>
                  <a:srgbClr val="111827"/>
                </a:solidFill>
                <a:latin typeface="Arial"/>
                <a:ea typeface="Arial"/>
                <a:cs typeface="Arial"/>
              </a:rPr>
              <a:t>Virtuoso QA • ACCELQ</a:t>
            </a:r>
          </a:p>
        </p:txBody>
      </p:sp>
      <p:sp>
        <p:nvSpPr>
          <p:cNvPr id="16" name="tool-body-2">
            <a:extLst>
              <a:ext uri="{FF2B5EF4-FFF2-40B4-BE49-F238E27FC236}">
                <a16:creationId xmlns:a16="http://schemas.microsoft.com/office/drawing/2014/main" id="{49F4EA34-6E98-4633-859D-D60594ADF80D}"/>
              </a:ext>
            </a:extLst>
          </p:cNvPr>
          <p:cNvSpPr>
            <a:spLocks noGrp="1"/>
          </p:cNvSpPr>
          <p:nvPr/>
        </p:nvSpPr>
        <p:spPr>
          <a:xfrm>
            <a:off x="8210550" y="3810000"/>
            <a:ext cx="3381375" cy="1619250"/>
          </a:xfrm>
          <a:prstGeom prst="rect">
            <a:avLst/>
          </a:prstGeom>
          <a:noFill/>
          <a:ln w="0">
            <a:noFill/>
            <a:prstDash val="solid"/>
          </a:ln>
        </p:spPr>
        <p:txBody>
          <a:bodyPr wrap="square" lIns="0" tIns="0" rIns="0" bIns="0" anchor="t">
            <a:normAutofit/>
          </a:bodyPr>
          <a:lstStyle/>
          <a:p>
            <a:pPr algn="l">
              <a:lnSpc>
                <a:spcPct val="112000"/>
              </a:lnSpc>
              <a:buNone/>
              <a:defRPr sz="1500" b="0" i="0">
                <a:solidFill>
                  <a:srgbClr val="5F6B7A"/>
                </a:solidFill>
                <a:latin typeface="Arial"/>
                <a:ea typeface="Arial"/>
                <a:cs typeface="Arial"/>
              </a:defRPr>
            </a:pPr>
            <a:r>
              <a:rPr sz="1500" b="0" i="0">
                <a:solidFill>
                  <a:srgbClr val="5F6B7A"/>
                </a:solidFill>
                <a:latin typeface="Arial"/>
                <a:ea typeface="Arial"/>
                <a:cs typeface="Arial"/>
              </a:rPr>
              <a:t>Cloud-managed authoring, smart locators, and self-healing. Strong breadth, but reproducibility depends on licence and account access.</a:t>
            </a:r>
          </a:p>
        </p:txBody>
      </p:sp>
      <p:sp>
        <p:nvSpPr>
          <p:cNvPr id="17" name="survey-context">
            <a:extLst>
              <a:ext uri="{FF2B5EF4-FFF2-40B4-BE49-F238E27FC236}">
                <a16:creationId xmlns:a16="http://schemas.microsoft.com/office/drawing/2014/main" id="{AF270862-F71F-4EA9-9F86-EE868E29B205}"/>
              </a:ext>
            </a:extLst>
          </p:cNvPr>
          <p:cNvSpPr>
            <a:spLocks noGrp="1"/>
          </p:cNvSpPr>
          <p:nvPr/>
        </p:nvSpPr>
        <p:spPr>
          <a:xfrm>
            <a:off x="400050" y="5810250"/>
            <a:ext cx="11391900" cy="323850"/>
          </a:xfrm>
          <a:prstGeom prst="rect">
            <a:avLst/>
          </a:prstGeom>
          <a:noFill/>
          <a:ln w="0">
            <a:noFill/>
            <a:prstDash val="solid"/>
          </a:ln>
        </p:spPr>
        <p:txBody>
          <a:bodyPr wrap="square" lIns="0" tIns="0" rIns="0" bIns="0" anchor="t">
            <a:normAutofit/>
          </a:bodyPr>
          <a:lstStyle/>
          <a:p>
            <a:pPr algn="ctr">
              <a:lnSpc>
                <a:spcPct val="105000"/>
              </a:lnSpc>
              <a:buNone/>
              <a:defRPr sz="1425" b="1" i="0">
                <a:solidFill>
                  <a:srgbClr val="0B1F3A"/>
                </a:solidFill>
                <a:latin typeface="Arial"/>
                <a:ea typeface="Arial"/>
                <a:cs typeface="Arial"/>
              </a:defRPr>
            </a:pPr>
            <a:r>
              <a:rPr sz="1425" b="1" i="0">
                <a:solidFill>
                  <a:srgbClr val="0B1F3A"/>
                </a:solidFill>
                <a:latin typeface="Arial"/>
                <a:ea typeface="Arial"/>
                <a:cs typeface="Arial"/>
              </a:rPr>
              <a:t>Selection context: EShop fit • student learning curve • local reproducibility • 25-minute activity • licence constraints</a:t>
            </a:r>
          </a:p>
        </p:txBody>
      </p:sp>
    </p:spTree>
    <p:extLst>
      <p:ext uri="{BB962C8B-B14F-4D97-AF65-F5344CB8AC3E}">
        <p14:creationId xmlns:p14="http://schemas.microsoft.com/office/powerpoint/2010/main" val="178838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ction-7">
            <a:extLst>
              <a:ext uri="{FF2B5EF4-FFF2-40B4-BE49-F238E27FC236}">
                <a16:creationId xmlns:a16="http://schemas.microsoft.com/office/drawing/2014/main" id="{19D83755-7949-4D4A-A01A-75128E50558E}"/>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CAPABILITY MAPPING</a:t>
            </a:r>
          </a:p>
        </p:txBody>
      </p:sp>
      <p:sp>
        <p:nvSpPr>
          <p:cNvPr id="2" name="title-7">
            <a:extLst>
              <a:ext uri="{FF2B5EF4-FFF2-40B4-BE49-F238E27FC236}">
                <a16:creationId xmlns:a16="http://schemas.microsoft.com/office/drawing/2014/main" id="{0F936775-89F6-45A3-91C4-4449123459F8}"/>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AI assists; frameworks execute</a:t>
            </a:r>
          </a:p>
        </p:txBody>
      </p:sp>
      <p:sp>
        <p:nvSpPr>
          <p:cNvPr id="3" name="title-rule-7">
            <a:extLst>
              <a:ext uri="{FF2B5EF4-FFF2-40B4-BE49-F238E27FC236}">
                <a16:creationId xmlns:a16="http://schemas.microsoft.com/office/drawing/2014/main" id="{523E0CE2-73CF-42D0-92C0-C96AFB6ADD68}"/>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7">
            <a:extLst>
              <a:ext uri="{FF2B5EF4-FFF2-40B4-BE49-F238E27FC236}">
                <a16:creationId xmlns:a16="http://schemas.microsoft.com/office/drawing/2014/main" id="{05FB540F-ED46-44B2-B744-7C40B2E6A309}"/>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7">
            <a:extLst>
              <a:ext uri="{FF2B5EF4-FFF2-40B4-BE49-F238E27FC236}">
                <a16:creationId xmlns:a16="http://schemas.microsoft.com/office/drawing/2014/main" id="{B99BD319-DE8E-4605-B0A8-CCF0DBEB0841}"/>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07</a:t>
            </a:r>
          </a:p>
        </p:txBody>
      </p:sp>
      <p:graphicFrame>
        <p:nvGraphicFramePr>
          <p:cNvPr id="15" name="Table 14"/>
          <p:cNvGraphicFramePr/>
          <p:nvPr/>
        </p:nvGraphicFramePr>
        <p:xfrm>
          <a:off x="400050" y="1619250"/>
          <a:ext cx="11391900" cy="3314700"/>
        </p:xfrm>
        <a:graphic>
          <a:graphicData uri="http://schemas.openxmlformats.org/drawingml/2006/table">
            <a:tbl>
              <a:tblPr/>
              <a:tblGrid>
                <a:gridCol w="2000250">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476375">
                  <a:extLst>
                    <a:ext uri="{9D8B030D-6E8A-4147-A177-3AD203B41FA5}">
                      <a16:colId xmlns:a16="http://schemas.microsoft.com/office/drawing/2014/main" val="20005"/>
                    </a:ext>
                  </a:extLst>
                </a:gridCol>
                <a:gridCol w="1428750">
                  <a:extLst>
                    <a:ext uri="{9D8B030D-6E8A-4147-A177-3AD203B41FA5}">
                      <a16:colId xmlns:a16="http://schemas.microsoft.com/office/drawing/2014/main" val="20006"/>
                    </a:ext>
                  </a:extLst>
                </a:gridCol>
                <a:gridCol w="1190625">
                  <a:extLst>
                    <a:ext uri="{9D8B030D-6E8A-4147-A177-3AD203B41FA5}">
                      <a16:colId xmlns:a16="http://schemas.microsoft.com/office/drawing/2014/main" val="20007"/>
                    </a:ext>
                  </a:extLst>
                </a:gridCol>
              </a:tblGrid>
              <a:tr h="552450">
                <a:tc>
                  <a:txBody>
                    <a:bodyPr/>
                    <a:lstStyle/>
                    <a:p>
                      <a:pPr algn="l"/>
                      <a:r>
                        <a:rPr sz="1200" b="1">
                          <a:solidFill>
                            <a:srgbClr val="FFFFFF"/>
                          </a:solidFill>
                          <a:latin typeface="Arial"/>
                          <a:ea typeface="Arial"/>
                          <a:cs typeface="Arial"/>
                        </a:rPr>
                        <a:t>Tool</a:t>
                      </a:r>
                    </a:p>
                  </a:txBody>
                  <a:tcPr>
                    <a:solidFill>
                      <a:srgbClr val="0B1F3A"/>
                    </a:solidFill>
                  </a:tcPr>
                </a:tc>
                <a:tc>
                  <a:txBody>
                    <a:bodyPr/>
                    <a:lstStyle/>
                    <a:p>
                      <a:pPr algn="ctr"/>
                      <a:r>
                        <a:rPr sz="1200" b="1">
                          <a:solidFill>
                            <a:srgbClr val="FFFFFF"/>
                          </a:solidFill>
                          <a:latin typeface="Arial"/>
                          <a:ea typeface="Arial"/>
                          <a:cs typeface="Arial"/>
                        </a:rPr>
                        <a:t>Execution</a:t>
                      </a:r>
                    </a:p>
                  </a:txBody>
                  <a:tcPr>
                    <a:solidFill>
                      <a:srgbClr val="0B1F3A"/>
                    </a:solidFill>
                  </a:tcPr>
                </a:tc>
                <a:tc>
                  <a:txBody>
                    <a:bodyPr/>
                    <a:lstStyle/>
                    <a:p>
                      <a:pPr algn="ctr"/>
                      <a:r>
                        <a:rPr sz="1200" b="1">
                          <a:solidFill>
                            <a:srgbClr val="FFFFFF"/>
                          </a:solidFill>
                          <a:latin typeface="Arial"/>
                          <a:ea typeface="Arial"/>
                          <a:cs typeface="Arial"/>
                        </a:rPr>
                        <a:t>Locator</a:t>
                      </a:r>
                    </a:p>
                    <a:p>
                      <a:pPr algn="ctr"/>
                      <a:r>
                        <a:rPr sz="1200" b="1">
                          <a:solidFill>
                            <a:srgbClr val="FFFFFF"/>
                          </a:solidFill>
                          <a:latin typeface="Arial"/>
                          <a:ea typeface="Arial"/>
                          <a:cs typeface="Arial"/>
                        </a:rPr>
                        <a:t>&amp; sync</a:t>
                      </a:r>
                    </a:p>
                  </a:txBody>
                  <a:tcPr>
                    <a:solidFill>
                      <a:srgbClr val="0B1F3A"/>
                    </a:solidFill>
                  </a:tcPr>
                </a:tc>
                <a:tc>
                  <a:txBody>
                    <a:bodyPr/>
                    <a:lstStyle/>
                    <a:p>
                      <a:pPr algn="ctr"/>
                      <a:r>
                        <a:rPr sz="1200" b="1">
                          <a:solidFill>
                            <a:srgbClr val="FFFFFF"/>
                          </a:solidFill>
                          <a:latin typeface="Arial"/>
                          <a:ea typeface="Arial"/>
                          <a:cs typeface="Arial"/>
                        </a:rPr>
                        <a:t>Assertion</a:t>
                      </a:r>
                    </a:p>
                  </a:txBody>
                  <a:tcPr>
                    <a:solidFill>
                      <a:srgbClr val="0B1F3A"/>
                    </a:solidFill>
                  </a:tcPr>
                </a:tc>
                <a:tc>
                  <a:txBody>
                    <a:bodyPr/>
                    <a:lstStyle/>
                    <a:p>
                      <a:pPr algn="ctr"/>
                      <a:r>
                        <a:rPr sz="1200" b="1">
                          <a:solidFill>
                            <a:srgbClr val="FFFFFF"/>
                          </a:solidFill>
                          <a:latin typeface="Arial"/>
                          <a:ea typeface="Arial"/>
                          <a:cs typeface="Arial"/>
                        </a:rPr>
                        <a:t>Data &amp;</a:t>
                      </a:r>
                    </a:p>
                    <a:p>
                      <a:pPr algn="ctr"/>
                      <a:r>
                        <a:rPr sz="1200" b="1">
                          <a:solidFill>
                            <a:srgbClr val="FFFFFF"/>
                          </a:solidFill>
                          <a:latin typeface="Arial"/>
                          <a:ea typeface="Arial"/>
                          <a:cs typeface="Arial"/>
                        </a:rPr>
                        <a:t>structure</a:t>
                      </a:r>
                    </a:p>
                  </a:txBody>
                  <a:tcPr>
                    <a:solidFill>
                      <a:srgbClr val="0B1F3A"/>
                    </a:solidFill>
                  </a:tcPr>
                </a:tc>
                <a:tc>
                  <a:txBody>
                    <a:bodyPr/>
                    <a:lstStyle/>
                    <a:p>
                      <a:pPr algn="ctr"/>
                      <a:r>
                        <a:rPr sz="1200" b="1">
                          <a:solidFill>
                            <a:srgbClr val="FFFFFF"/>
                          </a:solidFill>
                          <a:latin typeface="Arial"/>
                          <a:ea typeface="Arial"/>
                          <a:cs typeface="Arial"/>
                        </a:rPr>
                        <a:t>Cross-browser</a:t>
                      </a:r>
                    </a:p>
                  </a:txBody>
                  <a:tcPr>
                    <a:solidFill>
                      <a:srgbClr val="0B1F3A"/>
                    </a:solidFill>
                  </a:tcPr>
                </a:tc>
                <a:tc>
                  <a:txBody>
                    <a:bodyPr/>
                    <a:lstStyle/>
                    <a:p>
                      <a:pPr algn="ctr"/>
                      <a:r>
                        <a:rPr sz="1200" b="1">
                          <a:solidFill>
                            <a:srgbClr val="FFFFFF"/>
                          </a:solidFill>
                          <a:latin typeface="Arial"/>
                          <a:ea typeface="Arial"/>
                          <a:cs typeface="Arial"/>
                        </a:rPr>
                        <a:t>Report &amp; CI</a:t>
                      </a:r>
                    </a:p>
                  </a:txBody>
                  <a:tcPr>
                    <a:solidFill>
                      <a:srgbClr val="0B1F3A"/>
                    </a:solidFill>
                  </a:tcPr>
                </a:tc>
                <a:tc>
                  <a:txBody>
                    <a:bodyPr/>
                    <a:lstStyle/>
                    <a:p>
                      <a:pPr algn="ctr"/>
                      <a:r>
                        <a:rPr sz="1200" b="1">
                          <a:solidFill>
                            <a:srgbClr val="FFFFFF"/>
                          </a:solidFill>
                          <a:latin typeface="Arial"/>
                          <a:ea typeface="Arial"/>
                          <a:cs typeface="Arial"/>
                        </a:rPr>
                        <a:t>AI</a:t>
                      </a:r>
                    </a:p>
                  </a:txBody>
                  <a:tcPr>
                    <a:solidFill>
                      <a:srgbClr val="0B1F3A"/>
                    </a:solidFill>
                  </a:tcPr>
                </a:tc>
                <a:extLst>
                  <a:ext uri="{0D108BD9-81ED-4DB2-BD59-A6C34878D82A}">
                    <a16:rowId xmlns:a16="http://schemas.microsoft.com/office/drawing/2014/main" val="10000"/>
                  </a:ext>
                </a:extLst>
              </a:tr>
              <a:tr h="552450">
                <a:tc>
                  <a:txBody>
                    <a:bodyPr/>
                    <a:lstStyle/>
                    <a:p>
                      <a:pPr algn="l"/>
                      <a:r>
                        <a:rPr sz="1500" b="1">
                          <a:solidFill>
                            <a:srgbClr val="111827"/>
                          </a:solidFill>
                          <a:latin typeface="Arial"/>
                          <a:ea typeface="Arial"/>
                          <a:cs typeface="Arial"/>
                        </a:rPr>
                        <a:t>Playwright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extLst>
                  <a:ext uri="{0D108BD9-81ED-4DB2-BD59-A6C34878D82A}">
                    <a16:rowId xmlns:a16="http://schemas.microsoft.com/office/drawing/2014/main" val="10001"/>
                  </a:ext>
                </a:extLst>
              </a:tr>
              <a:tr h="552450">
                <a:tc>
                  <a:txBody>
                    <a:bodyPr/>
                    <a:lstStyle/>
                    <a:p>
                      <a:pPr algn="l"/>
                      <a:r>
                        <a:rPr sz="1500" b="1">
                          <a:solidFill>
                            <a:srgbClr val="111827"/>
                          </a:solidFill>
                          <a:latin typeface="Arial"/>
                          <a:ea typeface="Arial"/>
                          <a:cs typeface="Arial"/>
                        </a:rPr>
                        <a:t>Cypress</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extLst>
                  <a:ext uri="{0D108BD9-81ED-4DB2-BD59-A6C34878D82A}">
                    <a16:rowId xmlns:a16="http://schemas.microsoft.com/office/drawing/2014/main" val="10002"/>
                  </a:ext>
                </a:extLst>
              </a:tr>
              <a:tr h="552450">
                <a:tc>
                  <a:txBody>
                    <a:bodyPr/>
                    <a:lstStyle/>
                    <a:p>
                      <a:pPr algn="l"/>
                      <a:r>
                        <a:rPr sz="1500" b="1">
                          <a:solidFill>
                            <a:srgbClr val="111827"/>
                          </a:solidFill>
                          <a:latin typeface="Arial"/>
                          <a:ea typeface="Arial"/>
                          <a:cs typeface="Arial"/>
                        </a:rPr>
                        <a:t>Selenium 4</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extLst>
                  <a:ext uri="{0D108BD9-81ED-4DB2-BD59-A6C34878D82A}">
                    <a16:rowId xmlns:a16="http://schemas.microsoft.com/office/drawing/2014/main" val="10003"/>
                  </a:ext>
                </a:extLst>
              </a:tr>
              <a:tr h="552450">
                <a:tc>
                  <a:txBody>
                    <a:bodyPr/>
                    <a:lstStyle/>
                    <a:p>
                      <a:pPr algn="l"/>
                      <a:r>
                        <a:rPr sz="1500" b="1">
                          <a:solidFill>
                            <a:srgbClr val="111827"/>
                          </a:solidFill>
                          <a:latin typeface="Arial"/>
                          <a:ea typeface="Arial"/>
                          <a:cs typeface="Arial"/>
                        </a:rPr>
                        <a:t>Testim / mabl</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tc>
                  <a:txBody>
                    <a:bodyPr/>
                    <a:lstStyle/>
                    <a:p>
                      <a:pPr algn="ctr"/>
                      <a:r>
                        <a:rPr sz="1500" b="0">
                          <a:solidFill>
                            <a:srgbClr val="111827"/>
                          </a:solidFill>
                          <a:latin typeface="Arial"/>
                          <a:ea typeface="Arial"/>
                          <a:cs typeface="Arial"/>
                        </a:rPr>
                        <a:t>●</a:t>
                      </a:r>
                    </a:p>
                  </a:txBody>
                  <a:tcPr>
                    <a:solidFill>
                      <a:srgbClr val="F7F8FA"/>
                    </a:solidFill>
                  </a:tcPr>
                </a:tc>
                <a:extLst>
                  <a:ext uri="{0D108BD9-81ED-4DB2-BD59-A6C34878D82A}">
                    <a16:rowId xmlns:a16="http://schemas.microsoft.com/office/drawing/2014/main" val="10004"/>
                  </a:ext>
                </a:extLst>
              </a:tr>
              <a:tr h="552450">
                <a:tc>
                  <a:txBody>
                    <a:bodyPr/>
                    <a:lstStyle/>
                    <a:p>
                      <a:pPr algn="l"/>
                      <a:r>
                        <a:rPr sz="1500" b="1">
                          <a:solidFill>
                            <a:srgbClr val="111827"/>
                          </a:solidFill>
                          <a:latin typeface="Arial"/>
                          <a:ea typeface="Arial"/>
                          <a:cs typeface="Arial"/>
                        </a:rPr>
                        <a:t>Copilot / Codex</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tc>
                  <a:txBody>
                    <a:bodyPr/>
                    <a:lstStyle/>
                    <a:p>
                      <a:pPr algn="ctr"/>
                      <a:r>
                        <a:rPr sz="1500" b="0">
                          <a:solidFill>
                            <a:srgbClr val="111827"/>
                          </a:solidFill>
                          <a:latin typeface="Arial"/>
                          <a:ea typeface="Arial"/>
                          <a:cs typeface="Arial"/>
                        </a:rPr>
                        <a:t>●</a:t>
                      </a:r>
                    </a:p>
                  </a:txBody>
                  <a:tcPr>
                    <a:solidFill>
                      <a:srgbClr val="FFFFFF"/>
                    </a:solidFill>
                  </a:tcPr>
                </a:tc>
                <a:extLst>
                  <a:ext uri="{0D108BD9-81ED-4DB2-BD59-A6C34878D82A}">
                    <a16:rowId xmlns:a16="http://schemas.microsoft.com/office/drawing/2014/main" val="10005"/>
                  </a:ext>
                </a:extLst>
              </a:tr>
            </a:tbl>
          </a:graphicData>
        </a:graphic>
      </p:graphicFrame>
      <p:sp>
        <p:nvSpPr>
          <p:cNvPr id="7" name="matrix-legend">
            <a:extLst>
              <a:ext uri="{FF2B5EF4-FFF2-40B4-BE49-F238E27FC236}">
                <a16:creationId xmlns:a16="http://schemas.microsoft.com/office/drawing/2014/main" id="{0CFEC2A5-3B07-4321-A55A-9CB7F0CDBA16}"/>
              </a:ext>
            </a:extLst>
          </p:cNvPr>
          <p:cNvSpPr>
            <a:spLocks noGrp="1"/>
          </p:cNvSpPr>
          <p:nvPr/>
        </p:nvSpPr>
        <p:spPr>
          <a:xfrm>
            <a:off x="400050" y="5105400"/>
            <a:ext cx="6667500" cy="2857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5F6B7A"/>
                </a:solidFill>
                <a:latin typeface="Arial"/>
                <a:ea typeface="Arial"/>
                <a:cs typeface="Arial"/>
              </a:defRPr>
            </a:pPr>
            <a:r>
              <a:rPr sz="1275" b="0" i="0">
                <a:solidFill>
                  <a:srgbClr val="5F6B7A"/>
                </a:solidFill>
                <a:latin typeface="Arial"/>
                <a:ea typeface="Arial"/>
                <a:cs typeface="Arial"/>
              </a:rPr>
              <a:t>● native / primary     ◐ partial or configured     △ indirect assistance     — not a function</a:t>
            </a:r>
          </a:p>
        </p:txBody>
      </p:sp>
      <p:sp>
        <p:nvSpPr>
          <p:cNvPr id="8" name="matrix-takeaway">
            <a:extLst>
              <a:ext uri="{FF2B5EF4-FFF2-40B4-BE49-F238E27FC236}">
                <a16:creationId xmlns:a16="http://schemas.microsoft.com/office/drawing/2014/main" id="{E560B513-1FED-4AA7-B6B7-29F26B83086E}"/>
              </a:ext>
            </a:extLst>
          </p:cNvPr>
          <p:cNvSpPr>
            <a:spLocks noGrp="1"/>
          </p:cNvSpPr>
          <p:nvPr/>
        </p:nvSpPr>
        <p:spPr>
          <a:xfrm>
            <a:off x="400050" y="5543550"/>
            <a:ext cx="11391900" cy="628650"/>
          </a:xfrm>
          <a:prstGeom prst="rect">
            <a:avLst/>
          </a:prstGeom>
          <a:solidFill>
            <a:srgbClr val="DDF3FC"/>
          </a:solidFill>
          <a:ln w="0">
            <a:noFill/>
            <a:prstDash val="solid"/>
          </a:ln>
        </p:spPr>
      </p:sp>
      <p:sp>
        <p:nvSpPr>
          <p:cNvPr id="9" name="matrix-takeaway-text">
            <a:extLst>
              <a:ext uri="{FF2B5EF4-FFF2-40B4-BE49-F238E27FC236}">
                <a16:creationId xmlns:a16="http://schemas.microsoft.com/office/drawing/2014/main" id="{42098668-F92F-49AE-A8AA-06772BD1E104}"/>
              </a:ext>
            </a:extLst>
          </p:cNvPr>
          <p:cNvSpPr>
            <a:spLocks noGrp="1"/>
          </p:cNvSpPr>
          <p:nvPr/>
        </p:nvSpPr>
        <p:spPr>
          <a:xfrm>
            <a:off x="647700" y="5676900"/>
            <a:ext cx="10858500" cy="361950"/>
          </a:xfrm>
          <a:prstGeom prst="rect">
            <a:avLst/>
          </a:prstGeom>
          <a:noFill/>
          <a:ln w="0">
            <a:noFill/>
            <a:prstDash val="solid"/>
          </a:ln>
        </p:spPr>
        <p:txBody>
          <a:bodyPr wrap="square" lIns="0" tIns="0" rIns="0" bIns="0" anchor="ctr">
            <a:normAutofit fontScale="93740"/>
          </a:bodyPr>
          <a:lstStyle/>
          <a:p>
            <a:pPr algn="ctr">
              <a:lnSpc>
                <a:spcPct val="105000"/>
              </a:lnSpc>
              <a:buNone/>
              <a:defRPr sz="1800" b="1" i="0">
                <a:solidFill>
                  <a:srgbClr val="0B1F3A"/>
                </a:solidFill>
                <a:latin typeface="Arial"/>
                <a:ea typeface="Arial"/>
                <a:cs typeface="Arial"/>
              </a:defRPr>
            </a:pPr>
            <a:r>
              <a:rPr sz="1800" b="1" i="0" dirty="0">
                <a:solidFill>
                  <a:srgbClr val="0B1F3A"/>
                </a:solidFill>
                <a:latin typeface="Arial"/>
                <a:ea typeface="Arial"/>
                <a:cs typeface="Arial"/>
              </a:rPr>
              <a:t>Copilot can help write a test. Playwright executes, waits, asserts, records evidence, and integrates with CI.</a:t>
            </a:r>
          </a:p>
        </p:txBody>
      </p:sp>
    </p:spTree>
    <p:extLst>
      <p:ext uri="{BB962C8B-B14F-4D97-AF65-F5344CB8AC3E}">
        <p14:creationId xmlns:p14="http://schemas.microsoft.com/office/powerpoint/2010/main" val="606637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ection-8">
            <a:extLst>
              <a:ext uri="{FF2B5EF4-FFF2-40B4-BE49-F238E27FC236}">
                <a16:creationId xmlns:a16="http://schemas.microsoft.com/office/drawing/2014/main" id="{DF756D97-8820-4FA0-8004-357721702195}"/>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SELECTED DIRECTION</a:t>
            </a:r>
          </a:p>
        </p:txBody>
      </p:sp>
      <p:sp>
        <p:nvSpPr>
          <p:cNvPr id="2" name="title-8">
            <a:extLst>
              <a:ext uri="{FF2B5EF4-FFF2-40B4-BE49-F238E27FC236}">
                <a16:creationId xmlns:a16="http://schemas.microsoft.com/office/drawing/2014/main" id="{A2C89EF7-1046-4CE3-94DB-281291177F01}"/>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Playwright + Copilot keeps the mechanism visible</a:t>
            </a:r>
          </a:p>
        </p:txBody>
      </p:sp>
      <p:sp>
        <p:nvSpPr>
          <p:cNvPr id="3" name="title-rule-8">
            <a:extLst>
              <a:ext uri="{FF2B5EF4-FFF2-40B4-BE49-F238E27FC236}">
                <a16:creationId xmlns:a16="http://schemas.microsoft.com/office/drawing/2014/main" id="{6927A1E5-02D4-4931-94EE-829ACECCAC74}"/>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8">
            <a:extLst>
              <a:ext uri="{FF2B5EF4-FFF2-40B4-BE49-F238E27FC236}">
                <a16:creationId xmlns:a16="http://schemas.microsoft.com/office/drawing/2014/main" id="{12121A86-301E-43FB-998B-F44F995BDF82}"/>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8">
            <a:extLst>
              <a:ext uri="{FF2B5EF4-FFF2-40B4-BE49-F238E27FC236}">
                <a16:creationId xmlns:a16="http://schemas.microsoft.com/office/drawing/2014/main" id="{3BD59EB9-9DC9-47C6-A06A-88DB8EEAC0D6}"/>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08</a:t>
            </a:r>
          </a:p>
        </p:txBody>
      </p:sp>
      <p:sp>
        <p:nvSpPr>
          <p:cNvPr id="6" name="stack-label">
            <a:extLst>
              <a:ext uri="{FF2B5EF4-FFF2-40B4-BE49-F238E27FC236}">
                <a16:creationId xmlns:a16="http://schemas.microsoft.com/office/drawing/2014/main" id="{D5D78A03-DBD1-4B60-AB23-98C21F82D720}"/>
              </a:ext>
            </a:extLst>
          </p:cNvPr>
          <p:cNvSpPr>
            <a:spLocks noGrp="1"/>
          </p:cNvSpPr>
          <p:nvPr/>
        </p:nvSpPr>
        <p:spPr>
          <a:xfrm>
            <a:off x="400050" y="1695450"/>
            <a:ext cx="3048000" cy="26670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3D8DFF"/>
                </a:solidFill>
                <a:latin typeface="Arial"/>
                <a:ea typeface="Arial"/>
                <a:cs typeface="Arial"/>
              </a:defRPr>
            </a:pPr>
            <a:r>
              <a:rPr sz="1275" b="1" i="0">
                <a:solidFill>
                  <a:srgbClr val="3D8DFF"/>
                </a:solidFill>
                <a:latin typeface="Arial"/>
                <a:ea typeface="Arial"/>
                <a:cs typeface="Arial"/>
              </a:rPr>
              <a:t>SELECTED STACK</a:t>
            </a:r>
          </a:p>
        </p:txBody>
      </p:sp>
      <p:sp>
        <p:nvSpPr>
          <p:cNvPr id="7" name="stack-copy">
            <a:extLst>
              <a:ext uri="{FF2B5EF4-FFF2-40B4-BE49-F238E27FC236}">
                <a16:creationId xmlns:a16="http://schemas.microsoft.com/office/drawing/2014/main" id="{4838A984-62FF-438A-92E9-90F638EECF95}"/>
              </a:ext>
            </a:extLst>
          </p:cNvPr>
          <p:cNvSpPr>
            <a:spLocks noGrp="1"/>
          </p:cNvSpPr>
          <p:nvPr/>
        </p:nvSpPr>
        <p:spPr>
          <a:xfrm>
            <a:off x="400050" y="2114550"/>
            <a:ext cx="4572000" cy="3524250"/>
          </a:xfrm>
          <a:prstGeom prst="rect">
            <a:avLst/>
          </a:prstGeom>
          <a:noFill/>
          <a:ln w="0">
            <a:noFill/>
            <a:prstDash val="solid"/>
          </a:ln>
        </p:spPr>
        <p:txBody>
          <a:bodyPr wrap="square" lIns="0" tIns="0" rIns="0" bIns="0" anchor="t">
            <a:normAutofit/>
          </a:bodyPr>
          <a:lstStyle/>
          <a:p>
            <a:pPr algn="l">
              <a:spcAft>
                <a:spcPts val="7"/>
              </a:spcAft>
              <a:defRPr sz="1500" b="0" i="0">
                <a:solidFill>
                  <a:srgbClr val="111827"/>
                </a:solidFill>
                <a:latin typeface="Arial"/>
                <a:ea typeface="Arial"/>
                <a:cs typeface="Arial"/>
              </a:defRPr>
            </a:pPr>
            <a:r>
              <a:rPr sz="1950" b="1">
                <a:solidFill>
                  <a:srgbClr val="111827"/>
                </a:solidFill>
                <a:latin typeface="Arial"/>
                <a:ea typeface="Arial"/>
                <a:cs typeface="Arial"/>
              </a:rPr>
              <a:t>Primary framework</a:t>
            </a:r>
          </a:p>
          <a:p>
            <a:pPr algn="l">
              <a:defRPr sz="1500" b="0" i="0">
                <a:solidFill>
                  <a:srgbClr val="111827"/>
                </a:solidFill>
                <a:latin typeface="Arial"/>
                <a:ea typeface="Arial"/>
                <a:cs typeface="Arial"/>
              </a:defRPr>
            </a:pPr>
            <a:r>
              <a:rPr sz="1425">
                <a:solidFill>
                  <a:srgbClr val="5F6B7A"/>
                </a:solidFill>
                <a:latin typeface="Arial"/>
                <a:ea typeface="Arial"/>
                <a:cs typeface="Arial"/>
              </a:rPr>
              <a:t>Playwright — native multi-browser execution, auto-wait, fixtures, reports, and trace.</a:t>
            </a:r>
          </a:p>
          <a:p>
            <a:pPr algn="l">
              <a:spcAft>
                <a:spcPts val="7"/>
              </a:spcAft>
              <a:defRPr sz="1500" b="0" i="0">
                <a:solidFill>
                  <a:srgbClr val="111827"/>
                </a:solidFill>
                <a:latin typeface="Arial"/>
                <a:ea typeface="Arial"/>
                <a:cs typeface="Arial"/>
              </a:defRPr>
            </a:pPr>
            <a:r>
              <a:rPr sz="1950" b="1">
                <a:solidFill>
                  <a:srgbClr val="111827"/>
                </a:solidFill>
                <a:latin typeface="Arial"/>
                <a:ea typeface="Arial"/>
                <a:cs typeface="Arial"/>
              </a:rPr>
              <a:t>AI assistance</a:t>
            </a:r>
          </a:p>
          <a:p>
            <a:pPr algn="l">
              <a:defRPr sz="1500" b="0" i="0">
                <a:solidFill>
                  <a:srgbClr val="111827"/>
                </a:solidFill>
                <a:latin typeface="Arial"/>
                <a:ea typeface="Arial"/>
                <a:cs typeface="Arial"/>
              </a:defRPr>
            </a:pPr>
            <a:r>
              <a:rPr sz="1425">
                <a:solidFill>
                  <a:srgbClr val="5F6B7A"/>
                </a:solidFill>
                <a:latin typeface="Arial"/>
                <a:ea typeface="Arial"/>
                <a:cs typeface="Arial"/>
              </a:rPr>
              <a:t>GitHub Copilot — drafts and reviews code inside the developer workflow.</a:t>
            </a:r>
          </a:p>
          <a:p>
            <a:pPr algn="l">
              <a:spcAft>
                <a:spcPts val="7"/>
              </a:spcAft>
              <a:defRPr sz="1500" b="0" i="0">
                <a:solidFill>
                  <a:srgbClr val="111827"/>
                </a:solidFill>
                <a:latin typeface="Arial"/>
                <a:ea typeface="Arial"/>
                <a:cs typeface="Arial"/>
              </a:defRPr>
            </a:pPr>
            <a:r>
              <a:rPr sz="1950" b="1">
                <a:solidFill>
                  <a:srgbClr val="111827"/>
                </a:solidFill>
                <a:latin typeface="Arial"/>
                <a:ea typeface="Arial"/>
                <a:cs typeface="Arial"/>
              </a:rPr>
              <a:t>Backups</a:t>
            </a:r>
          </a:p>
          <a:p>
            <a:pPr algn="l">
              <a:defRPr sz="1500" b="0" i="0">
                <a:solidFill>
                  <a:srgbClr val="111827"/>
                </a:solidFill>
                <a:latin typeface="Arial"/>
                <a:ea typeface="Arial"/>
                <a:cs typeface="Arial"/>
              </a:defRPr>
            </a:pPr>
            <a:r>
              <a:rPr sz="1425">
                <a:solidFill>
                  <a:srgbClr val="5F6B7A"/>
                </a:solidFill>
                <a:latin typeface="Arial"/>
                <a:ea typeface="Arial"/>
                <a:cs typeface="Arial"/>
              </a:rPr>
              <a:t>Cypress for code-first comparison; Testim or mabl if licence access allows.</a:t>
            </a:r>
          </a:p>
        </p:txBody>
      </p:sp>
      <p:sp>
        <p:nvSpPr>
          <p:cNvPr id="8" name="arch-arrow-1">
            <a:extLst>
              <a:ext uri="{FF2B5EF4-FFF2-40B4-BE49-F238E27FC236}">
                <a16:creationId xmlns:a16="http://schemas.microsoft.com/office/drawing/2014/main" id="{C94C6AC6-681E-4730-887F-050B752B9227}"/>
              </a:ext>
            </a:extLst>
          </p:cNvPr>
          <p:cNvSpPr>
            <a:spLocks noGrp="1"/>
          </p:cNvSpPr>
          <p:nvPr/>
        </p:nvSpPr>
        <p:spPr>
          <a:xfrm>
            <a:off x="8934450" y="2400300"/>
            <a:ext cx="323850" cy="381000"/>
          </a:xfrm>
          <a:prstGeom prst="downArrow">
            <a:avLst/>
          </a:prstGeom>
          <a:solidFill>
            <a:srgbClr val="6DCBF4"/>
          </a:solidFill>
          <a:ln w="0">
            <a:noFill/>
            <a:prstDash val="solid"/>
          </a:ln>
        </p:spPr>
      </p:sp>
      <p:sp>
        <p:nvSpPr>
          <p:cNvPr id="9" name="arch-arrow-2">
            <a:extLst>
              <a:ext uri="{FF2B5EF4-FFF2-40B4-BE49-F238E27FC236}">
                <a16:creationId xmlns:a16="http://schemas.microsoft.com/office/drawing/2014/main" id="{6B99D554-CEEE-4D4D-8827-2E29CF0041EE}"/>
              </a:ext>
            </a:extLst>
          </p:cNvPr>
          <p:cNvSpPr>
            <a:spLocks noGrp="1"/>
          </p:cNvSpPr>
          <p:nvPr/>
        </p:nvSpPr>
        <p:spPr>
          <a:xfrm>
            <a:off x="8934450" y="3467100"/>
            <a:ext cx="323850" cy="381000"/>
          </a:xfrm>
          <a:prstGeom prst="downArrow">
            <a:avLst/>
          </a:prstGeom>
          <a:solidFill>
            <a:srgbClr val="6DCBF4"/>
          </a:solidFill>
          <a:ln w="0">
            <a:noFill/>
            <a:prstDash val="solid"/>
          </a:ln>
        </p:spPr>
      </p:sp>
      <p:sp>
        <p:nvSpPr>
          <p:cNvPr id="10" name="arch-arrow-3">
            <a:extLst>
              <a:ext uri="{FF2B5EF4-FFF2-40B4-BE49-F238E27FC236}">
                <a16:creationId xmlns:a16="http://schemas.microsoft.com/office/drawing/2014/main" id="{5B8487B9-7728-4E5F-9ACD-D48AAF681223}"/>
              </a:ext>
            </a:extLst>
          </p:cNvPr>
          <p:cNvSpPr>
            <a:spLocks noGrp="1"/>
          </p:cNvSpPr>
          <p:nvPr/>
        </p:nvSpPr>
        <p:spPr>
          <a:xfrm>
            <a:off x="8934450" y="4533900"/>
            <a:ext cx="323850" cy="381000"/>
          </a:xfrm>
          <a:prstGeom prst="downArrow">
            <a:avLst/>
          </a:prstGeom>
          <a:solidFill>
            <a:srgbClr val="6DCBF4"/>
          </a:solidFill>
          <a:ln w="0">
            <a:noFill/>
            <a:prstDash val="solid"/>
          </a:ln>
        </p:spPr>
      </p:sp>
      <p:sp>
        <p:nvSpPr>
          <p:cNvPr id="11" name="arch-copilot">
            <a:extLst>
              <a:ext uri="{FF2B5EF4-FFF2-40B4-BE49-F238E27FC236}">
                <a16:creationId xmlns:a16="http://schemas.microsoft.com/office/drawing/2014/main" id="{C8F38050-D206-44C2-8207-5B0291FEB379}"/>
              </a:ext>
            </a:extLst>
          </p:cNvPr>
          <p:cNvSpPr>
            <a:spLocks noGrp="1"/>
          </p:cNvSpPr>
          <p:nvPr/>
        </p:nvSpPr>
        <p:spPr>
          <a:xfrm>
            <a:off x="7239000" y="1714500"/>
            <a:ext cx="3714750" cy="685800"/>
          </a:xfrm>
          <a:prstGeom prst="rect">
            <a:avLst/>
          </a:prstGeom>
          <a:solidFill>
            <a:srgbClr val="F1F3F5"/>
          </a:solidFill>
          <a:ln w="0">
            <a:noFill/>
            <a:prstDash val="solid"/>
          </a:ln>
        </p:spPr>
      </p:sp>
      <p:sp>
        <p:nvSpPr>
          <p:cNvPr id="12" name="arch-review">
            <a:extLst>
              <a:ext uri="{FF2B5EF4-FFF2-40B4-BE49-F238E27FC236}">
                <a16:creationId xmlns:a16="http://schemas.microsoft.com/office/drawing/2014/main" id="{1DB863D9-9A36-4C14-B3D2-CA832DBE34E2}"/>
              </a:ext>
            </a:extLst>
          </p:cNvPr>
          <p:cNvSpPr>
            <a:spLocks noGrp="1"/>
          </p:cNvSpPr>
          <p:nvPr/>
        </p:nvSpPr>
        <p:spPr>
          <a:xfrm>
            <a:off x="7239000" y="2781300"/>
            <a:ext cx="3714750" cy="685800"/>
          </a:xfrm>
          <a:prstGeom prst="rect">
            <a:avLst/>
          </a:prstGeom>
          <a:solidFill>
            <a:srgbClr val="DDF3FC"/>
          </a:solidFill>
          <a:ln w="0">
            <a:noFill/>
            <a:prstDash val="solid"/>
          </a:ln>
        </p:spPr>
      </p:sp>
      <p:sp>
        <p:nvSpPr>
          <p:cNvPr id="13" name="arch-playwright">
            <a:extLst>
              <a:ext uri="{FF2B5EF4-FFF2-40B4-BE49-F238E27FC236}">
                <a16:creationId xmlns:a16="http://schemas.microsoft.com/office/drawing/2014/main" id="{C58A4F82-9D34-4A9E-BFDA-C9D79FBC53DD}"/>
              </a:ext>
            </a:extLst>
          </p:cNvPr>
          <p:cNvSpPr>
            <a:spLocks noGrp="1"/>
          </p:cNvSpPr>
          <p:nvPr/>
        </p:nvSpPr>
        <p:spPr>
          <a:xfrm>
            <a:off x="7239000" y="3848100"/>
            <a:ext cx="3714750" cy="685800"/>
          </a:xfrm>
          <a:prstGeom prst="rect">
            <a:avLst/>
          </a:prstGeom>
          <a:solidFill>
            <a:srgbClr val="0B1F3A"/>
          </a:solidFill>
          <a:ln w="0">
            <a:noFill/>
            <a:prstDash val="solid"/>
          </a:ln>
        </p:spPr>
      </p:sp>
      <p:sp>
        <p:nvSpPr>
          <p:cNvPr id="14" name="arch-eshop">
            <a:extLst>
              <a:ext uri="{FF2B5EF4-FFF2-40B4-BE49-F238E27FC236}">
                <a16:creationId xmlns:a16="http://schemas.microsoft.com/office/drawing/2014/main" id="{2497CE08-D4EE-49E5-A40E-D4D0EFD62CBC}"/>
              </a:ext>
            </a:extLst>
          </p:cNvPr>
          <p:cNvSpPr>
            <a:spLocks noGrp="1"/>
          </p:cNvSpPr>
          <p:nvPr/>
        </p:nvSpPr>
        <p:spPr>
          <a:xfrm>
            <a:off x="7239000" y="4914900"/>
            <a:ext cx="3714750" cy="685800"/>
          </a:xfrm>
          <a:prstGeom prst="rect">
            <a:avLst/>
          </a:prstGeom>
          <a:solidFill>
            <a:srgbClr val="E6E9ED"/>
          </a:solidFill>
          <a:ln w="0">
            <a:noFill/>
            <a:prstDash val="solid"/>
          </a:ln>
        </p:spPr>
      </p:sp>
      <p:sp>
        <p:nvSpPr>
          <p:cNvPr id="15" name="arch-copilot-text">
            <a:extLst>
              <a:ext uri="{FF2B5EF4-FFF2-40B4-BE49-F238E27FC236}">
                <a16:creationId xmlns:a16="http://schemas.microsoft.com/office/drawing/2014/main" id="{16BD463C-9D18-43E8-AD29-B486D85CB353}"/>
              </a:ext>
            </a:extLst>
          </p:cNvPr>
          <p:cNvSpPr>
            <a:spLocks noGrp="1"/>
          </p:cNvSpPr>
          <p:nvPr/>
        </p:nvSpPr>
        <p:spPr>
          <a:xfrm>
            <a:off x="7524750" y="1876425"/>
            <a:ext cx="3143250" cy="3619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11827"/>
                </a:solidFill>
                <a:latin typeface="Arial"/>
                <a:ea typeface="Arial"/>
                <a:cs typeface="Arial"/>
              </a:defRPr>
            </a:pPr>
            <a:r>
              <a:rPr sz="1650" b="1" i="0">
                <a:solidFill>
                  <a:srgbClr val="111827"/>
                </a:solidFill>
                <a:latin typeface="Arial"/>
                <a:ea typeface="Arial"/>
                <a:cs typeface="Arial"/>
              </a:rPr>
              <a:t>AI assistant  •  draft &amp; refactor</a:t>
            </a:r>
          </a:p>
        </p:txBody>
      </p:sp>
      <p:sp>
        <p:nvSpPr>
          <p:cNvPr id="16" name="arch-review-text">
            <a:extLst>
              <a:ext uri="{FF2B5EF4-FFF2-40B4-BE49-F238E27FC236}">
                <a16:creationId xmlns:a16="http://schemas.microsoft.com/office/drawing/2014/main" id="{6AA99ECD-A8F1-4484-8268-967C58E936A7}"/>
              </a:ext>
            </a:extLst>
          </p:cNvPr>
          <p:cNvSpPr>
            <a:spLocks noGrp="1"/>
          </p:cNvSpPr>
          <p:nvPr/>
        </p:nvSpPr>
        <p:spPr>
          <a:xfrm>
            <a:off x="7524750" y="2943225"/>
            <a:ext cx="3143250" cy="361950"/>
          </a:xfrm>
          <a:prstGeom prst="rect">
            <a:avLst/>
          </a:prstGeom>
          <a:noFill/>
          <a:ln w="0">
            <a:noFill/>
            <a:prstDash val="solid"/>
          </a:ln>
        </p:spPr>
        <p:txBody>
          <a:bodyPr wrap="square" lIns="0" tIns="0" rIns="0" bIns="0" anchor="ctr">
            <a:normAutofit fontScale="98529"/>
          </a:bodyPr>
          <a:lstStyle/>
          <a:p>
            <a:pPr algn="ctr">
              <a:lnSpc>
                <a:spcPct val="105000"/>
              </a:lnSpc>
              <a:buNone/>
              <a:defRPr sz="1650" b="1" i="0">
                <a:solidFill>
                  <a:srgbClr val="0B1F3A"/>
                </a:solidFill>
                <a:latin typeface="Arial"/>
                <a:ea typeface="Arial"/>
                <a:cs typeface="Arial"/>
              </a:defRPr>
            </a:pPr>
            <a:r>
              <a:rPr sz="1650" b="1" i="0">
                <a:solidFill>
                  <a:srgbClr val="0B1F3A"/>
                </a:solidFill>
                <a:latin typeface="Arial"/>
                <a:ea typeface="Arial"/>
                <a:cs typeface="Arial"/>
              </a:rPr>
              <a:t>Human audit  •  oracle • locators</a:t>
            </a:r>
          </a:p>
        </p:txBody>
      </p:sp>
      <p:sp>
        <p:nvSpPr>
          <p:cNvPr id="17" name="arch-playwright-text">
            <a:extLst>
              <a:ext uri="{FF2B5EF4-FFF2-40B4-BE49-F238E27FC236}">
                <a16:creationId xmlns:a16="http://schemas.microsoft.com/office/drawing/2014/main" id="{0AF9A927-4E0F-4BD7-A3E2-56E56B559958}"/>
              </a:ext>
            </a:extLst>
          </p:cNvPr>
          <p:cNvSpPr>
            <a:spLocks noGrp="1"/>
          </p:cNvSpPr>
          <p:nvPr/>
        </p:nvSpPr>
        <p:spPr>
          <a:xfrm>
            <a:off x="7524750" y="4010025"/>
            <a:ext cx="3143250" cy="361950"/>
          </a:xfrm>
          <a:prstGeom prst="rect">
            <a:avLst/>
          </a:prstGeom>
          <a:noFill/>
          <a:ln w="0">
            <a:noFill/>
            <a:prstDash val="solid"/>
          </a:ln>
        </p:spPr>
        <p:txBody>
          <a:bodyPr wrap="square" lIns="0" tIns="0" rIns="0" bIns="0" anchor="ctr">
            <a:normAutofit fontScale="90470"/>
          </a:bodyPr>
          <a:lstStyle/>
          <a:p>
            <a:pPr algn="ctr">
              <a:lnSpc>
                <a:spcPct val="105000"/>
              </a:lnSpc>
              <a:buNone/>
              <a:defRPr sz="1650" b="1" i="0">
                <a:solidFill>
                  <a:srgbClr val="FFFFFF"/>
                </a:solidFill>
                <a:latin typeface="Arial"/>
                <a:ea typeface="Arial"/>
                <a:cs typeface="Arial"/>
              </a:defRPr>
            </a:pPr>
            <a:r>
              <a:rPr sz="1650" b="1" i="0">
                <a:solidFill>
                  <a:srgbClr val="FFFFFF"/>
                </a:solidFill>
                <a:latin typeface="Arial"/>
                <a:ea typeface="Arial"/>
                <a:cs typeface="Arial"/>
              </a:rPr>
              <a:t>Playwright  •  POM • fixtures • trace</a:t>
            </a:r>
          </a:p>
        </p:txBody>
      </p:sp>
      <p:sp>
        <p:nvSpPr>
          <p:cNvPr id="18" name="arch-eshop-text">
            <a:extLst>
              <a:ext uri="{FF2B5EF4-FFF2-40B4-BE49-F238E27FC236}">
                <a16:creationId xmlns:a16="http://schemas.microsoft.com/office/drawing/2014/main" id="{A9AF0860-405F-4CB7-ACE1-61CE37BA14D4}"/>
              </a:ext>
            </a:extLst>
          </p:cNvPr>
          <p:cNvSpPr>
            <a:spLocks noGrp="1"/>
          </p:cNvSpPr>
          <p:nvPr/>
        </p:nvSpPr>
        <p:spPr>
          <a:xfrm>
            <a:off x="7524750" y="5076825"/>
            <a:ext cx="3143250" cy="3619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111827"/>
                </a:solidFill>
                <a:latin typeface="Arial"/>
                <a:ea typeface="Arial"/>
                <a:cs typeface="Arial"/>
              </a:defRPr>
            </a:pPr>
            <a:r>
              <a:rPr sz="1650" b="1" i="0">
                <a:solidFill>
                  <a:srgbClr val="111827"/>
                </a:solidFill>
                <a:latin typeface="Arial"/>
                <a:ea typeface="Arial"/>
                <a:cs typeface="Arial"/>
              </a:rPr>
              <a:t>EShop + APIs  •  real / mocked</a:t>
            </a:r>
          </a:p>
        </p:txBody>
      </p:sp>
      <p:sp>
        <p:nvSpPr>
          <p:cNvPr id="19" name="arch-principle">
            <a:extLst>
              <a:ext uri="{FF2B5EF4-FFF2-40B4-BE49-F238E27FC236}">
                <a16:creationId xmlns:a16="http://schemas.microsoft.com/office/drawing/2014/main" id="{E498380F-93A8-43EA-B101-892C6F8216B7}"/>
              </a:ext>
            </a:extLst>
          </p:cNvPr>
          <p:cNvSpPr>
            <a:spLocks noGrp="1"/>
          </p:cNvSpPr>
          <p:nvPr/>
        </p:nvSpPr>
        <p:spPr>
          <a:xfrm>
            <a:off x="400050" y="5619750"/>
            <a:ext cx="5334000" cy="495300"/>
          </a:xfrm>
          <a:prstGeom prst="rect">
            <a:avLst/>
          </a:prstGeom>
          <a:noFill/>
          <a:ln w="0">
            <a:noFill/>
            <a:prstDash val="solid"/>
          </a:ln>
        </p:spPr>
        <p:txBody>
          <a:bodyPr wrap="square" lIns="0" tIns="0" rIns="0" bIns="0" anchor="ctr">
            <a:normAutofit fontScale="98261"/>
          </a:bodyPr>
          <a:lstStyle/>
          <a:p>
            <a:pPr algn="l">
              <a:lnSpc>
                <a:spcPct val="105000"/>
              </a:lnSpc>
              <a:buNone/>
              <a:defRPr sz="1575" b="1" i="0">
                <a:solidFill>
                  <a:srgbClr val="3D8DFF"/>
                </a:solidFill>
                <a:latin typeface="Arial"/>
                <a:ea typeface="Arial"/>
                <a:cs typeface="Arial"/>
              </a:defRPr>
            </a:pPr>
            <a:r>
              <a:rPr sz="1575" b="1" i="0">
                <a:solidFill>
                  <a:srgbClr val="3D8DFF"/>
                </a:solidFill>
                <a:latin typeface="Arial"/>
                <a:ea typeface="Arial"/>
                <a:cs typeface="Arial"/>
              </a:rPr>
              <a:t>The framework owns execution. Humans own expected results. AI supports the work between them.</a:t>
            </a:r>
          </a:p>
        </p:txBody>
      </p:sp>
    </p:spTree>
    <p:extLst>
      <p:ext uri="{BB962C8B-B14F-4D97-AF65-F5344CB8AC3E}">
        <p14:creationId xmlns:p14="http://schemas.microsoft.com/office/powerpoint/2010/main" val="941633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ection-9">
            <a:extLst>
              <a:ext uri="{FF2B5EF4-FFF2-40B4-BE49-F238E27FC236}">
                <a16:creationId xmlns:a16="http://schemas.microsoft.com/office/drawing/2014/main" id="{117F74CA-8BE2-401D-9879-6F05AD731EF1}"/>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DEEP DIVE</a:t>
            </a:r>
          </a:p>
        </p:txBody>
      </p:sp>
      <p:sp>
        <p:nvSpPr>
          <p:cNvPr id="2" name="title-9">
            <a:extLst>
              <a:ext uri="{FF2B5EF4-FFF2-40B4-BE49-F238E27FC236}">
                <a16:creationId xmlns:a16="http://schemas.microsoft.com/office/drawing/2014/main" id="{2F5C2941-879F-4923-B1F9-5A56572E605D}"/>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Test doubles trade realism for isolation—deliberately</a:t>
            </a:r>
          </a:p>
        </p:txBody>
      </p:sp>
      <p:sp>
        <p:nvSpPr>
          <p:cNvPr id="3" name="title-rule-9">
            <a:extLst>
              <a:ext uri="{FF2B5EF4-FFF2-40B4-BE49-F238E27FC236}">
                <a16:creationId xmlns:a16="http://schemas.microsoft.com/office/drawing/2014/main" id="{9330F905-24D2-4763-8010-26CADBA8F6AC}"/>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9">
            <a:extLst>
              <a:ext uri="{FF2B5EF4-FFF2-40B4-BE49-F238E27FC236}">
                <a16:creationId xmlns:a16="http://schemas.microsoft.com/office/drawing/2014/main" id="{61A25876-7831-43AD-8DC4-EB655B128187}"/>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9">
            <a:extLst>
              <a:ext uri="{FF2B5EF4-FFF2-40B4-BE49-F238E27FC236}">
                <a16:creationId xmlns:a16="http://schemas.microsoft.com/office/drawing/2014/main" id="{7D61E90D-0F4D-479D-856A-BEDE3BFECBFC}"/>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09</a:t>
            </a:r>
          </a:p>
        </p:txBody>
      </p:sp>
      <p:graphicFrame>
        <p:nvGraphicFramePr>
          <p:cNvPr id="16" name="Table 15"/>
          <p:cNvGraphicFramePr/>
          <p:nvPr/>
        </p:nvGraphicFramePr>
        <p:xfrm>
          <a:off x="400050" y="1619250"/>
          <a:ext cx="11391900" cy="3505200"/>
        </p:xfrm>
        <a:graphic>
          <a:graphicData uri="http://schemas.openxmlformats.org/drawingml/2006/table">
            <a:tbl>
              <a:tblPr/>
              <a:tblGrid>
                <a:gridCol w="1381125">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4867275">
                  <a:extLst>
                    <a:ext uri="{9D8B030D-6E8A-4147-A177-3AD203B41FA5}">
                      <a16:colId xmlns:a16="http://schemas.microsoft.com/office/drawing/2014/main" val="20004"/>
                    </a:ext>
                  </a:extLst>
                </a:gridCol>
              </a:tblGrid>
              <a:tr h="584200">
                <a:tc>
                  <a:txBody>
                    <a:bodyPr/>
                    <a:lstStyle/>
                    <a:p>
                      <a:pPr algn="l"/>
                      <a:r>
                        <a:rPr sz="1275" b="1">
                          <a:solidFill>
                            <a:srgbClr val="FFFFFF"/>
                          </a:solidFill>
                          <a:latin typeface="Arial"/>
                          <a:ea typeface="Arial"/>
                          <a:cs typeface="Arial"/>
                        </a:rPr>
                        <a:t>Type</a:t>
                      </a:r>
                    </a:p>
                  </a:txBody>
                  <a:tcPr>
                    <a:solidFill>
                      <a:srgbClr val="0B1F3A"/>
                    </a:solidFill>
                  </a:tcPr>
                </a:tc>
                <a:tc>
                  <a:txBody>
                    <a:bodyPr/>
                    <a:lstStyle/>
                    <a:p>
                      <a:pPr algn="l"/>
                      <a:r>
                        <a:rPr sz="1275" b="1">
                          <a:solidFill>
                            <a:srgbClr val="FFFFFF"/>
                          </a:solidFill>
                          <a:latin typeface="Arial"/>
                          <a:ea typeface="Arial"/>
                          <a:cs typeface="Arial"/>
                        </a:rPr>
                        <a:t>Returns data</a:t>
                      </a:r>
                    </a:p>
                  </a:txBody>
                  <a:tcPr>
                    <a:solidFill>
                      <a:srgbClr val="0B1F3A"/>
                    </a:solidFill>
                  </a:tcPr>
                </a:tc>
                <a:tc>
                  <a:txBody>
                    <a:bodyPr/>
                    <a:lstStyle/>
                    <a:p>
                      <a:pPr algn="l"/>
                      <a:r>
                        <a:rPr sz="1275" b="1">
                          <a:solidFill>
                            <a:srgbClr val="FFFFFF"/>
                          </a:solidFill>
                          <a:latin typeface="Arial"/>
                          <a:ea typeface="Arial"/>
                          <a:cs typeface="Arial"/>
                        </a:rPr>
                        <a:t>Records calls</a:t>
                      </a:r>
                    </a:p>
                  </a:txBody>
                  <a:tcPr>
                    <a:solidFill>
                      <a:srgbClr val="0B1F3A"/>
                    </a:solidFill>
                  </a:tcPr>
                </a:tc>
                <a:tc>
                  <a:txBody>
                    <a:bodyPr/>
                    <a:lstStyle/>
                    <a:p>
                      <a:pPr algn="l"/>
                      <a:r>
                        <a:rPr sz="1275" b="1">
                          <a:solidFill>
                            <a:srgbClr val="FFFFFF"/>
                          </a:solidFill>
                          <a:latin typeface="Arial"/>
                          <a:ea typeface="Arial"/>
                          <a:cs typeface="Arial"/>
                        </a:rPr>
                        <a:t>Verifies behavior</a:t>
                      </a:r>
                    </a:p>
                  </a:txBody>
                  <a:tcPr>
                    <a:solidFill>
                      <a:srgbClr val="0B1F3A"/>
                    </a:solidFill>
                  </a:tcPr>
                </a:tc>
                <a:tc>
                  <a:txBody>
                    <a:bodyPr/>
                    <a:lstStyle/>
                    <a:p>
                      <a:pPr algn="l"/>
                      <a:r>
                        <a:rPr sz="1275" b="1">
                          <a:solidFill>
                            <a:srgbClr val="FFFFFF"/>
                          </a:solidFill>
                          <a:latin typeface="Arial"/>
                          <a:ea typeface="Arial"/>
                          <a:cs typeface="Arial"/>
                        </a:rPr>
                        <a:t>Best use</a:t>
                      </a:r>
                    </a:p>
                  </a:txBody>
                  <a:tcPr>
                    <a:solidFill>
                      <a:srgbClr val="0B1F3A"/>
                    </a:solidFill>
                  </a:tcPr>
                </a:tc>
                <a:extLst>
                  <a:ext uri="{0D108BD9-81ED-4DB2-BD59-A6C34878D82A}">
                    <a16:rowId xmlns:a16="http://schemas.microsoft.com/office/drawing/2014/main" val="10000"/>
                  </a:ext>
                </a:extLst>
              </a:tr>
              <a:tr h="584200">
                <a:tc>
                  <a:txBody>
                    <a:bodyPr/>
                    <a:lstStyle/>
                    <a:p>
                      <a:pPr algn="l"/>
                      <a:r>
                        <a:rPr sz="1275" b="1">
                          <a:solidFill>
                            <a:srgbClr val="111827"/>
                          </a:solidFill>
                          <a:latin typeface="Arial"/>
                          <a:ea typeface="Arial"/>
                          <a:cs typeface="Arial"/>
                        </a:rPr>
                        <a:t>Dummy</a:t>
                      </a:r>
                    </a:p>
                  </a:txBody>
                  <a:tcPr>
                    <a:solidFill>
                      <a:srgbClr val="FFFFFF"/>
                    </a:solidFill>
                  </a:tcPr>
                </a:tc>
                <a:tc>
                  <a:txBody>
                    <a:bodyPr/>
                    <a:lstStyle/>
                    <a:p>
                      <a:pPr algn="l"/>
                      <a:r>
                        <a:rPr sz="1275" b="0">
                          <a:solidFill>
                            <a:srgbClr val="111827"/>
                          </a:solidFill>
                          <a:latin typeface="Arial"/>
                          <a:ea typeface="Arial"/>
                          <a:cs typeface="Arial"/>
                        </a:rPr>
                        <a:t>No</a:t>
                      </a:r>
                    </a:p>
                  </a:txBody>
                  <a:tcPr>
                    <a:solidFill>
                      <a:srgbClr val="FFFFFF"/>
                    </a:solidFill>
                  </a:tcPr>
                </a:tc>
                <a:tc>
                  <a:txBody>
                    <a:bodyPr/>
                    <a:lstStyle/>
                    <a:p>
                      <a:pPr algn="l"/>
                      <a:r>
                        <a:rPr sz="1275" b="0">
                          <a:solidFill>
                            <a:srgbClr val="111827"/>
                          </a:solidFill>
                          <a:latin typeface="Arial"/>
                          <a:ea typeface="Arial"/>
                          <a:cs typeface="Arial"/>
                        </a:rPr>
                        <a:t>No</a:t>
                      </a:r>
                    </a:p>
                  </a:txBody>
                  <a:tcPr>
                    <a:solidFill>
                      <a:srgbClr val="FFFFFF"/>
                    </a:solidFill>
                  </a:tcPr>
                </a:tc>
                <a:tc>
                  <a:txBody>
                    <a:bodyPr/>
                    <a:lstStyle/>
                    <a:p>
                      <a:pPr algn="l"/>
                      <a:r>
                        <a:rPr sz="1275" b="0">
                          <a:solidFill>
                            <a:srgbClr val="111827"/>
                          </a:solidFill>
                          <a:latin typeface="Arial"/>
                          <a:ea typeface="Arial"/>
                          <a:cs typeface="Arial"/>
                        </a:rPr>
                        <a:t>No</a:t>
                      </a:r>
                    </a:p>
                  </a:txBody>
                  <a:tcPr>
                    <a:solidFill>
                      <a:srgbClr val="FFFFFF"/>
                    </a:solidFill>
                  </a:tcPr>
                </a:tc>
                <a:tc>
                  <a:txBody>
                    <a:bodyPr/>
                    <a:lstStyle/>
                    <a:p>
                      <a:pPr algn="l"/>
                      <a:r>
                        <a:rPr sz="1275" b="0">
                          <a:solidFill>
                            <a:srgbClr val="111827"/>
                          </a:solidFill>
                          <a:latin typeface="Arial"/>
                          <a:ea typeface="Arial"/>
                          <a:cs typeface="Arial"/>
                        </a:rPr>
                        <a:t>Fill an irrelevant required parameter</a:t>
                      </a:r>
                    </a:p>
                  </a:txBody>
                  <a:tcPr>
                    <a:solidFill>
                      <a:srgbClr val="FFFFFF"/>
                    </a:solidFill>
                  </a:tcPr>
                </a:tc>
                <a:extLst>
                  <a:ext uri="{0D108BD9-81ED-4DB2-BD59-A6C34878D82A}">
                    <a16:rowId xmlns:a16="http://schemas.microsoft.com/office/drawing/2014/main" val="10001"/>
                  </a:ext>
                </a:extLst>
              </a:tr>
              <a:tr h="584200">
                <a:tc>
                  <a:txBody>
                    <a:bodyPr/>
                    <a:lstStyle/>
                    <a:p>
                      <a:pPr algn="l"/>
                      <a:r>
                        <a:rPr sz="1275" b="1">
                          <a:solidFill>
                            <a:srgbClr val="111827"/>
                          </a:solidFill>
                          <a:latin typeface="Arial"/>
                          <a:ea typeface="Arial"/>
                          <a:cs typeface="Arial"/>
                        </a:rPr>
                        <a:t>Stub</a:t>
                      </a:r>
                    </a:p>
                  </a:txBody>
                  <a:tcPr>
                    <a:solidFill>
                      <a:srgbClr val="F7F8FA"/>
                    </a:solidFill>
                  </a:tcPr>
                </a:tc>
                <a:tc>
                  <a:txBody>
                    <a:bodyPr/>
                    <a:lstStyle/>
                    <a:p>
                      <a:pPr algn="l"/>
                      <a:r>
                        <a:rPr sz="1275" b="0">
                          <a:solidFill>
                            <a:srgbClr val="111827"/>
                          </a:solidFill>
                          <a:latin typeface="Arial"/>
                          <a:ea typeface="Arial"/>
                          <a:cs typeface="Arial"/>
                        </a:rPr>
                        <a:t>Prepared</a:t>
                      </a:r>
                    </a:p>
                  </a:txBody>
                  <a:tcPr>
                    <a:solidFill>
                      <a:srgbClr val="F7F8FA"/>
                    </a:solidFill>
                  </a:tcPr>
                </a:tc>
                <a:tc>
                  <a:txBody>
                    <a:bodyPr/>
                    <a:lstStyle/>
                    <a:p>
                      <a:pPr algn="l"/>
                      <a:r>
                        <a:rPr sz="1275" b="0">
                          <a:solidFill>
                            <a:srgbClr val="111827"/>
                          </a:solidFill>
                          <a:latin typeface="Arial"/>
                          <a:ea typeface="Arial"/>
                          <a:cs typeface="Arial"/>
                        </a:rPr>
                        <a:t>No</a:t>
                      </a:r>
                    </a:p>
                  </a:txBody>
                  <a:tcPr>
                    <a:solidFill>
                      <a:srgbClr val="F7F8FA"/>
                    </a:solidFill>
                  </a:tcPr>
                </a:tc>
                <a:tc>
                  <a:txBody>
                    <a:bodyPr/>
                    <a:lstStyle/>
                    <a:p>
                      <a:pPr algn="l"/>
                      <a:r>
                        <a:rPr sz="1275" b="0">
                          <a:solidFill>
                            <a:srgbClr val="111827"/>
                          </a:solidFill>
                          <a:latin typeface="Arial"/>
                          <a:ea typeface="Arial"/>
                          <a:cs typeface="Arial"/>
                        </a:rPr>
                        <a:t>No</a:t>
                      </a:r>
                    </a:p>
                  </a:txBody>
                  <a:tcPr>
                    <a:solidFill>
                      <a:srgbClr val="F7F8FA"/>
                    </a:solidFill>
                  </a:tcPr>
                </a:tc>
                <a:tc>
                  <a:txBody>
                    <a:bodyPr/>
                    <a:lstStyle/>
                    <a:p>
                      <a:pPr algn="l"/>
                      <a:r>
                        <a:rPr sz="1275" b="0">
                          <a:solidFill>
                            <a:srgbClr val="111827"/>
                          </a:solidFill>
                          <a:latin typeface="Arial"/>
                          <a:ea typeface="Arial"/>
                          <a:cs typeface="Arial"/>
                        </a:rPr>
                        <a:t>Supply deterministic responses</a:t>
                      </a:r>
                    </a:p>
                  </a:txBody>
                  <a:tcPr>
                    <a:solidFill>
                      <a:srgbClr val="F7F8FA"/>
                    </a:solidFill>
                  </a:tcPr>
                </a:tc>
                <a:extLst>
                  <a:ext uri="{0D108BD9-81ED-4DB2-BD59-A6C34878D82A}">
                    <a16:rowId xmlns:a16="http://schemas.microsoft.com/office/drawing/2014/main" val="10002"/>
                  </a:ext>
                </a:extLst>
              </a:tr>
              <a:tr h="584200">
                <a:tc>
                  <a:txBody>
                    <a:bodyPr/>
                    <a:lstStyle/>
                    <a:p>
                      <a:pPr algn="l"/>
                      <a:r>
                        <a:rPr sz="1275" b="1">
                          <a:solidFill>
                            <a:srgbClr val="111827"/>
                          </a:solidFill>
                          <a:latin typeface="Arial"/>
                          <a:ea typeface="Arial"/>
                          <a:cs typeface="Arial"/>
                        </a:rPr>
                        <a:t>Fake</a:t>
                      </a:r>
                    </a:p>
                  </a:txBody>
                  <a:tcPr>
                    <a:solidFill>
                      <a:srgbClr val="FFFFFF"/>
                    </a:solidFill>
                  </a:tcPr>
                </a:tc>
                <a:tc>
                  <a:txBody>
                    <a:bodyPr/>
                    <a:lstStyle/>
                    <a:p>
                      <a:pPr algn="l"/>
                      <a:r>
                        <a:rPr sz="1275" b="0">
                          <a:solidFill>
                            <a:srgbClr val="111827"/>
                          </a:solidFill>
                          <a:latin typeface="Arial"/>
                          <a:ea typeface="Arial"/>
                          <a:cs typeface="Arial"/>
                        </a:rPr>
                        <a:t>Working shortcut</a:t>
                      </a:r>
                    </a:p>
                  </a:txBody>
                  <a:tcPr>
                    <a:solidFill>
                      <a:srgbClr val="FFFFFF"/>
                    </a:solidFill>
                  </a:tcPr>
                </a:tc>
                <a:tc>
                  <a:txBody>
                    <a:bodyPr/>
                    <a:lstStyle/>
                    <a:p>
                      <a:pPr algn="l"/>
                      <a:r>
                        <a:rPr sz="1275" b="0">
                          <a:solidFill>
                            <a:srgbClr val="111827"/>
                          </a:solidFill>
                          <a:latin typeface="Arial"/>
                          <a:ea typeface="Arial"/>
                          <a:cs typeface="Arial"/>
                        </a:rPr>
                        <a:t>No</a:t>
                      </a:r>
                    </a:p>
                  </a:txBody>
                  <a:tcPr>
                    <a:solidFill>
                      <a:srgbClr val="FFFFFF"/>
                    </a:solidFill>
                  </a:tcPr>
                </a:tc>
                <a:tc>
                  <a:txBody>
                    <a:bodyPr/>
                    <a:lstStyle/>
                    <a:p>
                      <a:pPr algn="l"/>
                      <a:r>
                        <a:rPr sz="1275" b="0">
                          <a:solidFill>
                            <a:srgbClr val="111827"/>
                          </a:solidFill>
                          <a:latin typeface="Arial"/>
                          <a:ea typeface="Arial"/>
                          <a:cs typeface="Arial"/>
                        </a:rPr>
                        <a:t>No</a:t>
                      </a:r>
                    </a:p>
                  </a:txBody>
                  <a:tcPr>
                    <a:solidFill>
                      <a:srgbClr val="FFFFFF"/>
                    </a:solidFill>
                  </a:tcPr>
                </a:tc>
                <a:tc>
                  <a:txBody>
                    <a:bodyPr/>
                    <a:lstStyle/>
                    <a:p>
                      <a:pPr algn="l"/>
                      <a:r>
                        <a:rPr sz="1275" b="0">
                          <a:solidFill>
                            <a:srgbClr val="111827"/>
                          </a:solidFill>
                          <a:latin typeface="Arial"/>
                          <a:ea typeface="Arial"/>
                          <a:cs typeface="Arial"/>
                        </a:rPr>
                        <a:t>Replace a heavy service or database</a:t>
                      </a:r>
                    </a:p>
                  </a:txBody>
                  <a:tcPr>
                    <a:solidFill>
                      <a:srgbClr val="FFFFFF"/>
                    </a:solidFill>
                  </a:tcPr>
                </a:tc>
                <a:extLst>
                  <a:ext uri="{0D108BD9-81ED-4DB2-BD59-A6C34878D82A}">
                    <a16:rowId xmlns:a16="http://schemas.microsoft.com/office/drawing/2014/main" val="10003"/>
                  </a:ext>
                </a:extLst>
              </a:tr>
              <a:tr h="584200">
                <a:tc>
                  <a:txBody>
                    <a:bodyPr/>
                    <a:lstStyle/>
                    <a:p>
                      <a:pPr algn="l"/>
                      <a:r>
                        <a:rPr sz="1275" b="1">
                          <a:solidFill>
                            <a:srgbClr val="111827"/>
                          </a:solidFill>
                          <a:latin typeface="Arial"/>
                          <a:ea typeface="Arial"/>
                          <a:cs typeface="Arial"/>
                        </a:rPr>
                        <a:t>Spy</a:t>
                      </a:r>
                    </a:p>
                  </a:txBody>
                  <a:tcPr>
                    <a:solidFill>
                      <a:srgbClr val="F7F8FA"/>
                    </a:solidFill>
                  </a:tcPr>
                </a:tc>
                <a:tc>
                  <a:txBody>
                    <a:bodyPr/>
                    <a:lstStyle/>
                    <a:p>
                      <a:pPr algn="l"/>
                      <a:r>
                        <a:rPr sz="1275" b="0">
                          <a:solidFill>
                            <a:srgbClr val="111827"/>
                          </a:solidFill>
                          <a:latin typeface="Arial"/>
                          <a:ea typeface="Arial"/>
                          <a:cs typeface="Arial"/>
                        </a:rPr>
                        <a:t>Optional</a:t>
                      </a:r>
                    </a:p>
                  </a:txBody>
                  <a:tcPr>
                    <a:solidFill>
                      <a:srgbClr val="F7F8FA"/>
                    </a:solidFill>
                  </a:tcPr>
                </a:tc>
                <a:tc>
                  <a:txBody>
                    <a:bodyPr/>
                    <a:lstStyle/>
                    <a:p>
                      <a:pPr algn="l"/>
                      <a:r>
                        <a:rPr sz="1275" b="0">
                          <a:solidFill>
                            <a:srgbClr val="111827"/>
                          </a:solidFill>
                          <a:latin typeface="Arial"/>
                          <a:ea typeface="Arial"/>
                          <a:cs typeface="Arial"/>
                        </a:rPr>
                        <a:t>Yes</a:t>
                      </a:r>
                    </a:p>
                  </a:txBody>
                  <a:tcPr>
                    <a:solidFill>
                      <a:srgbClr val="F7F8FA"/>
                    </a:solidFill>
                  </a:tcPr>
                </a:tc>
                <a:tc>
                  <a:txBody>
                    <a:bodyPr/>
                    <a:lstStyle/>
                    <a:p>
                      <a:pPr algn="l"/>
                      <a:r>
                        <a:rPr sz="1275" b="0">
                          <a:solidFill>
                            <a:srgbClr val="111827"/>
                          </a:solidFill>
                          <a:latin typeface="Arial"/>
                          <a:ea typeface="Arial"/>
                          <a:cs typeface="Arial"/>
                        </a:rPr>
                        <a:t>No</a:t>
                      </a:r>
                    </a:p>
                  </a:txBody>
                  <a:tcPr>
                    <a:solidFill>
                      <a:srgbClr val="F7F8FA"/>
                    </a:solidFill>
                  </a:tcPr>
                </a:tc>
                <a:tc>
                  <a:txBody>
                    <a:bodyPr/>
                    <a:lstStyle/>
                    <a:p>
                      <a:pPr algn="l"/>
                      <a:r>
                        <a:rPr sz="1275" b="0">
                          <a:solidFill>
                            <a:srgbClr val="111827"/>
                          </a:solidFill>
                          <a:latin typeface="Arial"/>
                          <a:ea typeface="Arial"/>
                          <a:cs typeface="Arial"/>
                        </a:rPr>
                        <a:t>Inspect arguments and invocation history</a:t>
                      </a:r>
                    </a:p>
                  </a:txBody>
                  <a:tcPr>
                    <a:solidFill>
                      <a:srgbClr val="F7F8FA"/>
                    </a:solidFill>
                  </a:tcPr>
                </a:tc>
                <a:extLst>
                  <a:ext uri="{0D108BD9-81ED-4DB2-BD59-A6C34878D82A}">
                    <a16:rowId xmlns:a16="http://schemas.microsoft.com/office/drawing/2014/main" val="10004"/>
                  </a:ext>
                </a:extLst>
              </a:tr>
              <a:tr h="584200">
                <a:tc>
                  <a:txBody>
                    <a:bodyPr/>
                    <a:lstStyle/>
                    <a:p>
                      <a:pPr algn="l"/>
                      <a:r>
                        <a:rPr sz="1275" b="1">
                          <a:solidFill>
                            <a:srgbClr val="111827"/>
                          </a:solidFill>
                          <a:latin typeface="Arial"/>
                          <a:ea typeface="Arial"/>
                          <a:cs typeface="Arial"/>
                        </a:rPr>
                        <a:t>Mock</a:t>
                      </a:r>
                    </a:p>
                  </a:txBody>
                  <a:tcPr>
                    <a:solidFill>
                      <a:srgbClr val="FFFFFF"/>
                    </a:solidFill>
                  </a:tcPr>
                </a:tc>
                <a:tc>
                  <a:txBody>
                    <a:bodyPr/>
                    <a:lstStyle/>
                    <a:p>
                      <a:pPr algn="l"/>
                      <a:r>
                        <a:rPr sz="1275" b="0">
                          <a:solidFill>
                            <a:srgbClr val="111827"/>
                          </a:solidFill>
                          <a:latin typeface="Arial"/>
                          <a:ea typeface="Arial"/>
                          <a:cs typeface="Arial"/>
                        </a:rPr>
                        <a:t>Optional</a:t>
                      </a:r>
                    </a:p>
                  </a:txBody>
                  <a:tcPr>
                    <a:solidFill>
                      <a:srgbClr val="FFFFFF"/>
                    </a:solidFill>
                  </a:tcPr>
                </a:tc>
                <a:tc>
                  <a:txBody>
                    <a:bodyPr/>
                    <a:lstStyle/>
                    <a:p>
                      <a:pPr algn="l"/>
                      <a:r>
                        <a:rPr sz="1275" b="0">
                          <a:solidFill>
                            <a:srgbClr val="111827"/>
                          </a:solidFill>
                          <a:latin typeface="Arial"/>
                          <a:ea typeface="Arial"/>
                          <a:cs typeface="Arial"/>
                        </a:rPr>
                        <a:t>Yes</a:t>
                      </a:r>
                    </a:p>
                  </a:txBody>
                  <a:tcPr>
                    <a:solidFill>
                      <a:srgbClr val="FFFFFF"/>
                    </a:solidFill>
                  </a:tcPr>
                </a:tc>
                <a:tc>
                  <a:txBody>
                    <a:bodyPr/>
                    <a:lstStyle/>
                    <a:p>
                      <a:pPr algn="l"/>
                      <a:r>
                        <a:rPr sz="1275" b="0">
                          <a:solidFill>
                            <a:srgbClr val="111827"/>
                          </a:solidFill>
                          <a:latin typeface="Arial"/>
                          <a:ea typeface="Arial"/>
                          <a:cs typeface="Arial"/>
                        </a:rPr>
                        <a:t>Yes</a:t>
                      </a:r>
                    </a:p>
                  </a:txBody>
                  <a:tcPr>
                    <a:solidFill>
                      <a:srgbClr val="FFFFFF"/>
                    </a:solidFill>
                  </a:tcPr>
                </a:tc>
                <a:tc>
                  <a:txBody>
                    <a:bodyPr/>
                    <a:lstStyle/>
                    <a:p>
                      <a:pPr algn="l"/>
                      <a:r>
                        <a:rPr sz="1275" b="0">
                          <a:solidFill>
                            <a:srgbClr val="111827"/>
                          </a:solidFill>
                          <a:latin typeface="Arial"/>
                          <a:ea typeface="Arial"/>
                          <a:cs typeface="Arial"/>
                        </a:rPr>
                        <a:t>Verify expected collaboration</a:t>
                      </a:r>
                    </a:p>
                  </a:txBody>
                  <a:tcPr>
                    <a:solidFill>
                      <a:srgbClr val="FFFFFF"/>
                    </a:solidFill>
                  </a:tcPr>
                </a:tc>
                <a:extLst>
                  <a:ext uri="{0D108BD9-81ED-4DB2-BD59-A6C34878D82A}">
                    <a16:rowId xmlns:a16="http://schemas.microsoft.com/office/drawing/2014/main" val="10005"/>
                  </a:ext>
                </a:extLst>
              </a:tr>
            </a:tbl>
          </a:graphicData>
        </a:graphic>
      </p:graphicFrame>
      <p:sp>
        <p:nvSpPr>
          <p:cNvPr id="7" name="double-unit">
            <a:extLst>
              <a:ext uri="{FF2B5EF4-FFF2-40B4-BE49-F238E27FC236}">
                <a16:creationId xmlns:a16="http://schemas.microsoft.com/office/drawing/2014/main" id="{7AFB8AEF-54AF-4704-879F-89790211C34F}"/>
              </a:ext>
            </a:extLst>
          </p:cNvPr>
          <p:cNvSpPr>
            <a:spLocks noGrp="1"/>
          </p:cNvSpPr>
          <p:nvPr/>
        </p:nvSpPr>
        <p:spPr>
          <a:xfrm>
            <a:off x="400050" y="5391150"/>
            <a:ext cx="2000250" cy="228600"/>
          </a:xfrm>
          <a:prstGeom prst="rect">
            <a:avLst/>
          </a:prstGeom>
          <a:noFill/>
          <a:ln w="0">
            <a:noFill/>
            <a:prstDash val="solid"/>
          </a:ln>
        </p:spPr>
        <p:txBody>
          <a:bodyPr wrap="square" lIns="0" tIns="0" rIns="0" bIns="0" anchor="t">
            <a:normAutofit/>
          </a:bodyPr>
          <a:lstStyle/>
          <a:p>
            <a:pPr algn="l">
              <a:lnSpc>
                <a:spcPct val="105000"/>
              </a:lnSpc>
              <a:buNone/>
              <a:defRPr sz="1125" b="1" i="0">
                <a:solidFill>
                  <a:srgbClr val="3D8DFF"/>
                </a:solidFill>
                <a:latin typeface="Arial"/>
                <a:ea typeface="Arial"/>
                <a:cs typeface="Arial"/>
              </a:defRPr>
            </a:pPr>
            <a:r>
              <a:rPr sz="1125" b="1" i="0">
                <a:solidFill>
                  <a:srgbClr val="3D8DFF"/>
                </a:solidFill>
                <a:latin typeface="Arial"/>
                <a:ea typeface="Arial"/>
                <a:cs typeface="Arial"/>
              </a:rPr>
              <a:t>UNIT TESTING</a:t>
            </a:r>
          </a:p>
        </p:txBody>
      </p:sp>
      <p:sp>
        <p:nvSpPr>
          <p:cNvPr id="8" name="double-unit-body">
            <a:extLst>
              <a:ext uri="{FF2B5EF4-FFF2-40B4-BE49-F238E27FC236}">
                <a16:creationId xmlns:a16="http://schemas.microsoft.com/office/drawing/2014/main" id="{08E13808-1A93-442C-BBD6-B9B14660D6A7}"/>
              </a:ext>
            </a:extLst>
          </p:cNvPr>
          <p:cNvSpPr>
            <a:spLocks noGrp="1"/>
          </p:cNvSpPr>
          <p:nvPr/>
        </p:nvSpPr>
        <p:spPr>
          <a:xfrm>
            <a:off x="400050" y="5695950"/>
            <a:ext cx="4476750" cy="400050"/>
          </a:xfrm>
          <a:prstGeom prst="rect">
            <a:avLst/>
          </a:prstGeom>
          <a:noFill/>
          <a:ln w="0">
            <a:noFill/>
            <a:prstDash val="solid"/>
          </a:ln>
        </p:spPr>
        <p:txBody>
          <a:bodyPr wrap="square" lIns="0" tIns="0" rIns="0" bIns="0" anchor="t">
            <a:normAutofit fontScale="77584"/>
          </a:bodyPr>
          <a:lstStyle/>
          <a:p>
            <a:pPr algn="l">
              <a:lnSpc>
                <a:spcPct val="105000"/>
              </a:lnSpc>
              <a:buNone/>
              <a:defRPr sz="1650" b="1" i="0">
                <a:solidFill>
                  <a:srgbClr val="111827"/>
                </a:solidFill>
                <a:latin typeface="Arial"/>
                <a:ea typeface="Arial"/>
                <a:cs typeface="Arial"/>
              </a:defRPr>
            </a:pPr>
            <a:r>
              <a:rPr sz="1650" b="1" i="0">
                <a:solidFill>
                  <a:srgbClr val="111827"/>
                </a:solidFill>
                <a:latin typeface="Arial"/>
                <a:ea typeface="Arial"/>
                <a:cs typeface="Arial"/>
              </a:rPr>
              <a:t>Replace objects or functions inside the language runtime.</a:t>
            </a:r>
          </a:p>
        </p:txBody>
      </p:sp>
      <p:sp>
        <p:nvSpPr>
          <p:cNvPr id="9" name="double-web">
            <a:extLst>
              <a:ext uri="{FF2B5EF4-FFF2-40B4-BE49-F238E27FC236}">
                <a16:creationId xmlns:a16="http://schemas.microsoft.com/office/drawing/2014/main" id="{A00DF774-2750-46E2-93A1-C48CCCBE7D1D}"/>
              </a:ext>
            </a:extLst>
          </p:cNvPr>
          <p:cNvSpPr>
            <a:spLocks noGrp="1"/>
          </p:cNvSpPr>
          <p:nvPr/>
        </p:nvSpPr>
        <p:spPr>
          <a:xfrm>
            <a:off x="6477000" y="5391150"/>
            <a:ext cx="2286000" cy="228600"/>
          </a:xfrm>
          <a:prstGeom prst="rect">
            <a:avLst/>
          </a:prstGeom>
          <a:noFill/>
          <a:ln w="0">
            <a:noFill/>
            <a:prstDash val="solid"/>
          </a:ln>
        </p:spPr>
        <p:txBody>
          <a:bodyPr wrap="square" lIns="0" tIns="0" rIns="0" bIns="0" anchor="t">
            <a:normAutofit/>
          </a:bodyPr>
          <a:lstStyle/>
          <a:p>
            <a:pPr algn="l">
              <a:lnSpc>
                <a:spcPct val="105000"/>
              </a:lnSpc>
              <a:buNone/>
              <a:defRPr sz="1125" b="1" i="0">
                <a:solidFill>
                  <a:srgbClr val="3D8DFF"/>
                </a:solidFill>
                <a:latin typeface="Arial"/>
                <a:ea typeface="Arial"/>
                <a:cs typeface="Arial"/>
              </a:defRPr>
            </a:pPr>
            <a:r>
              <a:rPr sz="1125" b="1" i="0">
                <a:solidFill>
                  <a:srgbClr val="3D8DFF"/>
                </a:solidFill>
                <a:latin typeface="Arial"/>
                <a:ea typeface="Arial"/>
                <a:cs typeface="Arial"/>
              </a:rPr>
              <a:t>WEB AUTOMATION</a:t>
            </a:r>
          </a:p>
        </p:txBody>
      </p:sp>
      <p:sp>
        <p:nvSpPr>
          <p:cNvPr id="10" name="double-web-body">
            <a:extLst>
              <a:ext uri="{FF2B5EF4-FFF2-40B4-BE49-F238E27FC236}">
                <a16:creationId xmlns:a16="http://schemas.microsoft.com/office/drawing/2014/main" id="{3C74C5A4-453F-43CC-8806-F86BC890CE9C}"/>
              </a:ext>
            </a:extLst>
          </p:cNvPr>
          <p:cNvSpPr>
            <a:spLocks noGrp="1"/>
          </p:cNvSpPr>
          <p:nvPr/>
        </p:nvSpPr>
        <p:spPr>
          <a:xfrm>
            <a:off x="6477000" y="5695950"/>
            <a:ext cx="4953000" cy="400050"/>
          </a:xfrm>
          <a:prstGeom prst="rect">
            <a:avLst/>
          </a:prstGeom>
          <a:noFill/>
          <a:ln w="0">
            <a:noFill/>
            <a:prstDash val="solid"/>
          </a:ln>
        </p:spPr>
        <p:txBody>
          <a:bodyPr wrap="square" lIns="0" tIns="0" rIns="0" bIns="0" anchor="t">
            <a:normAutofit fontScale="77584"/>
          </a:bodyPr>
          <a:lstStyle/>
          <a:p>
            <a:pPr algn="l">
              <a:lnSpc>
                <a:spcPct val="105000"/>
              </a:lnSpc>
              <a:buNone/>
              <a:defRPr sz="1650" b="1" i="0">
                <a:solidFill>
                  <a:srgbClr val="111827"/>
                </a:solidFill>
                <a:latin typeface="Arial"/>
                <a:ea typeface="Arial"/>
                <a:cs typeface="Arial"/>
              </a:defRPr>
            </a:pPr>
            <a:r>
              <a:rPr sz="1650" b="1" i="0">
                <a:solidFill>
                  <a:srgbClr val="111827"/>
                </a:solidFill>
                <a:latin typeface="Arial"/>
                <a:ea typeface="Arial"/>
                <a:cs typeface="Arial"/>
              </a:rPr>
              <a:t>Intercept protocols or data stores while the browser runs the UI.</a:t>
            </a:r>
          </a:p>
        </p:txBody>
      </p:sp>
    </p:spTree>
    <p:extLst>
      <p:ext uri="{BB962C8B-B14F-4D97-AF65-F5344CB8AC3E}">
        <p14:creationId xmlns:p14="http://schemas.microsoft.com/office/powerpoint/2010/main" val="626122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ection-10">
            <a:extLst>
              <a:ext uri="{FF2B5EF4-FFF2-40B4-BE49-F238E27FC236}">
                <a16:creationId xmlns:a16="http://schemas.microsoft.com/office/drawing/2014/main" id="{B924F63B-129E-4C3E-9AB5-618698892020}"/>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API MOCKING</a:t>
            </a:r>
          </a:p>
        </p:txBody>
      </p:sp>
      <p:sp>
        <p:nvSpPr>
          <p:cNvPr id="2" name="title-10">
            <a:extLst>
              <a:ext uri="{FF2B5EF4-FFF2-40B4-BE49-F238E27FC236}">
                <a16:creationId xmlns:a16="http://schemas.microsoft.com/office/drawing/2014/main" id="{78467A9D-DF7E-45F1-9CF0-48B1C8FF5A2F}"/>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Playwright intercepts at the browser boundary</a:t>
            </a:r>
          </a:p>
        </p:txBody>
      </p:sp>
      <p:sp>
        <p:nvSpPr>
          <p:cNvPr id="3" name="title-rule-10">
            <a:extLst>
              <a:ext uri="{FF2B5EF4-FFF2-40B4-BE49-F238E27FC236}">
                <a16:creationId xmlns:a16="http://schemas.microsoft.com/office/drawing/2014/main" id="{39B71B39-5C73-44E4-B711-865E274CF8D6}"/>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10">
            <a:extLst>
              <a:ext uri="{FF2B5EF4-FFF2-40B4-BE49-F238E27FC236}">
                <a16:creationId xmlns:a16="http://schemas.microsoft.com/office/drawing/2014/main" id="{353DE478-F433-4FEF-B3D7-FC57F78ABD4D}"/>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10">
            <a:extLst>
              <a:ext uri="{FF2B5EF4-FFF2-40B4-BE49-F238E27FC236}">
                <a16:creationId xmlns:a16="http://schemas.microsoft.com/office/drawing/2014/main" id="{EED6667C-DA70-4F84-BFA3-853AECE4FF15}"/>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10</a:t>
            </a:r>
          </a:p>
        </p:txBody>
      </p:sp>
      <p:sp>
        <p:nvSpPr>
          <p:cNvPr id="6" name="network-arrow-request">
            <a:extLst>
              <a:ext uri="{FF2B5EF4-FFF2-40B4-BE49-F238E27FC236}">
                <a16:creationId xmlns:a16="http://schemas.microsoft.com/office/drawing/2014/main" id="{7FF057D7-8575-47D9-921B-533415B6EB73}"/>
              </a:ext>
            </a:extLst>
          </p:cNvPr>
          <p:cNvSpPr>
            <a:spLocks noGrp="1"/>
          </p:cNvSpPr>
          <p:nvPr/>
        </p:nvSpPr>
        <p:spPr>
          <a:xfrm>
            <a:off x="2247900" y="2838450"/>
            <a:ext cx="990600" cy="304800"/>
          </a:xfrm>
          <a:prstGeom prst="rightArrow">
            <a:avLst/>
          </a:prstGeom>
          <a:solidFill>
            <a:srgbClr val="6DCBF4"/>
          </a:solidFill>
          <a:ln w="0">
            <a:noFill/>
            <a:prstDash val="solid"/>
          </a:ln>
        </p:spPr>
      </p:sp>
      <p:sp>
        <p:nvSpPr>
          <p:cNvPr id="7" name="network-arrow-backend">
            <a:extLst>
              <a:ext uri="{FF2B5EF4-FFF2-40B4-BE49-F238E27FC236}">
                <a16:creationId xmlns:a16="http://schemas.microsoft.com/office/drawing/2014/main" id="{6AE0723D-FCED-4E81-A2E0-9577ECB3498E}"/>
              </a:ext>
            </a:extLst>
          </p:cNvPr>
          <p:cNvSpPr>
            <a:spLocks noGrp="1"/>
          </p:cNvSpPr>
          <p:nvPr/>
        </p:nvSpPr>
        <p:spPr>
          <a:xfrm>
            <a:off x="5257800" y="2838450"/>
            <a:ext cx="952500" cy="304800"/>
          </a:xfrm>
          <a:prstGeom prst="rightArrow">
            <a:avLst/>
          </a:prstGeom>
          <a:solidFill>
            <a:srgbClr val="D1D5DB"/>
          </a:solidFill>
          <a:ln w="0">
            <a:noFill/>
            <a:prstDash val="solid"/>
          </a:ln>
        </p:spPr>
      </p:sp>
      <p:sp>
        <p:nvSpPr>
          <p:cNvPr id="8" name="network-arrow-fulfill">
            <a:extLst>
              <a:ext uri="{FF2B5EF4-FFF2-40B4-BE49-F238E27FC236}">
                <a16:creationId xmlns:a16="http://schemas.microsoft.com/office/drawing/2014/main" id="{04324B91-3F63-40D5-9B90-187BBACE442E}"/>
              </a:ext>
            </a:extLst>
          </p:cNvPr>
          <p:cNvSpPr>
            <a:spLocks noGrp="1"/>
          </p:cNvSpPr>
          <p:nvPr/>
        </p:nvSpPr>
        <p:spPr>
          <a:xfrm>
            <a:off x="4210050" y="3714750"/>
            <a:ext cx="304800" cy="742950"/>
          </a:xfrm>
          <a:prstGeom prst="downArrow">
            <a:avLst/>
          </a:prstGeom>
          <a:solidFill>
            <a:srgbClr val="3D8DFF"/>
          </a:solidFill>
          <a:ln w="0">
            <a:noFill/>
            <a:prstDash val="solid"/>
          </a:ln>
        </p:spPr>
      </p:sp>
      <p:sp>
        <p:nvSpPr>
          <p:cNvPr id="9" name="network-browser">
            <a:extLst>
              <a:ext uri="{FF2B5EF4-FFF2-40B4-BE49-F238E27FC236}">
                <a16:creationId xmlns:a16="http://schemas.microsoft.com/office/drawing/2014/main" id="{2CE13343-4822-422F-BE5F-816F80317874}"/>
              </a:ext>
            </a:extLst>
          </p:cNvPr>
          <p:cNvSpPr>
            <a:spLocks noGrp="1"/>
          </p:cNvSpPr>
          <p:nvPr/>
        </p:nvSpPr>
        <p:spPr>
          <a:xfrm>
            <a:off x="457200" y="2381250"/>
            <a:ext cx="1790700" cy="1200150"/>
          </a:xfrm>
          <a:prstGeom prst="rect">
            <a:avLst/>
          </a:prstGeom>
          <a:solidFill>
            <a:srgbClr val="E6E9ED"/>
          </a:solidFill>
          <a:ln w="0">
            <a:noFill/>
            <a:prstDash val="solid"/>
          </a:ln>
        </p:spPr>
      </p:sp>
      <p:sp>
        <p:nvSpPr>
          <p:cNvPr id="10" name="network-interceptor">
            <a:extLst>
              <a:ext uri="{FF2B5EF4-FFF2-40B4-BE49-F238E27FC236}">
                <a16:creationId xmlns:a16="http://schemas.microsoft.com/office/drawing/2014/main" id="{26E76459-66CA-480D-B8A2-DDE957061DE8}"/>
              </a:ext>
            </a:extLst>
          </p:cNvPr>
          <p:cNvSpPr>
            <a:spLocks noGrp="1"/>
          </p:cNvSpPr>
          <p:nvPr/>
        </p:nvSpPr>
        <p:spPr>
          <a:xfrm>
            <a:off x="3238500" y="2209800"/>
            <a:ext cx="2019300" cy="1543050"/>
          </a:xfrm>
          <a:prstGeom prst="rect">
            <a:avLst/>
          </a:prstGeom>
          <a:solidFill>
            <a:srgbClr val="0B1F3A"/>
          </a:solidFill>
          <a:ln w="0">
            <a:noFill/>
            <a:prstDash val="solid"/>
          </a:ln>
        </p:spPr>
      </p:sp>
      <p:sp>
        <p:nvSpPr>
          <p:cNvPr id="11" name="network-backend">
            <a:extLst>
              <a:ext uri="{FF2B5EF4-FFF2-40B4-BE49-F238E27FC236}">
                <a16:creationId xmlns:a16="http://schemas.microsoft.com/office/drawing/2014/main" id="{D83AFD5A-18A0-4352-B054-1DE4B782AD44}"/>
              </a:ext>
            </a:extLst>
          </p:cNvPr>
          <p:cNvSpPr>
            <a:spLocks noGrp="1"/>
          </p:cNvSpPr>
          <p:nvPr/>
        </p:nvSpPr>
        <p:spPr>
          <a:xfrm>
            <a:off x="6210300" y="2381250"/>
            <a:ext cx="1790700" cy="1200150"/>
          </a:xfrm>
          <a:prstGeom prst="rect">
            <a:avLst/>
          </a:prstGeom>
          <a:solidFill>
            <a:srgbClr val="F8F8F8"/>
          </a:solidFill>
          <a:ln w="9525">
            <a:solidFill>
              <a:srgbClr val="B8BCC4"/>
            </a:solidFill>
            <a:prstDash val="solid"/>
          </a:ln>
        </p:spPr>
      </p:sp>
      <p:sp>
        <p:nvSpPr>
          <p:cNvPr id="12" name="network-json">
            <a:extLst>
              <a:ext uri="{FF2B5EF4-FFF2-40B4-BE49-F238E27FC236}">
                <a16:creationId xmlns:a16="http://schemas.microsoft.com/office/drawing/2014/main" id="{A314160D-9639-4A0B-9904-A3DFD72AE447}"/>
              </a:ext>
            </a:extLst>
          </p:cNvPr>
          <p:cNvSpPr>
            <a:spLocks noGrp="1"/>
          </p:cNvSpPr>
          <p:nvPr/>
        </p:nvSpPr>
        <p:spPr>
          <a:xfrm>
            <a:off x="3143250" y="4514850"/>
            <a:ext cx="2209800" cy="1028700"/>
          </a:xfrm>
          <a:prstGeom prst="rect">
            <a:avLst/>
          </a:prstGeom>
          <a:solidFill>
            <a:srgbClr val="DDF3FC"/>
          </a:solidFill>
          <a:ln w="0">
            <a:noFill/>
            <a:prstDash val="solid"/>
          </a:ln>
        </p:spPr>
      </p:sp>
      <p:sp>
        <p:nvSpPr>
          <p:cNvPr id="13" name="network-browser-text">
            <a:extLst>
              <a:ext uri="{FF2B5EF4-FFF2-40B4-BE49-F238E27FC236}">
                <a16:creationId xmlns:a16="http://schemas.microsoft.com/office/drawing/2014/main" id="{0727AE5C-1822-493B-BFCA-C845B96737F9}"/>
              </a:ext>
            </a:extLst>
          </p:cNvPr>
          <p:cNvSpPr>
            <a:spLocks noGrp="1"/>
          </p:cNvSpPr>
          <p:nvPr/>
        </p:nvSpPr>
        <p:spPr>
          <a:xfrm>
            <a:off x="666750" y="2647950"/>
            <a:ext cx="1371600" cy="666750"/>
          </a:xfrm>
          <a:prstGeom prst="rect">
            <a:avLst/>
          </a:prstGeom>
          <a:noFill/>
          <a:ln w="0">
            <a:noFill/>
            <a:prstDash val="solid"/>
          </a:ln>
        </p:spPr>
        <p:txBody>
          <a:bodyPr wrap="square" lIns="0" tIns="0" rIns="0" bIns="0" anchor="ctr">
            <a:normAutofit fontScale="80098"/>
          </a:bodyPr>
          <a:lstStyle/>
          <a:p>
            <a:pPr algn="ctr">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Browser</a:t>
            </a:r>
          </a:p>
          <a:p>
            <a:pPr algn="ctr">
              <a:lnSpc>
                <a:spcPct val="105000"/>
              </a:lnSpc>
              <a:buNone/>
              <a:defRPr sz="1800" b="1" i="0">
                <a:solidFill>
                  <a:srgbClr val="111827"/>
                </a:solidFill>
                <a:latin typeface="Arial"/>
                <a:ea typeface="Arial"/>
                <a:cs typeface="Arial"/>
              </a:defRPr>
            </a:pPr>
            <a:r>
              <a:rPr sz="1800" b="1" i="0">
                <a:solidFill>
                  <a:srgbClr val="111827"/>
                </a:solidFill>
                <a:latin typeface="Arial"/>
                <a:ea typeface="Arial"/>
                <a:cs typeface="Arial"/>
              </a:rPr>
              <a:t>EShop frontend</a:t>
            </a:r>
          </a:p>
        </p:txBody>
      </p:sp>
      <p:sp>
        <p:nvSpPr>
          <p:cNvPr id="14" name="network-interceptor-text">
            <a:extLst>
              <a:ext uri="{FF2B5EF4-FFF2-40B4-BE49-F238E27FC236}">
                <a16:creationId xmlns:a16="http://schemas.microsoft.com/office/drawing/2014/main" id="{C3941766-37EC-47B7-BB99-7287B0059FEC}"/>
              </a:ext>
            </a:extLst>
          </p:cNvPr>
          <p:cNvSpPr>
            <a:spLocks noGrp="1"/>
          </p:cNvSpPr>
          <p:nvPr/>
        </p:nvSpPr>
        <p:spPr>
          <a:xfrm>
            <a:off x="3467100" y="2590800"/>
            <a:ext cx="1562100" cy="781050"/>
          </a:xfrm>
          <a:prstGeom prst="rect">
            <a:avLst/>
          </a:prstGeom>
          <a:noFill/>
          <a:ln w="0">
            <a:noFill/>
            <a:prstDash val="solid"/>
          </a:ln>
        </p:spPr>
        <p:txBody>
          <a:bodyPr wrap="square" lIns="0" tIns="0" rIns="0" bIns="0" anchor="ctr">
            <a:normAutofit fontScale="90388"/>
          </a:bodyPr>
          <a:lstStyle/>
          <a:p>
            <a:pPr algn="ctr">
              <a:lnSpc>
                <a:spcPct val="105000"/>
              </a:lnSpc>
              <a:buNone/>
              <a:defRPr sz="1800" b="1" i="0">
                <a:solidFill>
                  <a:srgbClr val="FFFFFF"/>
                </a:solidFill>
                <a:latin typeface="Arial"/>
                <a:ea typeface="Arial"/>
                <a:cs typeface="Arial"/>
              </a:defRPr>
            </a:pPr>
            <a:r>
              <a:rPr sz="1800" b="1" i="0">
                <a:solidFill>
                  <a:srgbClr val="FFFFFF"/>
                </a:solidFill>
                <a:latin typeface="Arial"/>
                <a:ea typeface="Arial"/>
                <a:cs typeface="Arial"/>
              </a:rPr>
              <a:t>Playwright route</a:t>
            </a:r>
          </a:p>
          <a:p>
            <a:pPr algn="ctr">
              <a:lnSpc>
                <a:spcPct val="105000"/>
              </a:lnSpc>
              <a:buNone/>
              <a:defRPr sz="1800" b="1" i="0">
                <a:solidFill>
                  <a:srgbClr val="FFFFFF"/>
                </a:solidFill>
                <a:latin typeface="Arial"/>
                <a:ea typeface="Arial"/>
                <a:cs typeface="Arial"/>
              </a:defRPr>
            </a:pPr>
            <a:r>
              <a:rPr sz="1800" b="1" i="0">
                <a:solidFill>
                  <a:srgbClr val="FFFFFF"/>
                </a:solidFill>
                <a:latin typeface="Arial"/>
                <a:ea typeface="Arial"/>
                <a:cs typeface="Arial"/>
              </a:rPr>
              <a:t>interceptor</a:t>
            </a:r>
          </a:p>
        </p:txBody>
      </p:sp>
      <p:sp>
        <p:nvSpPr>
          <p:cNvPr id="15" name="network-backend-text">
            <a:extLst>
              <a:ext uri="{FF2B5EF4-FFF2-40B4-BE49-F238E27FC236}">
                <a16:creationId xmlns:a16="http://schemas.microsoft.com/office/drawing/2014/main" id="{AAFA1B08-1BED-4D47-A4B2-2FF373605B96}"/>
              </a:ext>
            </a:extLst>
          </p:cNvPr>
          <p:cNvSpPr>
            <a:spLocks noGrp="1"/>
          </p:cNvSpPr>
          <p:nvPr/>
        </p:nvSpPr>
        <p:spPr>
          <a:xfrm>
            <a:off x="6419850" y="2647950"/>
            <a:ext cx="1371600" cy="666750"/>
          </a:xfrm>
          <a:prstGeom prst="rect">
            <a:avLst/>
          </a:prstGeom>
          <a:noFill/>
          <a:ln w="0">
            <a:noFill/>
            <a:prstDash val="solid"/>
          </a:ln>
        </p:spPr>
        <p:txBody>
          <a:bodyPr wrap="square" lIns="0" tIns="0" rIns="0" bIns="0" anchor="ctr">
            <a:normAutofit fontScale="98065"/>
          </a:bodyPr>
          <a:lstStyle/>
          <a:p>
            <a:pPr algn="ctr">
              <a:lnSpc>
                <a:spcPct val="105000"/>
              </a:lnSpc>
              <a:buNone/>
              <a:defRPr sz="1800" b="1" i="0">
                <a:solidFill>
                  <a:srgbClr val="5F6B7A"/>
                </a:solidFill>
                <a:latin typeface="Arial"/>
                <a:ea typeface="Arial"/>
                <a:cs typeface="Arial"/>
              </a:defRPr>
            </a:pPr>
            <a:r>
              <a:rPr sz="1800" b="1" i="0">
                <a:solidFill>
                  <a:srgbClr val="5F6B7A"/>
                </a:solidFill>
                <a:latin typeface="Arial"/>
                <a:ea typeface="Arial"/>
                <a:cs typeface="Arial"/>
              </a:rPr>
              <a:t>Backend API</a:t>
            </a:r>
          </a:p>
          <a:p>
            <a:pPr algn="ctr">
              <a:lnSpc>
                <a:spcPct val="105000"/>
              </a:lnSpc>
              <a:buNone/>
              <a:defRPr sz="1800" b="1" i="0">
                <a:solidFill>
                  <a:srgbClr val="5F6B7A"/>
                </a:solidFill>
                <a:latin typeface="Arial"/>
                <a:ea typeface="Arial"/>
                <a:cs typeface="Arial"/>
              </a:defRPr>
            </a:pPr>
            <a:r>
              <a:rPr sz="1800" b="1" i="0">
                <a:solidFill>
                  <a:srgbClr val="5F6B7A"/>
                </a:solidFill>
                <a:latin typeface="Arial"/>
                <a:ea typeface="Arial"/>
                <a:cs typeface="Arial"/>
              </a:rPr>
              <a:t>bypassed</a:t>
            </a:r>
          </a:p>
        </p:txBody>
      </p:sp>
      <p:sp>
        <p:nvSpPr>
          <p:cNvPr id="16" name="backend-x-1">
            <a:extLst>
              <a:ext uri="{FF2B5EF4-FFF2-40B4-BE49-F238E27FC236}">
                <a16:creationId xmlns:a16="http://schemas.microsoft.com/office/drawing/2014/main" id="{D29FB0FC-EB81-4C51-8E6A-3A5877F07413}"/>
              </a:ext>
            </a:extLst>
          </p:cNvPr>
          <p:cNvSpPr>
            <a:spLocks noGrp="1"/>
          </p:cNvSpPr>
          <p:nvPr/>
        </p:nvSpPr>
        <p:spPr>
          <a:xfrm>
            <a:off x="6734175" y="2581275"/>
            <a:ext cx="742950" cy="781050"/>
          </a:xfrm>
          <a:prstGeom prst="line">
            <a:avLst/>
          </a:prstGeom>
          <a:noFill/>
          <a:ln w="47625">
            <a:solidFill>
              <a:srgbClr val="D14343"/>
            </a:solidFill>
            <a:prstDash val="solid"/>
          </a:ln>
        </p:spPr>
      </p:sp>
      <p:sp>
        <p:nvSpPr>
          <p:cNvPr id="17" name="backend-x-2">
            <a:extLst>
              <a:ext uri="{FF2B5EF4-FFF2-40B4-BE49-F238E27FC236}">
                <a16:creationId xmlns:a16="http://schemas.microsoft.com/office/drawing/2014/main" id="{4BE83306-F84D-4232-9B3A-A1FB50BFFDB0}"/>
              </a:ext>
            </a:extLst>
          </p:cNvPr>
          <p:cNvSpPr>
            <a:spLocks noGrp="1"/>
          </p:cNvSpPr>
          <p:nvPr/>
        </p:nvSpPr>
        <p:spPr>
          <a:xfrm flipV="1">
            <a:off x="6734175" y="2581275"/>
            <a:ext cx="742950" cy="781050"/>
          </a:xfrm>
          <a:prstGeom prst="line">
            <a:avLst/>
          </a:prstGeom>
          <a:noFill/>
          <a:ln w="47625">
            <a:solidFill>
              <a:srgbClr val="D14343"/>
            </a:solidFill>
            <a:prstDash val="solid"/>
          </a:ln>
        </p:spPr>
      </p:sp>
      <p:sp>
        <p:nvSpPr>
          <p:cNvPr id="18" name="network-json-text">
            <a:extLst>
              <a:ext uri="{FF2B5EF4-FFF2-40B4-BE49-F238E27FC236}">
                <a16:creationId xmlns:a16="http://schemas.microsoft.com/office/drawing/2014/main" id="{E265C798-B6B1-4435-B332-EA50D889C06F}"/>
              </a:ext>
            </a:extLst>
          </p:cNvPr>
          <p:cNvSpPr>
            <a:spLocks noGrp="1"/>
          </p:cNvSpPr>
          <p:nvPr/>
        </p:nvSpPr>
        <p:spPr>
          <a:xfrm>
            <a:off x="3352800" y="4752975"/>
            <a:ext cx="1790700" cy="552450"/>
          </a:xfrm>
          <a:prstGeom prst="rect">
            <a:avLst/>
          </a:prstGeom>
          <a:noFill/>
          <a:ln w="0">
            <a:noFill/>
            <a:prstDash val="solid"/>
          </a:ln>
        </p:spPr>
        <p:txBody>
          <a:bodyPr wrap="square" lIns="0" tIns="0" rIns="0" bIns="0" anchor="ctr">
            <a:normAutofit/>
          </a:bodyPr>
          <a:lstStyle/>
          <a:p>
            <a:pPr algn="ctr">
              <a:lnSpc>
                <a:spcPct val="105000"/>
              </a:lnSpc>
              <a:buNone/>
              <a:defRPr sz="1650" b="1" i="0">
                <a:solidFill>
                  <a:srgbClr val="0B1F3A"/>
                </a:solidFill>
                <a:latin typeface="Arial"/>
                <a:ea typeface="Arial"/>
                <a:cs typeface="Arial"/>
              </a:defRPr>
            </a:pPr>
            <a:r>
              <a:rPr sz="1650" b="1" i="0">
                <a:solidFill>
                  <a:srgbClr val="0B1F3A"/>
                </a:solidFill>
                <a:latin typeface="Arial"/>
                <a:ea typeface="Arial"/>
                <a:cs typeface="Arial"/>
              </a:rPr>
              <a:t>Mock response</a:t>
            </a:r>
          </a:p>
          <a:p>
            <a:pPr algn="ctr">
              <a:lnSpc>
                <a:spcPct val="105000"/>
              </a:lnSpc>
              <a:buNone/>
              <a:defRPr sz="1650" b="1" i="0">
                <a:solidFill>
                  <a:srgbClr val="0B1F3A"/>
                </a:solidFill>
                <a:latin typeface="Arial"/>
                <a:ea typeface="Arial"/>
                <a:cs typeface="Arial"/>
              </a:defRPr>
            </a:pPr>
            <a:r>
              <a:rPr sz="1650" b="1" i="0">
                <a:solidFill>
                  <a:srgbClr val="0B1F3A"/>
                </a:solidFill>
                <a:latin typeface="Arial"/>
                <a:ea typeface="Arial"/>
                <a:cs typeface="Arial"/>
              </a:rPr>
              <a:t>200 OK + JSON</a:t>
            </a:r>
          </a:p>
        </p:txBody>
      </p:sp>
      <p:sp>
        <p:nvSpPr>
          <p:cNvPr id="19" name="network-apis">
            <a:extLst>
              <a:ext uri="{FF2B5EF4-FFF2-40B4-BE49-F238E27FC236}">
                <a16:creationId xmlns:a16="http://schemas.microsoft.com/office/drawing/2014/main" id="{BD9DE82A-E9AF-4C8E-861C-972EB66DAF84}"/>
              </a:ext>
            </a:extLst>
          </p:cNvPr>
          <p:cNvSpPr>
            <a:spLocks noGrp="1"/>
          </p:cNvSpPr>
          <p:nvPr/>
        </p:nvSpPr>
        <p:spPr>
          <a:xfrm>
            <a:off x="457200" y="5772150"/>
            <a:ext cx="7543800" cy="323850"/>
          </a:xfrm>
          <a:prstGeom prst="rect">
            <a:avLst/>
          </a:prstGeom>
          <a:noFill/>
          <a:ln w="0">
            <a:noFill/>
            <a:prstDash val="solid"/>
          </a:ln>
        </p:spPr>
        <p:txBody>
          <a:bodyPr wrap="square" lIns="0" tIns="0" rIns="0" bIns="0" anchor="t">
            <a:normAutofit/>
          </a:bodyPr>
          <a:lstStyle/>
          <a:p>
            <a:pPr algn="ctr">
              <a:lnSpc>
                <a:spcPct val="105000"/>
              </a:lnSpc>
              <a:buNone/>
              <a:defRPr sz="1500" b="1" i="0">
                <a:solidFill>
                  <a:srgbClr val="3D8DFF"/>
                </a:solidFill>
                <a:latin typeface="Arial"/>
                <a:ea typeface="Arial"/>
                <a:cs typeface="Arial"/>
              </a:defRPr>
            </a:pPr>
            <a:r>
              <a:rPr sz="1500" b="1" i="0">
                <a:solidFill>
                  <a:srgbClr val="3D8DFF"/>
                </a:solidFill>
                <a:latin typeface="Arial"/>
                <a:ea typeface="Arial"/>
                <a:cs typeface="Arial"/>
              </a:rPr>
              <a:t>page.route()  •  route.fulfill()  •  route.continue()  •  route.abort()</a:t>
            </a:r>
          </a:p>
        </p:txBody>
      </p:sp>
      <p:sp>
        <p:nvSpPr>
          <p:cNvPr id="20" name="code-bg">
            <a:extLst>
              <a:ext uri="{FF2B5EF4-FFF2-40B4-BE49-F238E27FC236}">
                <a16:creationId xmlns:a16="http://schemas.microsoft.com/office/drawing/2014/main" id="{D22F7347-A051-40F6-B6B6-C87D75BC63F2}"/>
              </a:ext>
            </a:extLst>
          </p:cNvPr>
          <p:cNvSpPr>
            <a:spLocks noGrp="1"/>
          </p:cNvSpPr>
          <p:nvPr/>
        </p:nvSpPr>
        <p:spPr>
          <a:xfrm>
            <a:off x="8362950" y="1714500"/>
            <a:ext cx="3429000" cy="3590923"/>
          </a:xfrm>
          <a:prstGeom prst="rect">
            <a:avLst/>
          </a:prstGeom>
          <a:solidFill>
            <a:srgbClr val="0B1F3A"/>
          </a:solidFill>
          <a:ln w="0">
            <a:noFill/>
            <a:prstDash val="solid"/>
          </a:ln>
        </p:spPr>
      </p:sp>
      <p:sp>
        <p:nvSpPr>
          <p:cNvPr id="21" name="code-label">
            <a:extLst>
              <a:ext uri="{FF2B5EF4-FFF2-40B4-BE49-F238E27FC236}">
                <a16:creationId xmlns:a16="http://schemas.microsoft.com/office/drawing/2014/main" id="{97DC6F1C-F80D-4C50-BBE2-B25E8C1CBA82}"/>
              </a:ext>
            </a:extLst>
          </p:cNvPr>
          <p:cNvSpPr>
            <a:spLocks noGrp="1"/>
          </p:cNvSpPr>
          <p:nvPr/>
        </p:nvSpPr>
        <p:spPr>
          <a:xfrm>
            <a:off x="8629650" y="1981200"/>
            <a:ext cx="1524000" cy="228600"/>
          </a:xfrm>
          <a:prstGeom prst="rect">
            <a:avLst/>
          </a:prstGeom>
          <a:noFill/>
          <a:ln w="0">
            <a:noFill/>
            <a:prstDash val="solid"/>
          </a:ln>
        </p:spPr>
        <p:txBody>
          <a:bodyPr wrap="square" lIns="0" tIns="0" rIns="0" bIns="0" anchor="t">
            <a:normAutofit/>
          </a:bodyPr>
          <a:lstStyle/>
          <a:p>
            <a:pPr algn="l">
              <a:lnSpc>
                <a:spcPct val="105000"/>
              </a:lnSpc>
              <a:buNone/>
              <a:defRPr sz="1050" b="1" i="0">
                <a:solidFill>
                  <a:srgbClr val="6DCBF4"/>
                </a:solidFill>
                <a:latin typeface="Arial"/>
                <a:ea typeface="Arial"/>
                <a:cs typeface="Arial"/>
              </a:defRPr>
            </a:pPr>
            <a:r>
              <a:rPr sz="1050" b="1" i="0">
                <a:solidFill>
                  <a:srgbClr val="6DCBF4"/>
                </a:solidFill>
                <a:latin typeface="Arial"/>
                <a:ea typeface="Arial"/>
                <a:cs typeface="Arial"/>
              </a:rPr>
              <a:t>TYPESCRIPT</a:t>
            </a:r>
          </a:p>
        </p:txBody>
      </p:sp>
      <p:sp>
        <p:nvSpPr>
          <p:cNvPr id="22" name="code-copy">
            <a:extLst>
              <a:ext uri="{FF2B5EF4-FFF2-40B4-BE49-F238E27FC236}">
                <a16:creationId xmlns:a16="http://schemas.microsoft.com/office/drawing/2014/main" id="{29E1F606-BB6E-4356-95AD-D2D3CDC36C6E}"/>
              </a:ext>
            </a:extLst>
          </p:cNvPr>
          <p:cNvSpPr>
            <a:spLocks noGrp="1"/>
          </p:cNvSpPr>
          <p:nvPr/>
        </p:nvSpPr>
        <p:spPr>
          <a:xfrm>
            <a:off x="8629650" y="2381250"/>
            <a:ext cx="2895600" cy="333375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await page.route(</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'**/api/products',</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async (route) =&gt; {</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await route.fulfill({</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status: 200,</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contentType:</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'application/json',</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body: JSON.stringify(</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mockProducts</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  }</a:t>
            </a:r>
          </a:p>
          <a:p>
            <a:pPr algn="l">
              <a:lnSpc>
                <a:spcPct val="105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a:t>
            </a:r>
          </a:p>
        </p:txBody>
      </p:sp>
    </p:spTree>
    <p:extLst>
      <p:ext uri="{BB962C8B-B14F-4D97-AF65-F5344CB8AC3E}">
        <p14:creationId xmlns:p14="http://schemas.microsoft.com/office/powerpoint/2010/main" val="1253669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11">
            <a:extLst>
              <a:ext uri="{FF2B5EF4-FFF2-40B4-BE49-F238E27FC236}">
                <a16:creationId xmlns:a16="http://schemas.microsoft.com/office/drawing/2014/main" id="{5AB476DF-FAB2-4A6A-AE10-F018DFC1ADD7}"/>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PRACTICAL DEMO</a:t>
            </a:r>
          </a:p>
        </p:txBody>
      </p:sp>
      <p:sp>
        <p:nvSpPr>
          <p:cNvPr id="2" name="title-11">
            <a:extLst>
              <a:ext uri="{FF2B5EF4-FFF2-40B4-BE49-F238E27FC236}">
                <a16:creationId xmlns:a16="http://schemas.microsoft.com/office/drawing/2014/main" id="{436D18DD-CD5F-49D6-A037-C568822F914D}"/>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The EShop pilot targets three business-critical flows</a:t>
            </a:r>
          </a:p>
        </p:txBody>
      </p:sp>
      <p:sp>
        <p:nvSpPr>
          <p:cNvPr id="3" name="title-rule-11">
            <a:extLst>
              <a:ext uri="{FF2B5EF4-FFF2-40B4-BE49-F238E27FC236}">
                <a16:creationId xmlns:a16="http://schemas.microsoft.com/office/drawing/2014/main" id="{58F0E81A-0671-4FA0-ACFD-20FEABCE27BF}"/>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11">
            <a:extLst>
              <a:ext uri="{FF2B5EF4-FFF2-40B4-BE49-F238E27FC236}">
                <a16:creationId xmlns:a16="http://schemas.microsoft.com/office/drawing/2014/main" id="{E6D1FAA6-C3E8-4C7A-B75F-4ADEA5EA9A5E}"/>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11">
            <a:extLst>
              <a:ext uri="{FF2B5EF4-FFF2-40B4-BE49-F238E27FC236}">
                <a16:creationId xmlns:a16="http://schemas.microsoft.com/office/drawing/2014/main" id="{94C0F4DD-A0BF-412F-B904-43353F2FA839}"/>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11</a:t>
            </a:r>
          </a:p>
        </p:txBody>
      </p:sp>
      <p:pic>
        <p:nvPicPr>
          <p:cNvPr id="22" name="Picture 21"/>
          <p:cNvPicPr>
            <a:picLocks noChangeAspect="1"/>
          </p:cNvPicPr>
          <p:nvPr/>
        </p:nvPicPr>
        <p:blipFill>
          <a:blip r:embed="rId3"/>
          <a:srcRect l="2807" r="2807"/>
          <a:stretch>
            <a:fillRect/>
          </a:stretch>
        </p:blipFill>
        <p:spPr>
          <a:xfrm>
            <a:off x="400050" y="1695450"/>
            <a:ext cx="7000875" cy="4000500"/>
          </a:xfrm>
          <a:prstGeom prst="roundRect">
            <a:avLst>
              <a:gd name="adj" fmla="val 1905"/>
            </a:avLst>
          </a:prstGeom>
        </p:spPr>
      </p:pic>
      <p:sp>
        <p:nvSpPr>
          <p:cNvPr id="7" name="demo-caption">
            <a:extLst>
              <a:ext uri="{FF2B5EF4-FFF2-40B4-BE49-F238E27FC236}">
                <a16:creationId xmlns:a16="http://schemas.microsoft.com/office/drawing/2014/main" id="{ECF69AA7-51AE-4EE1-976D-6437980A32CB}"/>
              </a:ext>
            </a:extLst>
          </p:cNvPr>
          <p:cNvSpPr>
            <a:spLocks noGrp="1"/>
          </p:cNvSpPr>
          <p:nvPr/>
        </p:nvSpPr>
        <p:spPr>
          <a:xfrm>
            <a:off x="400050" y="5848350"/>
            <a:ext cx="7000875" cy="361950"/>
          </a:xfrm>
          <a:prstGeom prst="rect">
            <a:avLst/>
          </a:prstGeom>
          <a:noFill/>
          <a:ln w="0">
            <a:noFill/>
            <a:prstDash val="solid"/>
          </a:ln>
        </p:spPr>
        <p:txBody>
          <a:bodyPr wrap="square" lIns="0" tIns="0" rIns="0" bIns="0" anchor="t">
            <a:normAutofit fontScale="88702"/>
          </a:bodyPr>
          <a:lstStyle/>
          <a:p>
            <a:pPr algn="l">
              <a:lnSpc>
                <a:spcPct val="105000"/>
              </a:lnSpc>
              <a:buNone/>
              <a:defRPr sz="1275" b="0" i="1">
                <a:solidFill>
                  <a:srgbClr val="5F6B7A"/>
                </a:solidFill>
                <a:latin typeface="Arial"/>
                <a:ea typeface="Arial"/>
                <a:cs typeface="Arial"/>
              </a:defRPr>
            </a:pPr>
            <a:r>
              <a:rPr sz="1275" b="0" i="1">
                <a:solidFill>
                  <a:srgbClr val="5F6B7A"/>
                </a:solidFill>
                <a:latin typeface="Arial"/>
                <a:ea typeface="Arial"/>
                <a:cs typeface="Arial"/>
              </a:rPr>
              <a:t>Existing evidence: a passed Playwright trace for the EShop login flow. One run is evidence of execution—not proof of long-run stability.</a:t>
            </a:r>
          </a:p>
        </p:txBody>
      </p:sp>
      <p:sp>
        <p:nvSpPr>
          <p:cNvPr id="8" name="flow-code-0">
            <a:extLst>
              <a:ext uri="{FF2B5EF4-FFF2-40B4-BE49-F238E27FC236}">
                <a16:creationId xmlns:a16="http://schemas.microsoft.com/office/drawing/2014/main" id="{36302B88-DDD4-41EE-86F5-C522CEC235E6}"/>
              </a:ext>
            </a:extLst>
          </p:cNvPr>
          <p:cNvSpPr>
            <a:spLocks noGrp="1"/>
          </p:cNvSpPr>
          <p:nvPr/>
        </p:nvSpPr>
        <p:spPr>
          <a:xfrm>
            <a:off x="7858125" y="1809750"/>
            <a:ext cx="85725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FR-02</a:t>
            </a:r>
          </a:p>
        </p:txBody>
      </p:sp>
      <p:sp>
        <p:nvSpPr>
          <p:cNvPr id="9" name="flow-title-0">
            <a:extLst>
              <a:ext uri="{FF2B5EF4-FFF2-40B4-BE49-F238E27FC236}">
                <a16:creationId xmlns:a16="http://schemas.microsoft.com/office/drawing/2014/main" id="{9C7296B0-58CB-4BEF-A865-59652B442A9E}"/>
              </a:ext>
            </a:extLst>
          </p:cNvPr>
          <p:cNvSpPr>
            <a:spLocks noGrp="1"/>
          </p:cNvSpPr>
          <p:nvPr/>
        </p:nvSpPr>
        <p:spPr>
          <a:xfrm>
            <a:off x="7858125" y="2133600"/>
            <a:ext cx="3524250" cy="32385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111827"/>
                </a:solidFill>
                <a:latin typeface="Arial"/>
                <a:ea typeface="Arial"/>
                <a:cs typeface="Arial"/>
              </a:defRPr>
            </a:pPr>
            <a:r>
              <a:rPr sz="1875" b="1" i="0">
                <a:solidFill>
                  <a:srgbClr val="111827"/>
                </a:solidFill>
                <a:latin typeface="Arial"/>
                <a:ea typeface="Arial"/>
                <a:cs typeface="Arial"/>
              </a:rPr>
              <a:t>Login &amp; account lockout</a:t>
            </a:r>
          </a:p>
        </p:txBody>
      </p:sp>
      <p:sp>
        <p:nvSpPr>
          <p:cNvPr id="10" name="flow-body-0">
            <a:extLst>
              <a:ext uri="{FF2B5EF4-FFF2-40B4-BE49-F238E27FC236}">
                <a16:creationId xmlns:a16="http://schemas.microsoft.com/office/drawing/2014/main" id="{731E6B9A-EA56-4DF6-BEFA-84774EB41970}"/>
              </a:ext>
            </a:extLst>
          </p:cNvPr>
          <p:cNvSpPr>
            <a:spLocks noGrp="1"/>
          </p:cNvSpPr>
          <p:nvPr/>
        </p:nvSpPr>
        <p:spPr>
          <a:xfrm>
            <a:off x="7858125" y="2533650"/>
            <a:ext cx="3524250" cy="5334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F6B7A"/>
                </a:solidFill>
                <a:latin typeface="Arial"/>
                <a:ea typeface="Arial"/>
                <a:cs typeface="Arial"/>
              </a:defRPr>
            </a:pPr>
            <a:r>
              <a:rPr sz="1350" b="0" i="0">
                <a:solidFill>
                  <a:srgbClr val="5F6B7A"/>
                </a:solidFill>
                <a:latin typeface="Arial"/>
                <a:ea typeface="Arial"/>
                <a:cs typeface="Arial"/>
              </a:rPr>
              <a:t>Authentication success, invalid input, and temporary lock behavior.</a:t>
            </a:r>
          </a:p>
        </p:txBody>
      </p:sp>
      <p:sp>
        <p:nvSpPr>
          <p:cNvPr id="11" name="flow-code-1">
            <a:extLst>
              <a:ext uri="{FF2B5EF4-FFF2-40B4-BE49-F238E27FC236}">
                <a16:creationId xmlns:a16="http://schemas.microsoft.com/office/drawing/2014/main" id="{78EE4326-6AD8-45EE-97F9-D9000F870EF7}"/>
              </a:ext>
            </a:extLst>
          </p:cNvPr>
          <p:cNvSpPr>
            <a:spLocks noGrp="1"/>
          </p:cNvSpPr>
          <p:nvPr/>
        </p:nvSpPr>
        <p:spPr>
          <a:xfrm>
            <a:off x="7858125" y="3162300"/>
            <a:ext cx="85725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FR-07</a:t>
            </a:r>
          </a:p>
        </p:txBody>
      </p:sp>
      <p:sp>
        <p:nvSpPr>
          <p:cNvPr id="12" name="flow-title-1">
            <a:extLst>
              <a:ext uri="{FF2B5EF4-FFF2-40B4-BE49-F238E27FC236}">
                <a16:creationId xmlns:a16="http://schemas.microsoft.com/office/drawing/2014/main" id="{AAA6CBAE-E3F2-49AF-97A5-CE01912B2024}"/>
              </a:ext>
            </a:extLst>
          </p:cNvPr>
          <p:cNvSpPr>
            <a:spLocks noGrp="1"/>
          </p:cNvSpPr>
          <p:nvPr/>
        </p:nvSpPr>
        <p:spPr>
          <a:xfrm>
            <a:off x="7858125" y="3486150"/>
            <a:ext cx="3524250" cy="32385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111827"/>
                </a:solidFill>
                <a:latin typeface="Arial"/>
                <a:ea typeface="Arial"/>
                <a:cs typeface="Arial"/>
              </a:defRPr>
            </a:pPr>
            <a:r>
              <a:rPr sz="1875" b="1" i="0">
                <a:solidFill>
                  <a:srgbClr val="111827"/>
                </a:solidFill>
                <a:latin typeface="Arial"/>
                <a:ea typeface="Arial"/>
                <a:cs typeface="Arial"/>
              </a:rPr>
              <a:t>Add to cart</a:t>
            </a:r>
          </a:p>
        </p:txBody>
      </p:sp>
      <p:sp>
        <p:nvSpPr>
          <p:cNvPr id="13" name="flow-body-1">
            <a:extLst>
              <a:ext uri="{FF2B5EF4-FFF2-40B4-BE49-F238E27FC236}">
                <a16:creationId xmlns:a16="http://schemas.microsoft.com/office/drawing/2014/main" id="{6514D061-6FFB-442E-A38D-B997A39E9D1D}"/>
              </a:ext>
            </a:extLst>
          </p:cNvPr>
          <p:cNvSpPr>
            <a:spLocks noGrp="1"/>
          </p:cNvSpPr>
          <p:nvPr/>
        </p:nvSpPr>
        <p:spPr>
          <a:xfrm>
            <a:off x="7858125" y="3886200"/>
            <a:ext cx="3524250" cy="5334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F6B7A"/>
                </a:solidFill>
                <a:latin typeface="Arial"/>
                <a:ea typeface="Arial"/>
                <a:cs typeface="Arial"/>
              </a:defRPr>
            </a:pPr>
            <a:r>
              <a:rPr sz="1350" b="0" i="0">
                <a:solidFill>
                  <a:srgbClr val="5F6B7A"/>
                </a:solidFill>
                <a:latin typeface="Arial"/>
                <a:ea typeface="Arial"/>
                <a:cs typeface="Arial"/>
              </a:rPr>
              <a:t>Cart state, quantity rules, duplicate items, and removal.</a:t>
            </a:r>
          </a:p>
        </p:txBody>
      </p:sp>
      <p:sp>
        <p:nvSpPr>
          <p:cNvPr id="14" name="flow-code-2">
            <a:extLst>
              <a:ext uri="{FF2B5EF4-FFF2-40B4-BE49-F238E27FC236}">
                <a16:creationId xmlns:a16="http://schemas.microsoft.com/office/drawing/2014/main" id="{56CA9E09-D512-465C-9A0E-E68AB74EF022}"/>
              </a:ext>
            </a:extLst>
          </p:cNvPr>
          <p:cNvSpPr>
            <a:spLocks noGrp="1"/>
          </p:cNvSpPr>
          <p:nvPr/>
        </p:nvSpPr>
        <p:spPr>
          <a:xfrm>
            <a:off x="7858125" y="4514850"/>
            <a:ext cx="857250" cy="266700"/>
          </a:xfrm>
          <a:prstGeom prst="rect">
            <a:avLst/>
          </a:prstGeom>
          <a:noFill/>
          <a:ln w="0">
            <a:noFill/>
            <a:prstDash val="solid"/>
          </a:ln>
        </p:spPr>
        <p:txBody>
          <a:bodyPr wrap="square" lIns="0" tIns="0" rIns="0" bIns="0" anchor="t">
            <a:normAutofit/>
          </a:bodyPr>
          <a:lstStyle/>
          <a:p>
            <a:pPr algn="l">
              <a:lnSpc>
                <a:spcPct val="105000"/>
              </a:lnSpc>
              <a:buNone/>
              <a:defRPr sz="1200" b="1" i="0">
                <a:solidFill>
                  <a:srgbClr val="3D8DFF"/>
                </a:solidFill>
                <a:latin typeface="Arial"/>
                <a:ea typeface="Arial"/>
                <a:cs typeface="Arial"/>
              </a:defRPr>
            </a:pPr>
            <a:r>
              <a:rPr sz="1200" b="1" i="0">
                <a:solidFill>
                  <a:srgbClr val="3D8DFF"/>
                </a:solidFill>
                <a:latin typeface="Arial"/>
                <a:ea typeface="Arial"/>
                <a:cs typeface="Arial"/>
              </a:rPr>
              <a:t>FR-08</a:t>
            </a:r>
          </a:p>
        </p:txBody>
      </p:sp>
      <p:sp>
        <p:nvSpPr>
          <p:cNvPr id="15" name="flow-title-2">
            <a:extLst>
              <a:ext uri="{FF2B5EF4-FFF2-40B4-BE49-F238E27FC236}">
                <a16:creationId xmlns:a16="http://schemas.microsoft.com/office/drawing/2014/main" id="{23A0295D-75BC-4E02-BEB9-88ED97DDCA3F}"/>
              </a:ext>
            </a:extLst>
          </p:cNvPr>
          <p:cNvSpPr>
            <a:spLocks noGrp="1"/>
          </p:cNvSpPr>
          <p:nvPr/>
        </p:nvSpPr>
        <p:spPr>
          <a:xfrm>
            <a:off x="7858125" y="4838700"/>
            <a:ext cx="3524250" cy="323850"/>
          </a:xfrm>
          <a:prstGeom prst="rect">
            <a:avLst/>
          </a:prstGeom>
          <a:noFill/>
          <a:ln w="0">
            <a:noFill/>
            <a:prstDash val="solid"/>
          </a:ln>
        </p:spPr>
        <p:txBody>
          <a:bodyPr wrap="square" lIns="0" tIns="0" rIns="0" bIns="0" anchor="t">
            <a:normAutofit/>
          </a:bodyPr>
          <a:lstStyle/>
          <a:p>
            <a:pPr algn="l">
              <a:lnSpc>
                <a:spcPct val="105000"/>
              </a:lnSpc>
              <a:buNone/>
              <a:defRPr sz="1875" b="1" i="0">
                <a:solidFill>
                  <a:srgbClr val="111827"/>
                </a:solidFill>
                <a:latin typeface="Arial"/>
                <a:ea typeface="Arial"/>
                <a:cs typeface="Arial"/>
              </a:defRPr>
            </a:pPr>
            <a:r>
              <a:rPr sz="1875" b="1" i="0">
                <a:solidFill>
                  <a:srgbClr val="111827"/>
                </a:solidFill>
                <a:latin typeface="Arial"/>
                <a:ea typeface="Arial"/>
                <a:cs typeface="Arial"/>
              </a:rPr>
              <a:t>Checkout &amp; coupon</a:t>
            </a:r>
          </a:p>
        </p:txBody>
      </p:sp>
      <p:sp>
        <p:nvSpPr>
          <p:cNvPr id="16" name="flow-body-2">
            <a:extLst>
              <a:ext uri="{FF2B5EF4-FFF2-40B4-BE49-F238E27FC236}">
                <a16:creationId xmlns:a16="http://schemas.microsoft.com/office/drawing/2014/main" id="{B1DB8E39-EC18-46B9-880F-073627190272}"/>
              </a:ext>
            </a:extLst>
          </p:cNvPr>
          <p:cNvSpPr>
            <a:spLocks noGrp="1"/>
          </p:cNvSpPr>
          <p:nvPr/>
        </p:nvSpPr>
        <p:spPr>
          <a:xfrm>
            <a:off x="7858125" y="5238750"/>
            <a:ext cx="3524250" cy="533400"/>
          </a:xfrm>
          <a:prstGeom prst="rect">
            <a:avLst/>
          </a:prstGeom>
          <a:noFill/>
          <a:ln w="0">
            <a:noFill/>
            <a:prstDash val="solid"/>
          </a:ln>
        </p:spPr>
        <p:txBody>
          <a:bodyPr wrap="square" lIns="0" tIns="0" rIns="0" bIns="0" anchor="t">
            <a:normAutofit/>
          </a:bodyPr>
          <a:lstStyle/>
          <a:p>
            <a:pPr algn="l">
              <a:lnSpc>
                <a:spcPct val="105000"/>
              </a:lnSpc>
              <a:buNone/>
              <a:defRPr sz="1350" b="0" i="0">
                <a:solidFill>
                  <a:srgbClr val="5F6B7A"/>
                </a:solidFill>
                <a:latin typeface="Arial"/>
                <a:ea typeface="Arial"/>
                <a:cs typeface="Arial"/>
              </a:defRPr>
            </a:pPr>
            <a:r>
              <a:rPr sz="1350" b="0" i="0">
                <a:solidFill>
                  <a:srgbClr val="5F6B7A"/>
                </a:solidFill>
                <a:latin typeface="Arial"/>
                <a:ea typeface="Arial"/>
                <a:cs typeface="Arial"/>
              </a:rPr>
              <a:t>Access control, discount rules, and payment confirmation.</a:t>
            </a:r>
          </a:p>
        </p:txBody>
      </p:sp>
    </p:spTree>
    <p:extLst>
      <p:ext uri="{BB962C8B-B14F-4D97-AF65-F5344CB8AC3E}">
        <p14:creationId xmlns:p14="http://schemas.microsoft.com/office/powerpoint/2010/main" val="1017423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ction-12">
            <a:extLst>
              <a:ext uri="{FF2B5EF4-FFF2-40B4-BE49-F238E27FC236}">
                <a16:creationId xmlns:a16="http://schemas.microsoft.com/office/drawing/2014/main" id="{625B9D1F-0044-4F0B-9F38-1008E1F82794}"/>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PILOT PROTOCOL</a:t>
            </a:r>
          </a:p>
        </p:txBody>
      </p:sp>
      <p:sp>
        <p:nvSpPr>
          <p:cNvPr id="2" name="title-12">
            <a:extLst>
              <a:ext uri="{FF2B5EF4-FFF2-40B4-BE49-F238E27FC236}">
                <a16:creationId xmlns:a16="http://schemas.microsoft.com/office/drawing/2014/main" id="{5C195E13-58B1-46D0-A699-0D25E8CB9000}"/>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Measure the pilot before claiming speed or stability</a:t>
            </a:r>
          </a:p>
        </p:txBody>
      </p:sp>
      <p:sp>
        <p:nvSpPr>
          <p:cNvPr id="3" name="title-rule-12">
            <a:extLst>
              <a:ext uri="{FF2B5EF4-FFF2-40B4-BE49-F238E27FC236}">
                <a16:creationId xmlns:a16="http://schemas.microsoft.com/office/drawing/2014/main" id="{C52AAE87-07D2-4EF0-B660-10CE1B35EFB6}"/>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12">
            <a:extLst>
              <a:ext uri="{FF2B5EF4-FFF2-40B4-BE49-F238E27FC236}">
                <a16:creationId xmlns:a16="http://schemas.microsoft.com/office/drawing/2014/main" id="{A94ECE5B-E8A6-40A0-AED0-14F44872A19D}"/>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12">
            <a:extLst>
              <a:ext uri="{FF2B5EF4-FFF2-40B4-BE49-F238E27FC236}">
                <a16:creationId xmlns:a16="http://schemas.microsoft.com/office/drawing/2014/main" id="{BB341720-0178-411D-9729-B96E357165C5}"/>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12</a:t>
            </a:r>
          </a:p>
        </p:txBody>
      </p:sp>
      <p:sp>
        <p:nvSpPr>
          <p:cNvPr id="6" name="measurement-status">
            <a:extLst>
              <a:ext uri="{FF2B5EF4-FFF2-40B4-BE49-F238E27FC236}">
                <a16:creationId xmlns:a16="http://schemas.microsoft.com/office/drawing/2014/main" id="{F0808298-38E7-43F0-AB3A-6BC398287788}"/>
              </a:ext>
            </a:extLst>
          </p:cNvPr>
          <p:cNvSpPr>
            <a:spLocks noGrp="1"/>
          </p:cNvSpPr>
          <p:nvPr/>
        </p:nvSpPr>
        <p:spPr>
          <a:xfrm>
            <a:off x="400050" y="1562100"/>
            <a:ext cx="11391900" cy="552450"/>
          </a:xfrm>
          <a:prstGeom prst="rect">
            <a:avLst/>
          </a:prstGeom>
          <a:solidFill>
            <a:srgbClr val="FFF4E5"/>
          </a:solidFill>
          <a:ln w="0">
            <a:noFill/>
            <a:prstDash val="solid"/>
          </a:ln>
        </p:spPr>
      </p:sp>
      <p:sp>
        <p:nvSpPr>
          <p:cNvPr id="7" name="measurement-status-text">
            <a:extLst>
              <a:ext uri="{FF2B5EF4-FFF2-40B4-BE49-F238E27FC236}">
                <a16:creationId xmlns:a16="http://schemas.microsoft.com/office/drawing/2014/main" id="{D2271C65-10A3-46BE-9DED-83EBD0A36DAB}"/>
              </a:ext>
            </a:extLst>
          </p:cNvPr>
          <p:cNvSpPr>
            <a:spLocks noGrp="1"/>
          </p:cNvSpPr>
          <p:nvPr/>
        </p:nvSpPr>
        <p:spPr>
          <a:xfrm>
            <a:off x="628650" y="1676400"/>
            <a:ext cx="10934700" cy="323850"/>
          </a:xfrm>
          <a:prstGeom prst="rect">
            <a:avLst/>
          </a:prstGeom>
          <a:noFill/>
          <a:ln w="0">
            <a:noFill/>
            <a:prstDash val="solid"/>
          </a:ln>
        </p:spPr>
        <p:txBody>
          <a:bodyPr wrap="square" lIns="0" tIns="0" rIns="0" bIns="0" anchor="ctr">
            <a:normAutofit/>
          </a:bodyPr>
          <a:lstStyle/>
          <a:p>
            <a:pPr algn="ctr">
              <a:lnSpc>
                <a:spcPct val="105000"/>
              </a:lnSpc>
              <a:buNone/>
              <a:defRPr sz="1575" b="1" i="0">
                <a:solidFill>
                  <a:srgbClr val="B7791F"/>
                </a:solidFill>
                <a:latin typeface="Arial"/>
                <a:ea typeface="Arial"/>
                <a:cs typeface="Arial"/>
              </a:defRPr>
            </a:pPr>
            <a:r>
              <a:rPr sz="1575" b="1" i="0">
                <a:solidFill>
                  <a:srgbClr val="B7791F"/>
                </a:solidFill>
                <a:latin typeface="Arial"/>
                <a:ea typeface="Arial"/>
                <a:cs typeface="Arial"/>
              </a:rPr>
              <a:t>STATUS: measurement plan — no synthetic execution times or flakiness rates are presented as results.</a:t>
            </a:r>
          </a:p>
        </p:txBody>
      </p:sp>
      <p:graphicFrame>
        <p:nvGraphicFramePr>
          <p:cNvPr id="17" name="Table 16"/>
          <p:cNvGraphicFramePr/>
          <p:nvPr/>
        </p:nvGraphicFramePr>
        <p:xfrm>
          <a:off x="400050" y="2343150"/>
          <a:ext cx="11391900" cy="3390898"/>
        </p:xfrm>
        <a:graphic>
          <a:graphicData uri="http://schemas.openxmlformats.org/drawingml/2006/table">
            <a:tbl>
              <a:tblPr/>
              <a:tblGrid>
                <a:gridCol w="2428875">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629150">
                  <a:extLst>
                    <a:ext uri="{9D8B030D-6E8A-4147-A177-3AD203B41FA5}">
                      <a16:colId xmlns:a16="http://schemas.microsoft.com/office/drawing/2014/main" val="20002"/>
                    </a:ext>
                  </a:extLst>
                </a:gridCol>
              </a:tblGrid>
              <a:tr h="484414">
                <a:tc>
                  <a:txBody>
                    <a:bodyPr/>
                    <a:lstStyle/>
                    <a:p>
                      <a:pPr algn="l"/>
                      <a:r>
                        <a:rPr sz="1275" b="1">
                          <a:solidFill>
                            <a:srgbClr val="FFFFFF"/>
                          </a:solidFill>
                          <a:latin typeface="Arial"/>
                          <a:ea typeface="Arial"/>
                          <a:cs typeface="Arial"/>
                        </a:rPr>
                        <a:t>Metric</a:t>
                      </a:r>
                    </a:p>
                  </a:txBody>
                  <a:tcPr>
                    <a:solidFill>
                      <a:srgbClr val="0B1F3A"/>
                    </a:solidFill>
                  </a:tcPr>
                </a:tc>
                <a:tc>
                  <a:txBody>
                    <a:bodyPr/>
                    <a:lstStyle/>
                    <a:p>
                      <a:pPr algn="l"/>
                      <a:r>
                        <a:rPr sz="1275" b="1">
                          <a:solidFill>
                            <a:srgbClr val="FFFFFF"/>
                          </a:solidFill>
                          <a:latin typeface="Arial"/>
                          <a:ea typeface="Arial"/>
                          <a:cs typeface="Arial"/>
                        </a:rPr>
                        <a:t>How to measure</a:t>
                      </a:r>
                    </a:p>
                  </a:txBody>
                  <a:tcPr>
                    <a:solidFill>
                      <a:srgbClr val="0B1F3A"/>
                    </a:solidFill>
                  </a:tcPr>
                </a:tc>
                <a:tc>
                  <a:txBody>
                    <a:bodyPr/>
                    <a:lstStyle/>
                    <a:p>
                      <a:pPr algn="l"/>
                      <a:r>
                        <a:rPr sz="1275" b="1">
                          <a:solidFill>
                            <a:srgbClr val="FFFFFF"/>
                          </a:solidFill>
                          <a:latin typeface="Arial"/>
                          <a:ea typeface="Arial"/>
                          <a:cs typeface="Arial"/>
                        </a:rPr>
                        <a:t>Decision signal</a:t>
                      </a:r>
                    </a:p>
                  </a:txBody>
                  <a:tcPr>
                    <a:solidFill>
                      <a:srgbClr val="0B1F3A"/>
                    </a:solidFill>
                  </a:tcPr>
                </a:tc>
                <a:extLst>
                  <a:ext uri="{0D108BD9-81ED-4DB2-BD59-A6C34878D82A}">
                    <a16:rowId xmlns:a16="http://schemas.microsoft.com/office/drawing/2014/main" val="10000"/>
                  </a:ext>
                </a:extLst>
              </a:tr>
              <a:tr h="484414">
                <a:tc>
                  <a:txBody>
                    <a:bodyPr/>
                    <a:lstStyle/>
                    <a:p>
                      <a:pPr algn="l"/>
                      <a:r>
                        <a:rPr sz="1275" b="1">
                          <a:solidFill>
                            <a:srgbClr val="111827"/>
                          </a:solidFill>
                          <a:latin typeface="Arial"/>
                          <a:ea typeface="Arial"/>
                          <a:cs typeface="Arial"/>
                        </a:rPr>
                        <a:t>Functional correctness</a:t>
                      </a:r>
                    </a:p>
                  </a:txBody>
                  <a:tcPr>
                    <a:solidFill>
                      <a:srgbClr val="FFFFFF"/>
                    </a:solidFill>
                  </a:tcPr>
                </a:tc>
                <a:tc>
                  <a:txBody>
                    <a:bodyPr/>
                    <a:lstStyle/>
                    <a:p>
                      <a:pPr algn="l"/>
                      <a:r>
                        <a:rPr sz="1275" b="0">
                          <a:solidFill>
                            <a:srgbClr val="111827"/>
                          </a:solidFill>
                          <a:latin typeface="Arial"/>
                          <a:ea typeface="Arial"/>
                          <a:cs typeface="Arial"/>
                        </a:rPr>
                        <a:t>Check the required business state</a:t>
                      </a:r>
                    </a:p>
                  </a:txBody>
                  <a:tcPr>
                    <a:solidFill>
                      <a:srgbClr val="FFFFFF"/>
                    </a:solidFill>
                  </a:tcPr>
                </a:tc>
                <a:tc>
                  <a:txBody>
                    <a:bodyPr/>
                    <a:lstStyle/>
                    <a:p>
                      <a:pPr algn="l"/>
                      <a:r>
                        <a:rPr sz="1275" b="0">
                          <a:solidFill>
                            <a:srgbClr val="111827"/>
                          </a:solidFill>
                          <a:latin typeface="Arial"/>
                          <a:ea typeface="Arial"/>
                          <a:cs typeface="Arial"/>
                        </a:rPr>
                        <a:t>Assertion matches the requirement</a:t>
                      </a:r>
                    </a:p>
                  </a:txBody>
                  <a:tcPr>
                    <a:solidFill>
                      <a:srgbClr val="FFFFFF"/>
                    </a:solidFill>
                  </a:tcPr>
                </a:tc>
                <a:extLst>
                  <a:ext uri="{0D108BD9-81ED-4DB2-BD59-A6C34878D82A}">
                    <a16:rowId xmlns:a16="http://schemas.microsoft.com/office/drawing/2014/main" val="10001"/>
                  </a:ext>
                </a:extLst>
              </a:tr>
              <a:tr h="484414">
                <a:tc>
                  <a:txBody>
                    <a:bodyPr/>
                    <a:lstStyle/>
                    <a:p>
                      <a:pPr algn="l"/>
                      <a:r>
                        <a:rPr sz="1275" b="1">
                          <a:solidFill>
                            <a:srgbClr val="111827"/>
                          </a:solidFill>
                          <a:latin typeface="Arial"/>
                          <a:ea typeface="Arial"/>
                          <a:cs typeface="Arial"/>
                        </a:rPr>
                        <a:t>Repeatability</a:t>
                      </a:r>
                    </a:p>
                  </a:txBody>
                  <a:tcPr>
                    <a:solidFill>
                      <a:srgbClr val="F7F8FA"/>
                    </a:solidFill>
                  </a:tcPr>
                </a:tc>
                <a:tc>
                  <a:txBody>
                    <a:bodyPr/>
                    <a:lstStyle/>
                    <a:p>
                      <a:pPr algn="l"/>
                      <a:r>
                        <a:rPr sz="1275" b="0">
                          <a:solidFill>
                            <a:srgbClr val="111827"/>
                          </a:solidFill>
                          <a:latin typeface="Arial"/>
                          <a:ea typeface="Arial"/>
                          <a:cs typeface="Arial"/>
                        </a:rPr>
                        <a:t>Run the same flow 10 times</a:t>
                      </a:r>
                    </a:p>
                  </a:txBody>
                  <a:tcPr>
                    <a:solidFill>
                      <a:srgbClr val="F7F8FA"/>
                    </a:solidFill>
                  </a:tcPr>
                </a:tc>
                <a:tc>
                  <a:txBody>
                    <a:bodyPr/>
                    <a:lstStyle/>
                    <a:p>
                      <a:pPr algn="l"/>
                      <a:r>
                        <a:rPr sz="1275" b="0">
                          <a:solidFill>
                            <a:srgbClr val="111827"/>
                          </a:solidFill>
                          <a:latin typeface="Arial"/>
                          <a:ea typeface="Arial"/>
                          <a:cs typeface="Arial"/>
                        </a:rPr>
                        <a:t>Stable pass rate under fixed conditions</a:t>
                      </a:r>
                    </a:p>
                  </a:txBody>
                  <a:tcPr>
                    <a:solidFill>
                      <a:srgbClr val="F7F8FA"/>
                    </a:solidFill>
                  </a:tcPr>
                </a:tc>
                <a:extLst>
                  <a:ext uri="{0D108BD9-81ED-4DB2-BD59-A6C34878D82A}">
                    <a16:rowId xmlns:a16="http://schemas.microsoft.com/office/drawing/2014/main" val="10002"/>
                  </a:ext>
                </a:extLst>
              </a:tr>
              <a:tr h="484414">
                <a:tc>
                  <a:txBody>
                    <a:bodyPr/>
                    <a:lstStyle/>
                    <a:p>
                      <a:pPr algn="l"/>
                      <a:r>
                        <a:rPr sz="1275" b="1">
                          <a:solidFill>
                            <a:srgbClr val="111827"/>
                          </a:solidFill>
                          <a:latin typeface="Arial"/>
                          <a:ea typeface="Arial"/>
                          <a:cs typeface="Arial"/>
                        </a:rPr>
                        <a:t>Flakiness</a:t>
                      </a:r>
                    </a:p>
                  </a:txBody>
                  <a:tcPr>
                    <a:solidFill>
                      <a:srgbClr val="FFFFFF"/>
                    </a:solidFill>
                  </a:tcPr>
                </a:tc>
                <a:tc>
                  <a:txBody>
                    <a:bodyPr/>
                    <a:lstStyle/>
                    <a:p>
                      <a:pPr algn="l"/>
                      <a:r>
                        <a:rPr sz="1275" b="0">
                          <a:solidFill>
                            <a:srgbClr val="111827"/>
                          </a:solidFill>
                          <a:latin typeface="Arial"/>
                          <a:ea typeface="Arial"/>
                          <a:cs typeface="Arial"/>
                        </a:rPr>
                        <a:t>Count failures not caused by SUT defects</a:t>
                      </a:r>
                    </a:p>
                  </a:txBody>
                  <a:tcPr>
                    <a:solidFill>
                      <a:srgbClr val="FFFFFF"/>
                    </a:solidFill>
                  </a:tcPr>
                </a:tc>
                <a:tc>
                  <a:txBody>
                    <a:bodyPr/>
                    <a:lstStyle/>
                    <a:p>
                      <a:pPr algn="l"/>
                      <a:r>
                        <a:rPr sz="1275" b="0">
                          <a:solidFill>
                            <a:srgbClr val="111827"/>
                          </a:solidFill>
                          <a:latin typeface="Arial"/>
                          <a:ea typeface="Arial"/>
                          <a:cs typeface="Arial"/>
                        </a:rPr>
                        <a:t>Lower unexplained failure rate</a:t>
                      </a:r>
                    </a:p>
                  </a:txBody>
                  <a:tcPr>
                    <a:solidFill>
                      <a:srgbClr val="FFFFFF"/>
                    </a:solidFill>
                  </a:tcPr>
                </a:tc>
                <a:extLst>
                  <a:ext uri="{0D108BD9-81ED-4DB2-BD59-A6C34878D82A}">
                    <a16:rowId xmlns:a16="http://schemas.microsoft.com/office/drawing/2014/main" val="10003"/>
                  </a:ext>
                </a:extLst>
              </a:tr>
              <a:tr h="484414">
                <a:tc>
                  <a:txBody>
                    <a:bodyPr/>
                    <a:lstStyle/>
                    <a:p>
                      <a:pPr algn="l"/>
                      <a:r>
                        <a:rPr sz="1275" b="1">
                          <a:solidFill>
                            <a:srgbClr val="111827"/>
                          </a:solidFill>
                          <a:latin typeface="Arial"/>
                          <a:ea typeface="Arial"/>
                          <a:cs typeface="Arial"/>
                        </a:rPr>
                        <a:t>Locator quality</a:t>
                      </a:r>
                    </a:p>
                  </a:txBody>
                  <a:tcPr>
                    <a:solidFill>
                      <a:srgbClr val="F7F8FA"/>
                    </a:solidFill>
                  </a:tcPr>
                </a:tc>
                <a:tc>
                  <a:txBody>
                    <a:bodyPr/>
                    <a:lstStyle/>
                    <a:p>
                      <a:pPr algn="l"/>
                      <a:r>
                        <a:rPr sz="1275" b="0">
                          <a:solidFill>
                            <a:srgbClr val="111827"/>
                          </a:solidFill>
                          <a:latin typeface="Arial"/>
                          <a:ea typeface="Arial"/>
                          <a:cs typeface="Arial"/>
                        </a:rPr>
                        <a:t>Apply a small DOM change</a:t>
                      </a:r>
                    </a:p>
                  </a:txBody>
                  <a:tcPr>
                    <a:solidFill>
                      <a:srgbClr val="F7F8FA"/>
                    </a:solidFill>
                  </a:tcPr>
                </a:tc>
                <a:tc>
                  <a:txBody>
                    <a:bodyPr/>
                    <a:lstStyle/>
                    <a:p>
                      <a:pPr algn="l"/>
                      <a:r>
                        <a:rPr sz="1275" b="0">
                          <a:solidFill>
                            <a:srgbClr val="111827"/>
                          </a:solidFill>
                          <a:latin typeface="Arial"/>
                          <a:ea typeface="Arial"/>
                          <a:cs typeface="Arial"/>
                        </a:rPr>
                        <a:t>Fewer selectors require repair</a:t>
                      </a:r>
                    </a:p>
                  </a:txBody>
                  <a:tcPr>
                    <a:solidFill>
                      <a:srgbClr val="F7F8FA"/>
                    </a:solidFill>
                  </a:tcPr>
                </a:tc>
                <a:extLst>
                  <a:ext uri="{0D108BD9-81ED-4DB2-BD59-A6C34878D82A}">
                    <a16:rowId xmlns:a16="http://schemas.microsoft.com/office/drawing/2014/main" val="10004"/>
                  </a:ext>
                </a:extLst>
              </a:tr>
              <a:tr h="484414">
                <a:tc>
                  <a:txBody>
                    <a:bodyPr/>
                    <a:lstStyle/>
                    <a:p>
                      <a:pPr algn="l"/>
                      <a:r>
                        <a:rPr sz="1275" b="1">
                          <a:solidFill>
                            <a:srgbClr val="111827"/>
                          </a:solidFill>
                          <a:latin typeface="Arial"/>
                          <a:ea typeface="Arial"/>
                          <a:cs typeface="Arial"/>
                        </a:rPr>
                        <a:t>Debuggability</a:t>
                      </a:r>
                    </a:p>
                  </a:txBody>
                  <a:tcPr>
                    <a:solidFill>
                      <a:srgbClr val="FFFFFF"/>
                    </a:solidFill>
                  </a:tcPr>
                </a:tc>
                <a:tc>
                  <a:txBody>
                    <a:bodyPr/>
                    <a:lstStyle/>
                    <a:p>
                      <a:pPr algn="l"/>
                      <a:r>
                        <a:rPr sz="1275" b="0">
                          <a:solidFill>
                            <a:srgbClr val="111827"/>
                          </a:solidFill>
                          <a:latin typeface="Arial"/>
                          <a:ea typeface="Arial"/>
                          <a:cs typeface="Arial"/>
                        </a:rPr>
                        <a:t>Inspect report, screenshot, and trace</a:t>
                      </a:r>
                    </a:p>
                  </a:txBody>
                  <a:tcPr>
                    <a:solidFill>
                      <a:srgbClr val="FFFFFF"/>
                    </a:solidFill>
                  </a:tcPr>
                </a:tc>
                <a:tc>
                  <a:txBody>
                    <a:bodyPr/>
                    <a:lstStyle/>
                    <a:p>
                      <a:pPr algn="l"/>
                      <a:r>
                        <a:rPr sz="1275" b="0">
                          <a:solidFill>
                            <a:srgbClr val="111827"/>
                          </a:solidFill>
                          <a:latin typeface="Arial"/>
                          <a:ea typeface="Arial"/>
                          <a:cs typeface="Arial"/>
                        </a:rPr>
                        <a:t>Root cause can be identified quickly</a:t>
                      </a:r>
                    </a:p>
                  </a:txBody>
                  <a:tcPr>
                    <a:solidFill>
                      <a:srgbClr val="FFFFFF"/>
                    </a:solidFill>
                  </a:tcPr>
                </a:tc>
                <a:extLst>
                  <a:ext uri="{0D108BD9-81ED-4DB2-BD59-A6C34878D82A}">
                    <a16:rowId xmlns:a16="http://schemas.microsoft.com/office/drawing/2014/main" val="10005"/>
                  </a:ext>
                </a:extLst>
              </a:tr>
              <a:tr h="484414">
                <a:tc>
                  <a:txBody>
                    <a:bodyPr/>
                    <a:lstStyle/>
                    <a:p>
                      <a:pPr algn="l"/>
                      <a:r>
                        <a:rPr sz="1275" b="1">
                          <a:solidFill>
                            <a:srgbClr val="111827"/>
                          </a:solidFill>
                          <a:latin typeface="Arial"/>
                          <a:ea typeface="Arial"/>
                          <a:cs typeface="Arial"/>
                        </a:rPr>
                        <a:t>AI effort</a:t>
                      </a:r>
                    </a:p>
                  </a:txBody>
                  <a:tcPr>
                    <a:solidFill>
                      <a:srgbClr val="F7F8FA"/>
                    </a:solidFill>
                  </a:tcPr>
                </a:tc>
                <a:tc>
                  <a:txBody>
                    <a:bodyPr/>
                    <a:lstStyle/>
                    <a:p>
                      <a:pPr algn="l"/>
                      <a:r>
                        <a:rPr sz="1275" b="0">
                          <a:solidFill>
                            <a:srgbClr val="111827"/>
                          </a:solidFill>
                          <a:latin typeface="Arial"/>
                          <a:ea typeface="Arial"/>
                          <a:cs typeface="Arial"/>
                        </a:rPr>
                        <a:t>Log draft time and human corrections</a:t>
                      </a:r>
                    </a:p>
                  </a:txBody>
                  <a:tcPr>
                    <a:solidFill>
                      <a:srgbClr val="F7F8FA"/>
                    </a:solidFill>
                  </a:tcPr>
                </a:tc>
                <a:tc>
                  <a:txBody>
                    <a:bodyPr/>
                    <a:lstStyle/>
                    <a:p>
                      <a:pPr algn="l"/>
                      <a:r>
                        <a:rPr sz="1275" b="0">
                          <a:solidFill>
                            <a:srgbClr val="111827"/>
                          </a:solidFill>
                          <a:latin typeface="Arial"/>
                          <a:ea typeface="Arial"/>
                          <a:cs typeface="Arial"/>
                        </a:rPr>
                        <a:t>Acceleration without weakened checks</a:t>
                      </a:r>
                    </a:p>
                  </a:txBody>
                  <a:tcPr>
                    <a:solidFill>
                      <a:srgbClr val="F7F8FA"/>
                    </a:solidFill>
                  </a:tcPr>
                </a:tc>
                <a:extLst>
                  <a:ext uri="{0D108BD9-81ED-4DB2-BD59-A6C34878D82A}">
                    <a16:rowId xmlns:a16="http://schemas.microsoft.com/office/drawing/2014/main" val="10006"/>
                  </a:ext>
                </a:extLst>
              </a:tr>
            </a:tbl>
          </a:graphicData>
        </a:graphic>
      </p:graphicFrame>
      <p:sp>
        <p:nvSpPr>
          <p:cNvPr id="9" name="treatments">
            <a:extLst>
              <a:ext uri="{FF2B5EF4-FFF2-40B4-BE49-F238E27FC236}">
                <a16:creationId xmlns:a16="http://schemas.microsoft.com/office/drawing/2014/main" id="{746217C3-59CA-4905-AD62-D0E24816DDBC}"/>
              </a:ext>
            </a:extLst>
          </p:cNvPr>
          <p:cNvSpPr>
            <a:spLocks noGrp="1"/>
          </p:cNvSpPr>
          <p:nvPr/>
        </p:nvSpPr>
        <p:spPr>
          <a:xfrm>
            <a:off x="400050" y="5886450"/>
            <a:ext cx="11391900" cy="323850"/>
          </a:xfrm>
          <a:prstGeom prst="rect">
            <a:avLst/>
          </a:prstGeom>
          <a:noFill/>
          <a:ln w="0">
            <a:noFill/>
            <a:prstDash val="solid"/>
          </a:ln>
        </p:spPr>
        <p:txBody>
          <a:bodyPr wrap="square" lIns="0" tIns="0" rIns="0" bIns="0" anchor="t">
            <a:normAutofit fontScale="96286"/>
          </a:bodyPr>
          <a:lstStyle/>
          <a:p>
            <a:pPr algn="ctr">
              <a:lnSpc>
                <a:spcPct val="105000"/>
              </a:lnSpc>
              <a:buNone/>
              <a:defRPr sz="1350" b="1" i="0">
                <a:solidFill>
                  <a:srgbClr val="0B1F3A"/>
                </a:solidFill>
                <a:latin typeface="Arial"/>
                <a:ea typeface="Arial"/>
                <a:cs typeface="Arial"/>
              </a:defRPr>
            </a:pPr>
            <a:r>
              <a:rPr sz="1350" b="1" i="0">
                <a:solidFill>
                  <a:srgbClr val="0B1F3A"/>
                </a:solidFill>
                <a:latin typeface="Arial"/>
                <a:ea typeface="Arial"/>
                <a:cs typeface="Arial"/>
              </a:rPr>
              <a:t>Compare the same Login → Add to Cart → Assert cart state flow across: manual Playwright • AI-assisted Playwright • one backup tool if feasible.</a:t>
            </a:r>
          </a:p>
        </p:txBody>
      </p:sp>
    </p:spTree>
    <p:extLst>
      <p:ext uri="{BB962C8B-B14F-4D97-AF65-F5344CB8AC3E}">
        <p14:creationId xmlns:p14="http://schemas.microsoft.com/office/powerpoint/2010/main" val="2083421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ection-13">
            <a:extLst>
              <a:ext uri="{FF2B5EF4-FFF2-40B4-BE49-F238E27FC236}">
                <a16:creationId xmlns:a16="http://schemas.microsoft.com/office/drawing/2014/main" id="{8E201400-F63A-4CD3-B259-74CA441F23F2}"/>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IN-CLASS ACTIVITY</a:t>
            </a:r>
          </a:p>
        </p:txBody>
      </p:sp>
      <p:sp>
        <p:nvSpPr>
          <p:cNvPr id="2" name="title-13">
            <a:extLst>
              <a:ext uri="{FF2B5EF4-FFF2-40B4-BE49-F238E27FC236}">
                <a16:creationId xmlns:a16="http://schemas.microsoft.com/office/drawing/2014/main" id="{DDB25F4C-593B-4133-8FF8-A32870F03FEF}"/>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fontScale="90449"/>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Locator Brawl exposes what AI-generated code gets wrong</a:t>
            </a:r>
          </a:p>
        </p:txBody>
      </p:sp>
      <p:sp>
        <p:nvSpPr>
          <p:cNvPr id="3" name="title-rule-13">
            <a:extLst>
              <a:ext uri="{FF2B5EF4-FFF2-40B4-BE49-F238E27FC236}">
                <a16:creationId xmlns:a16="http://schemas.microsoft.com/office/drawing/2014/main" id="{E6AA26ED-402F-42DE-9D25-6DE5B8744DFA}"/>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13">
            <a:extLst>
              <a:ext uri="{FF2B5EF4-FFF2-40B4-BE49-F238E27FC236}">
                <a16:creationId xmlns:a16="http://schemas.microsoft.com/office/drawing/2014/main" id="{69197F84-5A60-4F67-9CB4-4376E0F24E49}"/>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13">
            <a:extLst>
              <a:ext uri="{FF2B5EF4-FFF2-40B4-BE49-F238E27FC236}">
                <a16:creationId xmlns:a16="http://schemas.microsoft.com/office/drawing/2014/main" id="{5E07219D-5AFA-48D5-8799-713034337AE0}"/>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13</a:t>
            </a:r>
          </a:p>
        </p:txBody>
      </p:sp>
      <p:sp>
        <p:nvSpPr>
          <p:cNvPr id="6" name="activity-line">
            <a:extLst>
              <a:ext uri="{FF2B5EF4-FFF2-40B4-BE49-F238E27FC236}">
                <a16:creationId xmlns:a16="http://schemas.microsoft.com/office/drawing/2014/main" id="{9ADF77CA-758B-4036-BCBA-60C0930E2560}"/>
              </a:ext>
            </a:extLst>
          </p:cNvPr>
          <p:cNvSpPr>
            <a:spLocks noGrp="1"/>
          </p:cNvSpPr>
          <p:nvPr/>
        </p:nvSpPr>
        <p:spPr>
          <a:xfrm>
            <a:off x="571500" y="4953000"/>
            <a:ext cx="11049000" cy="0"/>
          </a:xfrm>
          <a:prstGeom prst="line">
            <a:avLst/>
          </a:prstGeom>
          <a:noFill/>
          <a:ln w="19050">
            <a:solidFill>
              <a:srgbClr val="111827"/>
            </a:solidFill>
            <a:prstDash val="solid"/>
          </a:ln>
        </p:spPr>
      </p:sp>
      <p:sp>
        <p:nvSpPr>
          <p:cNvPr id="7" name="activity-card-0">
            <a:extLst>
              <a:ext uri="{FF2B5EF4-FFF2-40B4-BE49-F238E27FC236}">
                <a16:creationId xmlns:a16="http://schemas.microsoft.com/office/drawing/2014/main" id="{00C4E26E-EB9D-42FA-9F18-FD6008E5F997}"/>
              </a:ext>
            </a:extLst>
          </p:cNvPr>
          <p:cNvSpPr>
            <a:spLocks noGrp="1"/>
          </p:cNvSpPr>
          <p:nvPr/>
        </p:nvSpPr>
        <p:spPr>
          <a:xfrm>
            <a:off x="400050" y="1619250"/>
            <a:ext cx="3524250" cy="2952750"/>
          </a:xfrm>
          <a:prstGeom prst="rect">
            <a:avLst/>
          </a:prstGeom>
          <a:solidFill>
            <a:srgbClr val="F1F3F5"/>
          </a:solidFill>
          <a:ln w="0">
            <a:noFill/>
            <a:prstDash val="solid"/>
          </a:ln>
        </p:spPr>
      </p:sp>
      <p:sp>
        <p:nvSpPr>
          <p:cNvPr id="8" name="activity-time-0">
            <a:extLst>
              <a:ext uri="{FF2B5EF4-FFF2-40B4-BE49-F238E27FC236}">
                <a16:creationId xmlns:a16="http://schemas.microsoft.com/office/drawing/2014/main" id="{465E3369-FB22-43C1-AC06-5C4A56368E7B}"/>
              </a:ext>
            </a:extLst>
          </p:cNvPr>
          <p:cNvSpPr>
            <a:spLocks noGrp="1"/>
          </p:cNvSpPr>
          <p:nvPr/>
        </p:nvSpPr>
        <p:spPr>
          <a:xfrm>
            <a:off x="666750" y="1924050"/>
            <a:ext cx="1238250" cy="32385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3D8DFF"/>
                </a:solidFill>
                <a:latin typeface="Arial"/>
                <a:ea typeface="Arial"/>
                <a:cs typeface="Arial"/>
              </a:defRPr>
            </a:pPr>
            <a:r>
              <a:rPr sz="1575" b="1" i="0">
                <a:solidFill>
                  <a:srgbClr val="3D8DFF"/>
                </a:solidFill>
                <a:latin typeface="Arial"/>
                <a:ea typeface="Arial"/>
                <a:cs typeface="Arial"/>
              </a:rPr>
              <a:t>00–03</a:t>
            </a:r>
          </a:p>
        </p:txBody>
      </p:sp>
      <p:sp>
        <p:nvSpPr>
          <p:cNvPr id="9" name="activity-title-0">
            <a:extLst>
              <a:ext uri="{FF2B5EF4-FFF2-40B4-BE49-F238E27FC236}">
                <a16:creationId xmlns:a16="http://schemas.microsoft.com/office/drawing/2014/main" id="{FE13658A-0537-4E09-90E7-B12F19233B8A}"/>
              </a:ext>
            </a:extLst>
          </p:cNvPr>
          <p:cNvSpPr>
            <a:spLocks noGrp="1"/>
          </p:cNvSpPr>
          <p:nvPr/>
        </p:nvSpPr>
        <p:spPr>
          <a:xfrm>
            <a:off x="666750" y="2400300"/>
            <a:ext cx="2990850" cy="5905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111827"/>
                </a:solidFill>
                <a:latin typeface="Arial"/>
                <a:ea typeface="Arial"/>
                <a:cs typeface="Arial"/>
              </a:defRPr>
            </a:pPr>
            <a:r>
              <a:rPr sz="2100" b="1" i="0">
                <a:solidFill>
                  <a:srgbClr val="111827"/>
                </a:solidFill>
                <a:latin typeface="Arial"/>
                <a:ea typeface="Arial"/>
                <a:cs typeface="Arial"/>
              </a:rPr>
              <a:t>Launch the target</a:t>
            </a:r>
          </a:p>
        </p:txBody>
      </p:sp>
      <p:sp>
        <p:nvSpPr>
          <p:cNvPr id="10" name="activity-body-0">
            <a:extLst>
              <a:ext uri="{FF2B5EF4-FFF2-40B4-BE49-F238E27FC236}">
                <a16:creationId xmlns:a16="http://schemas.microsoft.com/office/drawing/2014/main" id="{8AF12F74-03F2-4C00-BA30-11350AB24206}"/>
              </a:ext>
            </a:extLst>
          </p:cNvPr>
          <p:cNvSpPr>
            <a:spLocks noGrp="1"/>
          </p:cNvSpPr>
          <p:nvPr/>
        </p:nvSpPr>
        <p:spPr>
          <a:xfrm>
            <a:off x="666750" y="3200400"/>
            <a:ext cx="2990850" cy="1104900"/>
          </a:xfrm>
          <a:prstGeom prst="rect">
            <a:avLst/>
          </a:prstGeom>
          <a:noFill/>
          <a:ln w="0">
            <a:noFill/>
            <a:prstDash val="solid"/>
          </a:ln>
        </p:spPr>
        <p:txBody>
          <a:bodyPr wrap="square" lIns="0" tIns="0" rIns="0" bIns="0" anchor="t">
            <a:normAutofit/>
          </a:bodyPr>
          <a:lstStyle/>
          <a:p>
            <a:pPr algn="l">
              <a:lnSpc>
                <a:spcPct val="110000"/>
              </a:lnSpc>
              <a:buNone/>
              <a:defRPr sz="1425" b="0" i="0">
                <a:solidFill>
                  <a:srgbClr val="5F6B7A"/>
                </a:solidFill>
                <a:latin typeface="Arial"/>
                <a:ea typeface="Arial"/>
                <a:cs typeface="Arial"/>
              </a:defRPr>
            </a:pPr>
            <a:r>
              <a:rPr sz="1425" b="0" i="0">
                <a:solidFill>
                  <a:srgbClr val="5F6B7A"/>
                </a:solidFill>
                <a:latin typeface="Arial"/>
                <a:ea typeface="Arial"/>
                <a:cs typeface="Arial"/>
              </a:rPr>
              <a:t>Moderator demonstrates Login → Add to Cart → Assert badge count.</a:t>
            </a:r>
          </a:p>
        </p:txBody>
      </p:sp>
      <p:sp>
        <p:nvSpPr>
          <p:cNvPr id="11" name="activity-dot-0">
            <a:extLst>
              <a:ext uri="{FF2B5EF4-FFF2-40B4-BE49-F238E27FC236}">
                <a16:creationId xmlns:a16="http://schemas.microsoft.com/office/drawing/2014/main" id="{3B445CC3-A07F-4811-A116-30392C6301AF}"/>
              </a:ext>
            </a:extLst>
          </p:cNvPr>
          <p:cNvSpPr>
            <a:spLocks noGrp="1"/>
          </p:cNvSpPr>
          <p:nvPr/>
        </p:nvSpPr>
        <p:spPr>
          <a:xfrm>
            <a:off x="476250" y="4867275"/>
            <a:ext cx="171450" cy="171450"/>
          </a:xfrm>
          <a:prstGeom prst="ellipse">
            <a:avLst/>
          </a:prstGeom>
          <a:solidFill>
            <a:srgbClr val="111827"/>
          </a:solidFill>
          <a:ln w="0">
            <a:noFill/>
            <a:prstDash val="solid"/>
          </a:ln>
        </p:spPr>
      </p:sp>
      <p:sp>
        <p:nvSpPr>
          <p:cNvPr id="12" name="activity-card-1">
            <a:extLst>
              <a:ext uri="{FF2B5EF4-FFF2-40B4-BE49-F238E27FC236}">
                <a16:creationId xmlns:a16="http://schemas.microsoft.com/office/drawing/2014/main" id="{E4D74DBF-B59D-4279-B33F-F2361137758C}"/>
              </a:ext>
            </a:extLst>
          </p:cNvPr>
          <p:cNvSpPr>
            <a:spLocks noGrp="1"/>
          </p:cNvSpPr>
          <p:nvPr/>
        </p:nvSpPr>
        <p:spPr>
          <a:xfrm>
            <a:off x="4305300" y="1619250"/>
            <a:ext cx="3524250" cy="2952750"/>
          </a:xfrm>
          <a:prstGeom prst="rect">
            <a:avLst/>
          </a:prstGeom>
          <a:solidFill>
            <a:srgbClr val="DDF3FC"/>
          </a:solidFill>
          <a:ln w="0">
            <a:noFill/>
            <a:prstDash val="solid"/>
          </a:ln>
        </p:spPr>
      </p:sp>
      <p:sp>
        <p:nvSpPr>
          <p:cNvPr id="13" name="activity-time-1">
            <a:extLst>
              <a:ext uri="{FF2B5EF4-FFF2-40B4-BE49-F238E27FC236}">
                <a16:creationId xmlns:a16="http://schemas.microsoft.com/office/drawing/2014/main" id="{66C4D3B8-4ECD-42D9-B73B-6669201A0290}"/>
              </a:ext>
            </a:extLst>
          </p:cNvPr>
          <p:cNvSpPr>
            <a:spLocks noGrp="1"/>
          </p:cNvSpPr>
          <p:nvPr/>
        </p:nvSpPr>
        <p:spPr>
          <a:xfrm>
            <a:off x="4572000" y="1924050"/>
            <a:ext cx="1238250" cy="32385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3D8DFF"/>
                </a:solidFill>
                <a:latin typeface="Arial"/>
                <a:ea typeface="Arial"/>
                <a:cs typeface="Arial"/>
              </a:defRPr>
            </a:pPr>
            <a:r>
              <a:rPr sz="1575" b="1" i="0">
                <a:solidFill>
                  <a:srgbClr val="3D8DFF"/>
                </a:solidFill>
                <a:latin typeface="Arial"/>
                <a:ea typeface="Arial"/>
                <a:cs typeface="Arial"/>
              </a:rPr>
              <a:t>03–15</a:t>
            </a:r>
          </a:p>
        </p:txBody>
      </p:sp>
      <p:sp>
        <p:nvSpPr>
          <p:cNvPr id="14" name="activity-title-1">
            <a:extLst>
              <a:ext uri="{FF2B5EF4-FFF2-40B4-BE49-F238E27FC236}">
                <a16:creationId xmlns:a16="http://schemas.microsoft.com/office/drawing/2014/main" id="{AEB94FE2-A075-4130-B2EB-1C9B1458D5CD}"/>
              </a:ext>
            </a:extLst>
          </p:cNvPr>
          <p:cNvSpPr>
            <a:spLocks noGrp="1"/>
          </p:cNvSpPr>
          <p:nvPr/>
        </p:nvSpPr>
        <p:spPr>
          <a:xfrm>
            <a:off x="4572000" y="2400300"/>
            <a:ext cx="2990850" cy="5905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111827"/>
                </a:solidFill>
                <a:latin typeface="Arial"/>
                <a:ea typeface="Arial"/>
                <a:cs typeface="Arial"/>
              </a:defRPr>
            </a:pPr>
            <a:r>
              <a:rPr sz="2100" b="1" i="0">
                <a:solidFill>
                  <a:srgbClr val="111827"/>
                </a:solidFill>
                <a:latin typeface="Arial"/>
                <a:ea typeface="Arial"/>
                <a:cs typeface="Arial"/>
              </a:rPr>
              <a:t>Build and stress</a:t>
            </a:r>
          </a:p>
        </p:txBody>
      </p:sp>
      <p:sp>
        <p:nvSpPr>
          <p:cNvPr id="15" name="activity-body-1">
            <a:extLst>
              <a:ext uri="{FF2B5EF4-FFF2-40B4-BE49-F238E27FC236}">
                <a16:creationId xmlns:a16="http://schemas.microsoft.com/office/drawing/2014/main" id="{8AAD281B-B3E4-4987-8F5A-26F3E9A98BE9}"/>
              </a:ext>
            </a:extLst>
          </p:cNvPr>
          <p:cNvSpPr>
            <a:spLocks noGrp="1"/>
          </p:cNvSpPr>
          <p:nvPr/>
        </p:nvSpPr>
        <p:spPr>
          <a:xfrm>
            <a:off x="4572000" y="3200400"/>
            <a:ext cx="2990850" cy="1104900"/>
          </a:xfrm>
          <a:prstGeom prst="rect">
            <a:avLst/>
          </a:prstGeom>
          <a:noFill/>
          <a:ln w="0">
            <a:noFill/>
            <a:prstDash val="solid"/>
          </a:ln>
        </p:spPr>
        <p:txBody>
          <a:bodyPr wrap="square" lIns="0" tIns="0" rIns="0" bIns="0" anchor="t">
            <a:normAutofit/>
          </a:bodyPr>
          <a:lstStyle/>
          <a:p>
            <a:pPr algn="l">
              <a:lnSpc>
                <a:spcPct val="110000"/>
              </a:lnSpc>
              <a:buNone/>
              <a:defRPr sz="1425" b="0" i="0">
                <a:solidFill>
                  <a:srgbClr val="5F6B7A"/>
                </a:solidFill>
                <a:latin typeface="Arial"/>
                <a:ea typeface="Arial"/>
                <a:cs typeface="Arial"/>
              </a:defRPr>
            </a:pPr>
            <a:r>
              <a:rPr sz="1425" b="0" i="0">
                <a:solidFill>
                  <a:srgbClr val="5F6B7A"/>
                </a:solidFill>
                <a:latin typeface="Arial"/>
                <a:ea typeface="Arial"/>
                <a:cs typeface="Arial"/>
              </a:rPr>
              <a:t>Team A uses role/test-id. Team B uses AI suggestions. Run each script three times on Slow 3G.</a:t>
            </a:r>
          </a:p>
        </p:txBody>
      </p:sp>
      <p:sp>
        <p:nvSpPr>
          <p:cNvPr id="16" name="activity-dot-1">
            <a:extLst>
              <a:ext uri="{FF2B5EF4-FFF2-40B4-BE49-F238E27FC236}">
                <a16:creationId xmlns:a16="http://schemas.microsoft.com/office/drawing/2014/main" id="{E4072D8B-98D2-464A-8346-EC4C881E378A}"/>
              </a:ext>
            </a:extLst>
          </p:cNvPr>
          <p:cNvSpPr>
            <a:spLocks noGrp="1"/>
          </p:cNvSpPr>
          <p:nvPr/>
        </p:nvSpPr>
        <p:spPr>
          <a:xfrm>
            <a:off x="4381500" y="4867275"/>
            <a:ext cx="171450" cy="171450"/>
          </a:xfrm>
          <a:prstGeom prst="ellipse">
            <a:avLst/>
          </a:prstGeom>
          <a:solidFill>
            <a:srgbClr val="3D8DFF"/>
          </a:solidFill>
          <a:ln w="0">
            <a:noFill/>
            <a:prstDash val="solid"/>
          </a:ln>
        </p:spPr>
      </p:sp>
      <p:sp>
        <p:nvSpPr>
          <p:cNvPr id="17" name="activity-card-2">
            <a:extLst>
              <a:ext uri="{FF2B5EF4-FFF2-40B4-BE49-F238E27FC236}">
                <a16:creationId xmlns:a16="http://schemas.microsoft.com/office/drawing/2014/main" id="{B12E9CEF-0B0A-4746-B3B1-06F94617E29D}"/>
              </a:ext>
            </a:extLst>
          </p:cNvPr>
          <p:cNvSpPr>
            <a:spLocks noGrp="1"/>
          </p:cNvSpPr>
          <p:nvPr/>
        </p:nvSpPr>
        <p:spPr>
          <a:xfrm>
            <a:off x="8210550" y="1619250"/>
            <a:ext cx="3524250" cy="2952750"/>
          </a:xfrm>
          <a:prstGeom prst="rect">
            <a:avLst/>
          </a:prstGeom>
          <a:solidFill>
            <a:srgbClr val="F1F3F5"/>
          </a:solidFill>
          <a:ln w="0">
            <a:noFill/>
            <a:prstDash val="solid"/>
          </a:ln>
        </p:spPr>
      </p:sp>
      <p:sp>
        <p:nvSpPr>
          <p:cNvPr id="18" name="activity-time-2">
            <a:extLst>
              <a:ext uri="{FF2B5EF4-FFF2-40B4-BE49-F238E27FC236}">
                <a16:creationId xmlns:a16="http://schemas.microsoft.com/office/drawing/2014/main" id="{C25F9843-2CC7-4633-B141-E0EE35FA9389}"/>
              </a:ext>
            </a:extLst>
          </p:cNvPr>
          <p:cNvSpPr>
            <a:spLocks noGrp="1"/>
          </p:cNvSpPr>
          <p:nvPr/>
        </p:nvSpPr>
        <p:spPr>
          <a:xfrm>
            <a:off x="8477250" y="1924050"/>
            <a:ext cx="1238250" cy="323850"/>
          </a:xfrm>
          <a:prstGeom prst="rect">
            <a:avLst/>
          </a:prstGeom>
          <a:noFill/>
          <a:ln w="0">
            <a:noFill/>
            <a:prstDash val="solid"/>
          </a:ln>
        </p:spPr>
        <p:txBody>
          <a:bodyPr wrap="square" lIns="0" tIns="0" rIns="0" bIns="0" anchor="t">
            <a:normAutofit/>
          </a:bodyPr>
          <a:lstStyle/>
          <a:p>
            <a:pPr algn="l">
              <a:lnSpc>
                <a:spcPct val="105000"/>
              </a:lnSpc>
              <a:buNone/>
              <a:defRPr sz="1575" b="1" i="0">
                <a:solidFill>
                  <a:srgbClr val="3D8DFF"/>
                </a:solidFill>
                <a:latin typeface="Arial"/>
                <a:ea typeface="Arial"/>
                <a:cs typeface="Arial"/>
              </a:defRPr>
            </a:pPr>
            <a:r>
              <a:rPr sz="1575" b="1" i="0">
                <a:solidFill>
                  <a:srgbClr val="3D8DFF"/>
                </a:solidFill>
                <a:latin typeface="Arial"/>
                <a:ea typeface="Arial"/>
                <a:cs typeface="Arial"/>
              </a:rPr>
              <a:t>15–25</a:t>
            </a:r>
          </a:p>
        </p:txBody>
      </p:sp>
      <p:sp>
        <p:nvSpPr>
          <p:cNvPr id="19" name="activity-title-2">
            <a:extLst>
              <a:ext uri="{FF2B5EF4-FFF2-40B4-BE49-F238E27FC236}">
                <a16:creationId xmlns:a16="http://schemas.microsoft.com/office/drawing/2014/main" id="{2B9F304F-B23B-49FE-9A29-B4B66F18CFDF}"/>
              </a:ext>
            </a:extLst>
          </p:cNvPr>
          <p:cNvSpPr>
            <a:spLocks noGrp="1"/>
          </p:cNvSpPr>
          <p:nvPr/>
        </p:nvSpPr>
        <p:spPr>
          <a:xfrm>
            <a:off x="8477250" y="2400300"/>
            <a:ext cx="2990850" cy="590550"/>
          </a:xfrm>
          <a:prstGeom prst="rect">
            <a:avLst/>
          </a:prstGeom>
          <a:noFill/>
          <a:ln w="0">
            <a:noFill/>
            <a:prstDash val="solid"/>
          </a:ln>
        </p:spPr>
        <p:txBody>
          <a:bodyPr wrap="square" lIns="0" tIns="0" rIns="0" bIns="0" anchor="t">
            <a:normAutofit/>
          </a:bodyPr>
          <a:lstStyle/>
          <a:p>
            <a:pPr algn="l">
              <a:lnSpc>
                <a:spcPct val="105000"/>
              </a:lnSpc>
              <a:buNone/>
              <a:defRPr sz="2100" b="1" i="0">
                <a:solidFill>
                  <a:srgbClr val="111827"/>
                </a:solidFill>
                <a:latin typeface="Arial"/>
                <a:ea typeface="Arial"/>
                <a:cs typeface="Arial"/>
              </a:defRPr>
            </a:pPr>
            <a:r>
              <a:rPr sz="2100" b="1" i="0">
                <a:solidFill>
                  <a:srgbClr val="111827"/>
                </a:solidFill>
                <a:latin typeface="Arial"/>
                <a:ea typeface="Arial"/>
                <a:cs typeface="Arial"/>
              </a:rPr>
              <a:t>Review the evidence</a:t>
            </a:r>
          </a:p>
        </p:txBody>
      </p:sp>
      <p:sp>
        <p:nvSpPr>
          <p:cNvPr id="20" name="activity-body-2">
            <a:extLst>
              <a:ext uri="{FF2B5EF4-FFF2-40B4-BE49-F238E27FC236}">
                <a16:creationId xmlns:a16="http://schemas.microsoft.com/office/drawing/2014/main" id="{E78009DA-F732-4310-99AE-895E13034B76}"/>
              </a:ext>
            </a:extLst>
          </p:cNvPr>
          <p:cNvSpPr>
            <a:spLocks noGrp="1"/>
          </p:cNvSpPr>
          <p:nvPr/>
        </p:nvSpPr>
        <p:spPr>
          <a:xfrm>
            <a:off x="8477250" y="3200400"/>
            <a:ext cx="2990850" cy="1104900"/>
          </a:xfrm>
          <a:prstGeom prst="rect">
            <a:avLst/>
          </a:prstGeom>
          <a:noFill/>
          <a:ln w="0">
            <a:noFill/>
            <a:prstDash val="solid"/>
          </a:ln>
        </p:spPr>
        <p:txBody>
          <a:bodyPr wrap="square" lIns="0" tIns="0" rIns="0" bIns="0" anchor="t">
            <a:normAutofit/>
          </a:bodyPr>
          <a:lstStyle/>
          <a:p>
            <a:pPr algn="l">
              <a:lnSpc>
                <a:spcPct val="110000"/>
              </a:lnSpc>
              <a:buNone/>
              <a:defRPr sz="1425" b="0" i="0">
                <a:solidFill>
                  <a:srgbClr val="5F6B7A"/>
                </a:solidFill>
                <a:latin typeface="Arial"/>
                <a:ea typeface="Arial"/>
                <a:cs typeface="Arial"/>
              </a:defRPr>
            </a:pPr>
            <a:r>
              <a:rPr sz="1425" b="0" i="0">
                <a:solidFill>
                  <a:srgbClr val="5F6B7A"/>
                </a:solidFill>
                <a:latin typeface="Arial"/>
                <a:ea typeface="Arial"/>
                <a:cs typeface="Arial"/>
              </a:rPr>
              <a:t>Compare breakage, waits, assertions, and agree on a Good Locator Rubric.</a:t>
            </a:r>
          </a:p>
        </p:txBody>
      </p:sp>
      <p:sp>
        <p:nvSpPr>
          <p:cNvPr id="21" name="activity-dot-2">
            <a:extLst>
              <a:ext uri="{FF2B5EF4-FFF2-40B4-BE49-F238E27FC236}">
                <a16:creationId xmlns:a16="http://schemas.microsoft.com/office/drawing/2014/main" id="{AF0747E6-4B71-427A-B97C-6B3867870E7A}"/>
              </a:ext>
            </a:extLst>
          </p:cNvPr>
          <p:cNvSpPr>
            <a:spLocks noGrp="1"/>
          </p:cNvSpPr>
          <p:nvPr/>
        </p:nvSpPr>
        <p:spPr>
          <a:xfrm>
            <a:off x="8286750" y="4867275"/>
            <a:ext cx="171450" cy="171450"/>
          </a:xfrm>
          <a:prstGeom prst="ellipse">
            <a:avLst/>
          </a:prstGeom>
          <a:solidFill>
            <a:srgbClr val="111827"/>
          </a:solidFill>
          <a:ln w="0">
            <a:noFill/>
            <a:prstDash val="solid"/>
          </a:ln>
        </p:spPr>
      </p:sp>
      <p:sp>
        <p:nvSpPr>
          <p:cNvPr id="22" name="brittle-label">
            <a:extLst>
              <a:ext uri="{FF2B5EF4-FFF2-40B4-BE49-F238E27FC236}">
                <a16:creationId xmlns:a16="http://schemas.microsoft.com/office/drawing/2014/main" id="{A649803A-54B5-4C22-8FBD-084A568CE02F}"/>
              </a:ext>
            </a:extLst>
          </p:cNvPr>
          <p:cNvSpPr>
            <a:spLocks noGrp="1"/>
          </p:cNvSpPr>
          <p:nvPr/>
        </p:nvSpPr>
        <p:spPr>
          <a:xfrm>
            <a:off x="400050" y="5381625"/>
            <a:ext cx="1047750" cy="228600"/>
          </a:xfrm>
          <a:prstGeom prst="rect">
            <a:avLst/>
          </a:prstGeom>
          <a:noFill/>
          <a:ln w="0">
            <a:noFill/>
            <a:prstDash val="solid"/>
          </a:ln>
        </p:spPr>
        <p:txBody>
          <a:bodyPr wrap="square" lIns="0" tIns="0" rIns="0" bIns="0" anchor="t">
            <a:normAutofit/>
          </a:bodyPr>
          <a:lstStyle/>
          <a:p>
            <a:pPr algn="l">
              <a:lnSpc>
                <a:spcPct val="105000"/>
              </a:lnSpc>
              <a:buNone/>
              <a:defRPr sz="1050" b="1" i="0">
                <a:solidFill>
                  <a:srgbClr val="D14343"/>
                </a:solidFill>
                <a:latin typeface="Arial"/>
                <a:ea typeface="Arial"/>
                <a:cs typeface="Arial"/>
              </a:defRPr>
            </a:pPr>
            <a:r>
              <a:rPr sz="1050" b="1" i="0">
                <a:solidFill>
                  <a:srgbClr val="D14343"/>
                </a:solidFill>
                <a:latin typeface="Arial"/>
                <a:ea typeface="Arial"/>
                <a:cs typeface="Arial"/>
              </a:rPr>
              <a:t>BRITTLE</a:t>
            </a:r>
          </a:p>
        </p:txBody>
      </p:sp>
      <p:sp>
        <p:nvSpPr>
          <p:cNvPr id="23" name="brittle-code">
            <a:extLst>
              <a:ext uri="{FF2B5EF4-FFF2-40B4-BE49-F238E27FC236}">
                <a16:creationId xmlns:a16="http://schemas.microsoft.com/office/drawing/2014/main" id="{0E5B8A28-C26B-4E75-9A6B-184895637A3D}"/>
              </a:ext>
            </a:extLst>
          </p:cNvPr>
          <p:cNvSpPr>
            <a:spLocks noGrp="1"/>
          </p:cNvSpPr>
          <p:nvPr/>
        </p:nvSpPr>
        <p:spPr>
          <a:xfrm>
            <a:off x="400050" y="5657850"/>
            <a:ext cx="5286375" cy="2857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111827"/>
                </a:solidFill>
                <a:latin typeface="Consolas"/>
                <a:ea typeface="Consolas"/>
                <a:cs typeface="Consolas"/>
              </a:defRPr>
            </a:pPr>
            <a:r>
              <a:rPr sz="1275" b="0" i="0">
                <a:solidFill>
                  <a:srgbClr val="111827"/>
                </a:solidFill>
                <a:latin typeface="Consolas"/>
                <a:ea typeface="Consolas"/>
                <a:cs typeface="Consolas"/>
              </a:rPr>
              <a:t>div.card &gt; div:nth-child(2) &gt; button.btn-primary</a:t>
            </a:r>
          </a:p>
        </p:txBody>
      </p:sp>
      <p:sp>
        <p:nvSpPr>
          <p:cNvPr id="24" name="resilient-label">
            <a:extLst>
              <a:ext uri="{FF2B5EF4-FFF2-40B4-BE49-F238E27FC236}">
                <a16:creationId xmlns:a16="http://schemas.microsoft.com/office/drawing/2014/main" id="{AC061641-3C6B-410F-AA6B-00F7B5D802A1}"/>
              </a:ext>
            </a:extLst>
          </p:cNvPr>
          <p:cNvSpPr>
            <a:spLocks noGrp="1"/>
          </p:cNvSpPr>
          <p:nvPr/>
        </p:nvSpPr>
        <p:spPr>
          <a:xfrm>
            <a:off x="6477000" y="5381625"/>
            <a:ext cx="1238250" cy="228600"/>
          </a:xfrm>
          <a:prstGeom prst="rect">
            <a:avLst/>
          </a:prstGeom>
          <a:noFill/>
          <a:ln w="0">
            <a:noFill/>
            <a:prstDash val="solid"/>
          </a:ln>
        </p:spPr>
        <p:txBody>
          <a:bodyPr wrap="square" lIns="0" tIns="0" rIns="0" bIns="0" anchor="t">
            <a:normAutofit/>
          </a:bodyPr>
          <a:lstStyle/>
          <a:p>
            <a:pPr algn="l">
              <a:lnSpc>
                <a:spcPct val="105000"/>
              </a:lnSpc>
              <a:buNone/>
              <a:defRPr sz="1050" b="1" i="0">
                <a:solidFill>
                  <a:srgbClr val="0F9D78"/>
                </a:solidFill>
                <a:latin typeface="Arial"/>
                <a:ea typeface="Arial"/>
                <a:cs typeface="Arial"/>
              </a:defRPr>
            </a:pPr>
            <a:r>
              <a:rPr sz="1050" b="1" i="0">
                <a:solidFill>
                  <a:srgbClr val="0F9D78"/>
                </a:solidFill>
                <a:latin typeface="Arial"/>
                <a:ea typeface="Arial"/>
                <a:cs typeface="Arial"/>
              </a:rPr>
              <a:t>RESILIENT</a:t>
            </a:r>
          </a:p>
        </p:txBody>
      </p:sp>
      <p:sp>
        <p:nvSpPr>
          <p:cNvPr id="25" name="resilient-code">
            <a:extLst>
              <a:ext uri="{FF2B5EF4-FFF2-40B4-BE49-F238E27FC236}">
                <a16:creationId xmlns:a16="http://schemas.microsoft.com/office/drawing/2014/main" id="{1E573BC9-EFBE-4BFE-AF67-2264EFC322D9}"/>
              </a:ext>
            </a:extLst>
          </p:cNvPr>
          <p:cNvSpPr>
            <a:spLocks noGrp="1"/>
          </p:cNvSpPr>
          <p:nvPr/>
        </p:nvSpPr>
        <p:spPr>
          <a:xfrm>
            <a:off x="6477000" y="5657850"/>
            <a:ext cx="5000625" cy="28575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111827"/>
                </a:solidFill>
                <a:latin typeface="Consolas"/>
                <a:ea typeface="Consolas"/>
                <a:cs typeface="Consolas"/>
              </a:defRPr>
            </a:pPr>
            <a:r>
              <a:rPr sz="1275" b="0" i="0">
                <a:solidFill>
                  <a:srgbClr val="111827"/>
                </a:solidFill>
                <a:latin typeface="Consolas"/>
                <a:ea typeface="Consolas"/>
                <a:cs typeface="Consolas"/>
              </a:rPr>
              <a:t>page.getByRole('button', { name: 'Add' })</a:t>
            </a:r>
          </a:p>
        </p:txBody>
      </p:sp>
    </p:spTree>
    <p:extLst>
      <p:ext uri="{BB962C8B-B14F-4D97-AF65-F5344CB8AC3E}">
        <p14:creationId xmlns:p14="http://schemas.microsoft.com/office/powerpoint/2010/main" val="342541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section-14">
            <a:extLst>
              <a:ext uri="{FF2B5EF4-FFF2-40B4-BE49-F238E27FC236}">
                <a16:creationId xmlns:a16="http://schemas.microsoft.com/office/drawing/2014/main" id="{52C29DF4-2F97-47A7-963F-B18A694C61D5}"/>
              </a:ext>
            </a:extLst>
          </p:cNvPr>
          <p:cNvSpPr>
            <a:spLocks noGrp="1"/>
          </p:cNvSpPr>
          <p:nvPr/>
        </p:nvSpPr>
        <p:spPr>
          <a:xfrm>
            <a:off x="400050" y="228600"/>
            <a:ext cx="2857500" cy="228600"/>
          </a:xfrm>
          <a:prstGeom prst="rect">
            <a:avLst/>
          </a:prstGeom>
          <a:noFill/>
          <a:ln w="0">
            <a:noFill/>
            <a:prstDash val="solid"/>
          </a:ln>
        </p:spPr>
        <p:txBody>
          <a:bodyPr wrap="square" lIns="0" tIns="0" rIns="0" bIns="0" anchor="ctr">
            <a:normAutofit/>
          </a:bodyPr>
          <a:lstStyle/>
          <a:p>
            <a:pPr algn="l">
              <a:lnSpc>
                <a:spcPct val="105000"/>
              </a:lnSpc>
              <a:buNone/>
              <a:defRPr sz="1050" b="1" i="0">
                <a:solidFill>
                  <a:srgbClr val="3D8DFF"/>
                </a:solidFill>
                <a:latin typeface="Arial"/>
                <a:ea typeface="Arial"/>
                <a:cs typeface="Arial"/>
              </a:defRPr>
            </a:pPr>
            <a:r>
              <a:rPr sz="1050" b="1" i="0">
                <a:solidFill>
                  <a:srgbClr val="3D8DFF"/>
                </a:solidFill>
                <a:latin typeface="Arial"/>
                <a:ea typeface="Arial"/>
                <a:cs typeface="Arial"/>
              </a:rPr>
              <a:t>RECOMMENDATION</a:t>
            </a:r>
          </a:p>
        </p:txBody>
      </p:sp>
      <p:sp>
        <p:nvSpPr>
          <p:cNvPr id="2" name="title-14">
            <a:extLst>
              <a:ext uri="{FF2B5EF4-FFF2-40B4-BE49-F238E27FC236}">
                <a16:creationId xmlns:a16="http://schemas.microsoft.com/office/drawing/2014/main" id="{D7DAC7FD-53BF-48FB-A7D9-5F521276909B}"/>
              </a:ext>
            </a:extLst>
          </p:cNvPr>
          <p:cNvSpPr>
            <a:spLocks noGrp="1"/>
          </p:cNvSpPr>
          <p:nvPr/>
        </p:nvSpPr>
        <p:spPr>
          <a:xfrm>
            <a:off x="400050" y="514350"/>
            <a:ext cx="11144250" cy="723900"/>
          </a:xfrm>
          <a:prstGeom prst="rect">
            <a:avLst/>
          </a:prstGeom>
          <a:noFill/>
          <a:ln w="0">
            <a:noFill/>
            <a:prstDash val="solid"/>
          </a:ln>
        </p:spPr>
        <p:txBody>
          <a:bodyPr wrap="square" lIns="0" tIns="0" rIns="0" bIns="0" anchor="ctr">
            <a:normAutofit/>
          </a:bodyPr>
          <a:lstStyle/>
          <a:p>
            <a:pPr algn="l">
              <a:lnSpc>
                <a:spcPct val="105000"/>
              </a:lnSpc>
              <a:buNone/>
              <a:defRPr sz="3450" b="1" i="0">
                <a:solidFill>
                  <a:srgbClr val="111827"/>
                </a:solidFill>
                <a:latin typeface="Arial"/>
                <a:ea typeface="Arial"/>
                <a:cs typeface="Arial"/>
              </a:defRPr>
            </a:pPr>
            <a:r>
              <a:rPr sz="3450" b="1" i="0">
                <a:solidFill>
                  <a:srgbClr val="111827"/>
                </a:solidFill>
                <a:latin typeface="Arial"/>
                <a:ea typeface="Arial"/>
                <a:cs typeface="Arial"/>
              </a:rPr>
              <a:t>Use Playwright; keep AI on a short leash</a:t>
            </a:r>
          </a:p>
        </p:txBody>
      </p:sp>
      <p:sp>
        <p:nvSpPr>
          <p:cNvPr id="3" name="title-rule-14">
            <a:extLst>
              <a:ext uri="{FF2B5EF4-FFF2-40B4-BE49-F238E27FC236}">
                <a16:creationId xmlns:a16="http://schemas.microsoft.com/office/drawing/2014/main" id="{16691335-1191-4D2A-92BA-81688C8C3FFE}"/>
              </a:ext>
            </a:extLst>
          </p:cNvPr>
          <p:cNvSpPr>
            <a:spLocks noGrp="1"/>
          </p:cNvSpPr>
          <p:nvPr/>
        </p:nvSpPr>
        <p:spPr>
          <a:xfrm>
            <a:off x="400050" y="1323975"/>
            <a:ext cx="11391900" cy="0"/>
          </a:xfrm>
          <a:prstGeom prst="line">
            <a:avLst/>
          </a:prstGeom>
          <a:noFill/>
          <a:ln w="9525">
            <a:solidFill>
              <a:srgbClr val="B8BCC4"/>
            </a:solidFill>
            <a:prstDash val="solid"/>
          </a:ln>
        </p:spPr>
      </p:sp>
      <p:sp>
        <p:nvSpPr>
          <p:cNvPr id="4" name="footer-label-14">
            <a:extLst>
              <a:ext uri="{FF2B5EF4-FFF2-40B4-BE49-F238E27FC236}">
                <a16:creationId xmlns:a16="http://schemas.microsoft.com/office/drawing/2014/main" id="{A0750B6B-9995-4FB8-BF74-7DB2358521EA}"/>
              </a:ext>
            </a:extLst>
          </p:cNvPr>
          <p:cNvSpPr>
            <a:spLocks noGrp="1"/>
          </p:cNvSpPr>
          <p:nvPr/>
        </p:nvSpPr>
        <p:spPr>
          <a:xfrm>
            <a:off x="400050" y="6438900"/>
            <a:ext cx="3429000" cy="171450"/>
          </a:xfrm>
          <a:prstGeom prst="rect">
            <a:avLst/>
          </a:prstGeom>
          <a:noFill/>
          <a:ln w="0">
            <a:noFill/>
            <a:prstDash val="solid"/>
          </a:ln>
        </p:spPr>
        <p:txBody>
          <a:bodyPr wrap="square" lIns="0" tIns="0" rIns="0" bIns="0" anchor="ctr">
            <a:normAutofit/>
          </a:bodyPr>
          <a:lstStyle/>
          <a:p>
            <a:pPr algn="l">
              <a:lnSpc>
                <a:spcPct val="105000"/>
              </a:lnSpc>
              <a:buNone/>
              <a:defRPr sz="900" b="1" i="0">
                <a:solidFill>
                  <a:srgbClr val="5F6B7A"/>
                </a:solidFill>
                <a:latin typeface="Arial"/>
                <a:ea typeface="Arial"/>
                <a:cs typeface="Arial"/>
              </a:defRPr>
            </a:pPr>
            <a:r>
              <a:rPr sz="900" b="1" i="0">
                <a:solidFill>
                  <a:srgbClr val="5F6B7A"/>
                </a:solidFill>
                <a:latin typeface="Arial"/>
                <a:ea typeface="Arial"/>
                <a:cs typeface="Arial"/>
              </a:rPr>
              <a:t>T02 • WEB AUTOMATION TESTING</a:t>
            </a:r>
          </a:p>
        </p:txBody>
      </p:sp>
      <p:sp>
        <p:nvSpPr>
          <p:cNvPr id="5" name="footer-number-14">
            <a:extLst>
              <a:ext uri="{FF2B5EF4-FFF2-40B4-BE49-F238E27FC236}">
                <a16:creationId xmlns:a16="http://schemas.microsoft.com/office/drawing/2014/main" id="{AEF53468-4507-4393-92FD-BA3159955DA7}"/>
              </a:ext>
            </a:extLst>
          </p:cNvPr>
          <p:cNvSpPr>
            <a:spLocks noGrp="1"/>
          </p:cNvSpPr>
          <p:nvPr/>
        </p:nvSpPr>
        <p:spPr>
          <a:xfrm>
            <a:off x="11239500" y="6400800"/>
            <a:ext cx="552450" cy="209550"/>
          </a:xfrm>
          <a:prstGeom prst="rect">
            <a:avLst/>
          </a:prstGeom>
          <a:noFill/>
          <a:ln w="0">
            <a:noFill/>
            <a:prstDash val="solid"/>
          </a:ln>
        </p:spPr>
        <p:txBody>
          <a:bodyPr wrap="square" lIns="0" tIns="0" rIns="0" bIns="0" anchor="ctr">
            <a:normAutofit/>
          </a:bodyPr>
          <a:lstStyle/>
          <a:p>
            <a:pPr algn="r">
              <a:lnSpc>
                <a:spcPct val="105000"/>
              </a:lnSpc>
              <a:buNone/>
              <a:defRPr sz="1050" b="1" i="0">
                <a:solidFill>
                  <a:srgbClr val="111827"/>
                </a:solidFill>
                <a:latin typeface="Arial"/>
                <a:ea typeface="Arial"/>
                <a:cs typeface="Arial"/>
              </a:defRPr>
            </a:pPr>
            <a:r>
              <a:rPr sz="1050" b="1" i="0">
                <a:solidFill>
                  <a:srgbClr val="111827"/>
                </a:solidFill>
                <a:latin typeface="Arial"/>
                <a:ea typeface="Arial"/>
                <a:cs typeface="Arial"/>
              </a:rPr>
              <a:t>14</a:t>
            </a:r>
          </a:p>
        </p:txBody>
      </p:sp>
      <p:sp>
        <p:nvSpPr>
          <p:cNvPr id="6" name="recommendation-big">
            <a:extLst>
              <a:ext uri="{FF2B5EF4-FFF2-40B4-BE49-F238E27FC236}">
                <a16:creationId xmlns:a16="http://schemas.microsoft.com/office/drawing/2014/main" id="{1C0FE0F7-6E37-41E1-AAC9-C8A9EB6D54A0}"/>
              </a:ext>
            </a:extLst>
          </p:cNvPr>
          <p:cNvSpPr>
            <a:spLocks noGrp="1"/>
          </p:cNvSpPr>
          <p:nvPr/>
        </p:nvSpPr>
        <p:spPr>
          <a:xfrm>
            <a:off x="400050" y="1809750"/>
            <a:ext cx="5095875" cy="2190750"/>
          </a:xfrm>
          <a:prstGeom prst="rect">
            <a:avLst/>
          </a:prstGeom>
          <a:noFill/>
          <a:ln w="0">
            <a:noFill/>
            <a:prstDash val="solid"/>
          </a:ln>
        </p:spPr>
        <p:txBody>
          <a:bodyPr wrap="square" lIns="0" tIns="0" rIns="0" bIns="0" anchor="t">
            <a:normAutofit/>
          </a:bodyPr>
          <a:lstStyle/>
          <a:p>
            <a:pPr algn="l">
              <a:lnSpc>
                <a:spcPct val="98000"/>
              </a:lnSpc>
              <a:buNone/>
              <a:defRPr sz="3525" b="1" i="0">
                <a:solidFill>
                  <a:srgbClr val="111827"/>
                </a:solidFill>
                <a:latin typeface="Arial"/>
                <a:ea typeface="Arial"/>
                <a:cs typeface="Arial"/>
              </a:defRPr>
            </a:pPr>
            <a:r>
              <a:rPr sz="3525" b="1" i="0">
                <a:solidFill>
                  <a:srgbClr val="111827"/>
                </a:solidFill>
                <a:latin typeface="Arial"/>
                <a:ea typeface="Arial"/>
                <a:cs typeface="Arial"/>
              </a:rPr>
              <a:t>Playwright</a:t>
            </a:r>
          </a:p>
          <a:p>
            <a:pPr algn="l">
              <a:lnSpc>
                <a:spcPct val="98000"/>
              </a:lnSpc>
              <a:buNone/>
              <a:defRPr sz="3525" b="1" i="0">
                <a:solidFill>
                  <a:srgbClr val="111827"/>
                </a:solidFill>
                <a:latin typeface="Arial"/>
                <a:ea typeface="Arial"/>
                <a:cs typeface="Arial"/>
              </a:defRPr>
            </a:pPr>
            <a:r>
              <a:rPr sz="3525" b="1" i="0">
                <a:solidFill>
                  <a:srgbClr val="111827"/>
                </a:solidFill>
                <a:latin typeface="Arial"/>
                <a:ea typeface="Arial"/>
                <a:cs typeface="Arial"/>
              </a:rPr>
              <a:t>+ resilient locators</a:t>
            </a:r>
          </a:p>
          <a:p>
            <a:pPr algn="l">
              <a:lnSpc>
                <a:spcPct val="98000"/>
              </a:lnSpc>
              <a:buNone/>
              <a:defRPr sz="3525" b="1" i="0">
                <a:solidFill>
                  <a:srgbClr val="111827"/>
                </a:solidFill>
                <a:latin typeface="Arial"/>
                <a:ea typeface="Arial"/>
                <a:cs typeface="Arial"/>
              </a:defRPr>
            </a:pPr>
            <a:r>
              <a:rPr sz="3525" b="1" i="0">
                <a:solidFill>
                  <a:srgbClr val="111827"/>
                </a:solidFill>
                <a:latin typeface="Arial"/>
                <a:ea typeface="Arial"/>
                <a:cs typeface="Arial"/>
              </a:rPr>
              <a:t>+ selective API mocking</a:t>
            </a:r>
          </a:p>
        </p:txBody>
      </p:sp>
      <p:sp>
        <p:nvSpPr>
          <p:cNvPr id="7" name="recommendation-sub">
            <a:extLst>
              <a:ext uri="{FF2B5EF4-FFF2-40B4-BE49-F238E27FC236}">
                <a16:creationId xmlns:a16="http://schemas.microsoft.com/office/drawing/2014/main" id="{C16A2D04-4D58-447B-A991-DFC406037CFC}"/>
              </a:ext>
            </a:extLst>
          </p:cNvPr>
          <p:cNvSpPr>
            <a:spLocks noGrp="1"/>
          </p:cNvSpPr>
          <p:nvPr/>
        </p:nvSpPr>
        <p:spPr>
          <a:xfrm>
            <a:off x="400050" y="4324350"/>
            <a:ext cx="4762500" cy="723900"/>
          </a:xfrm>
          <a:prstGeom prst="rect">
            <a:avLst/>
          </a:prstGeom>
          <a:noFill/>
          <a:ln w="0">
            <a:noFill/>
            <a:prstDash val="solid"/>
          </a:ln>
        </p:spPr>
        <p:txBody>
          <a:bodyPr wrap="square" lIns="0" tIns="0" rIns="0" bIns="0" anchor="t">
            <a:normAutofit/>
          </a:bodyPr>
          <a:lstStyle/>
          <a:p>
            <a:pPr algn="l">
              <a:lnSpc>
                <a:spcPct val="105000"/>
              </a:lnSpc>
              <a:buNone/>
              <a:defRPr sz="1650" b="0" i="0">
                <a:solidFill>
                  <a:srgbClr val="5F6B7A"/>
                </a:solidFill>
                <a:latin typeface="Arial"/>
                <a:ea typeface="Arial"/>
                <a:cs typeface="Arial"/>
              </a:defRPr>
            </a:pPr>
            <a:r>
              <a:rPr sz="1650" b="0" i="0">
                <a:solidFill>
                  <a:srgbClr val="5F6B7A"/>
                </a:solidFill>
                <a:latin typeface="Arial"/>
                <a:ea typeface="Arial"/>
                <a:cs typeface="Arial"/>
              </a:rPr>
              <a:t>This is the best fit for the EShop seminar constraints—not a universal “best tool” claim.</a:t>
            </a:r>
          </a:p>
        </p:txBody>
      </p:sp>
      <p:sp>
        <p:nvSpPr>
          <p:cNvPr id="8" name="audit-panel">
            <a:extLst>
              <a:ext uri="{FF2B5EF4-FFF2-40B4-BE49-F238E27FC236}">
                <a16:creationId xmlns:a16="http://schemas.microsoft.com/office/drawing/2014/main" id="{441ADC40-FD41-4A45-AA04-CACC1E1CEE8F}"/>
              </a:ext>
            </a:extLst>
          </p:cNvPr>
          <p:cNvSpPr>
            <a:spLocks noGrp="1"/>
          </p:cNvSpPr>
          <p:nvPr/>
        </p:nvSpPr>
        <p:spPr>
          <a:xfrm>
            <a:off x="6191250" y="1714500"/>
            <a:ext cx="5600700" cy="3905250"/>
          </a:xfrm>
          <a:prstGeom prst="rect">
            <a:avLst/>
          </a:prstGeom>
          <a:solidFill>
            <a:srgbClr val="F1F3F5"/>
          </a:solidFill>
          <a:ln w="0">
            <a:noFill/>
            <a:prstDash val="solid"/>
          </a:ln>
        </p:spPr>
      </p:sp>
      <p:sp>
        <p:nvSpPr>
          <p:cNvPr id="9" name="audit-title">
            <a:extLst>
              <a:ext uri="{FF2B5EF4-FFF2-40B4-BE49-F238E27FC236}">
                <a16:creationId xmlns:a16="http://schemas.microsoft.com/office/drawing/2014/main" id="{CD3A1D06-7AE0-4B31-A938-7B4CC3D92673}"/>
              </a:ext>
            </a:extLst>
          </p:cNvPr>
          <p:cNvSpPr>
            <a:spLocks noGrp="1"/>
          </p:cNvSpPr>
          <p:nvPr/>
        </p:nvSpPr>
        <p:spPr>
          <a:xfrm>
            <a:off x="6534150" y="2038350"/>
            <a:ext cx="4857750" cy="381000"/>
          </a:xfrm>
          <a:prstGeom prst="rect">
            <a:avLst/>
          </a:prstGeom>
          <a:noFill/>
          <a:ln w="0">
            <a:noFill/>
            <a:prstDash val="solid"/>
          </a:ln>
        </p:spPr>
        <p:txBody>
          <a:bodyPr wrap="square" lIns="0" tIns="0" rIns="0" bIns="0" anchor="t">
            <a:normAutofit/>
          </a:bodyPr>
          <a:lstStyle/>
          <a:p>
            <a:pPr algn="l">
              <a:lnSpc>
                <a:spcPct val="105000"/>
              </a:lnSpc>
              <a:buNone/>
              <a:defRPr sz="2175" b="1" i="0">
                <a:solidFill>
                  <a:srgbClr val="0B1F3A"/>
                </a:solidFill>
                <a:latin typeface="Arial"/>
                <a:ea typeface="Arial"/>
                <a:cs typeface="Arial"/>
              </a:defRPr>
            </a:pPr>
            <a:r>
              <a:rPr sz="2175" b="1" i="0">
                <a:solidFill>
                  <a:srgbClr val="0B1F3A"/>
                </a:solidFill>
                <a:latin typeface="Arial"/>
                <a:ea typeface="Arial"/>
                <a:cs typeface="Arial"/>
              </a:rPr>
              <a:t>AI-assisted testing audit</a:t>
            </a:r>
          </a:p>
        </p:txBody>
      </p:sp>
      <p:sp>
        <p:nvSpPr>
          <p:cNvPr id="10" name="audit-check-0">
            <a:extLst>
              <a:ext uri="{FF2B5EF4-FFF2-40B4-BE49-F238E27FC236}">
                <a16:creationId xmlns:a16="http://schemas.microsoft.com/office/drawing/2014/main" id="{6B805509-55C7-4CD1-A5DB-934EB7D97F01}"/>
              </a:ext>
            </a:extLst>
          </p:cNvPr>
          <p:cNvSpPr>
            <a:spLocks noGrp="1"/>
          </p:cNvSpPr>
          <p:nvPr/>
        </p:nvSpPr>
        <p:spPr>
          <a:xfrm>
            <a:off x="6534150" y="2743200"/>
            <a:ext cx="228600" cy="228600"/>
          </a:xfrm>
          <a:prstGeom prst="ellipse">
            <a:avLst/>
          </a:prstGeom>
          <a:solidFill>
            <a:srgbClr val="FFFFFF"/>
          </a:solidFill>
          <a:ln w="19050">
            <a:solidFill>
              <a:srgbClr val="B8BCC4"/>
            </a:solidFill>
            <a:prstDash val="solid"/>
          </a:ln>
        </p:spPr>
      </p:sp>
      <p:sp>
        <p:nvSpPr>
          <p:cNvPr id="11" name="audit-checkmark-0">
            <a:extLst>
              <a:ext uri="{FF2B5EF4-FFF2-40B4-BE49-F238E27FC236}">
                <a16:creationId xmlns:a16="http://schemas.microsoft.com/office/drawing/2014/main" id="{DE3202A1-75EA-4E71-93B6-ABC8A9D982EB}"/>
              </a:ext>
            </a:extLst>
          </p:cNvPr>
          <p:cNvSpPr>
            <a:spLocks noGrp="1"/>
          </p:cNvSpPr>
          <p:nvPr/>
        </p:nvSpPr>
        <p:spPr>
          <a:xfrm>
            <a:off x="6543674" y="2747965"/>
            <a:ext cx="209550" cy="247650"/>
          </a:xfrm>
          <a:prstGeom prst="rect">
            <a:avLst/>
          </a:prstGeom>
          <a:noFill/>
          <a:ln w="0">
            <a:noFill/>
            <a:prstDash val="solid"/>
          </a:ln>
        </p:spPr>
        <p:txBody>
          <a:bodyPr wrap="square" lIns="0" tIns="0" rIns="0" bIns="0" anchor="ctr">
            <a:normAutofit/>
          </a:bodyPr>
          <a:lstStyle/>
          <a:p>
            <a:pPr algn="ctr">
              <a:lnSpc>
                <a:spcPct val="105000"/>
              </a:lnSpc>
              <a:buNone/>
              <a:defRPr sz="1350" b="1" i="0">
                <a:solidFill>
                  <a:srgbClr val="3D8DFF"/>
                </a:solidFill>
                <a:latin typeface="Arial"/>
                <a:ea typeface="Arial"/>
                <a:cs typeface="Arial"/>
              </a:defRPr>
            </a:pPr>
            <a:r>
              <a:rPr sz="1350" b="1" i="0" dirty="0">
                <a:solidFill>
                  <a:srgbClr val="3D8DFF"/>
                </a:solidFill>
                <a:latin typeface="Arial"/>
                <a:ea typeface="Arial"/>
                <a:cs typeface="Arial"/>
              </a:rPr>
              <a:t>✓</a:t>
            </a:r>
          </a:p>
        </p:txBody>
      </p:sp>
      <p:sp>
        <p:nvSpPr>
          <p:cNvPr id="12" name="audit-item-0">
            <a:extLst>
              <a:ext uri="{FF2B5EF4-FFF2-40B4-BE49-F238E27FC236}">
                <a16:creationId xmlns:a16="http://schemas.microsoft.com/office/drawing/2014/main" id="{34A522CD-2DC6-4AE9-BA33-22D6C0405371}"/>
              </a:ext>
            </a:extLst>
          </p:cNvPr>
          <p:cNvSpPr>
            <a:spLocks noGrp="1"/>
          </p:cNvSpPr>
          <p:nvPr/>
        </p:nvSpPr>
        <p:spPr>
          <a:xfrm>
            <a:off x="6953250" y="2724150"/>
            <a:ext cx="4286250" cy="419100"/>
          </a:xfrm>
          <a:prstGeom prst="rect">
            <a:avLst/>
          </a:prstGeom>
          <a:noFill/>
          <a:ln w="0">
            <a:noFill/>
            <a:prstDash val="solid"/>
          </a:ln>
        </p:spPr>
        <p:txBody>
          <a:bodyPr wrap="square" lIns="0" tIns="0" rIns="0" bIns="0" anchor="ctr">
            <a:normAutofit fontScale="95603"/>
          </a:bodyPr>
          <a:lstStyle/>
          <a:p>
            <a:pPr algn="l">
              <a:lnSpc>
                <a:spcPct val="105000"/>
              </a:lnSpc>
              <a:buNone/>
              <a:defRPr sz="1425" b="0" i="0">
                <a:solidFill>
                  <a:srgbClr val="111827"/>
                </a:solidFill>
                <a:latin typeface="Arial"/>
                <a:ea typeface="Arial"/>
                <a:cs typeface="Arial"/>
              </a:defRPr>
            </a:pPr>
            <a:r>
              <a:rPr sz="1425" b="0" i="0">
                <a:solidFill>
                  <a:srgbClr val="111827"/>
                </a:solidFill>
                <a:latin typeface="Arial"/>
                <a:ea typeface="Arial"/>
                <a:cs typeface="Arial"/>
              </a:rPr>
              <a:t>Human defines preconditions, data, and expected result</a:t>
            </a:r>
          </a:p>
        </p:txBody>
      </p:sp>
      <p:sp>
        <p:nvSpPr>
          <p:cNvPr id="13" name="audit-check-1">
            <a:extLst>
              <a:ext uri="{FF2B5EF4-FFF2-40B4-BE49-F238E27FC236}">
                <a16:creationId xmlns:a16="http://schemas.microsoft.com/office/drawing/2014/main" id="{795385E8-F700-4B8E-AB13-999BDB996AE3}"/>
              </a:ext>
            </a:extLst>
          </p:cNvPr>
          <p:cNvSpPr>
            <a:spLocks noGrp="1"/>
          </p:cNvSpPr>
          <p:nvPr/>
        </p:nvSpPr>
        <p:spPr>
          <a:xfrm>
            <a:off x="6534150" y="3371850"/>
            <a:ext cx="228600" cy="228600"/>
          </a:xfrm>
          <a:prstGeom prst="ellipse">
            <a:avLst/>
          </a:prstGeom>
          <a:solidFill>
            <a:srgbClr val="FFFFFF"/>
          </a:solidFill>
          <a:ln w="19050">
            <a:solidFill>
              <a:srgbClr val="B8BCC4"/>
            </a:solidFill>
            <a:prstDash val="solid"/>
          </a:ln>
        </p:spPr>
      </p:sp>
      <p:sp>
        <p:nvSpPr>
          <p:cNvPr id="14" name="audit-checkmark-1">
            <a:extLst>
              <a:ext uri="{FF2B5EF4-FFF2-40B4-BE49-F238E27FC236}">
                <a16:creationId xmlns:a16="http://schemas.microsoft.com/office/drawing/2014/main" id="{D1AC00E9-C9EF-4DEF-9D34-FD287AE5D627}"/>
              </a:ext>
            </a:extLst>
          </p:cNvPr>
          <p:cNvSpPr>
            <a:spLocks noGrp="1"/>
          </p:cNvSpPr>
          <p:nvPr/>
        </p:nvSpPr>
        <p:spPr>
          <a:xfrm>
            <a:off x="6543674" y="3357565"/>
            <a:ext cx="209550" cy="247650"/>
          </a:xfrm>
          <a:prstGeom prst="rect">
            <a:avLst/>
          </a:prstGeom>
          <a:noFill/>
          <a:ln w="0">
            <a:noFill/>
            <a:prstDash val="solid"/>
          </a:ln>
        </p:spPr>
        <p:txBody>
          <a:bodyPr wrap="square" lIns="0" tIns="0" rIns="0" bIns="0" anchor="ctr">
            <a:normAutofit/>
          </a:bodyPr>
          <a:lstStyle/>
          <a:p>
            <a:pPr algn="ctr">
              <a:lnSpc>
                <a:spcPct val="105000"/>
              </a:lnSpc>
              <a:buNone/>
              <a:defRPr sz="1350" b="1" i="0">
                <a:solidFill>
                  <a:srgbClr val="3D8DFF"/>
                </a:solidFill>
                <a:latin typeface="Arial"/>
                <a:ea typeface="Arial"/>
                <a:cs typeface="Arial"/>
              </a:defRPr>
            </a:pPr>
            <a:r>
              <a:rPr sz="1350" b="1" i="0">
                <a:solidFill>
                  <a:srgbClr val="3D8DFF"/>
                </a:solidFill>
                <a:latin typeface="Arial"/>
                <a:ea typeface="Arial"/>
                <a:cs typeface="Arial"/>
              </a:rPr>
              <a:t>✓</a:t>
            </a:r>
          </a:p>
        </p:txBody>
      </p:sp>
      <p:sp>
        <p:nvSpPr>
          <p:cNvPr id="15" name="audit-item-1">
            <a:extLst>
              <a:ext uri="{FF2B5EF4-FFF2-40B4-BE49-F238E27FC236}">
                <a16:creationId xmlns:a16="http://schemas.microsoft.com/office/drawing/2014/main" id="{79EFFA6A-6AE4-4D76-8A29-22DCD71AD58A}"/>
              </a:ext>
            </a:extLst>
          </p:cNvPr>
          <p:cNvSpPr>
            <a:spLocks noGrp="1"/>
          </p:cNvSpPr>
          <p:nvPr/>
        </p:nvSpPr>
        <p:spPr>
          <a:xfrm>
            <a:off x="6953250" y="3352800"/>
            <a:ext cx="4286250" cy="419100"/>
          </a:xfrm>
          <a:prstGeom prst="rect">
            <a:avLst/>
          </a:prstGeom>
          <a:noFill/>
          <a:ln w="0">
            <a:noFill/>
            <a:prstDash val="solid"/>
          </a:ln>
        </p:spPr>
        <p:txBody>
          <a:bodyPr wrap="square" lIns="0" tIns="0" rIns="0" bIns="0" anchor="ctr">
            <a:normAutofit/>
          </a:bodyPr>
          <a:lstStyle/>
          <a:p>
            <a:pPr algn="l">
              <a:lnSpc>
                <a:spcPct val="105000"/>
              </a:lnSpc>
              <a:buNone/>
              <a:defRPr sz="1425" b="0" i="0">
                <a:solidFill>
                  <a:srgbClr val="111827"/>
                </a:solidFill>
                <a:latin typeface="Arial"/>
                <a:ea typeface="Arial"/>
                <a:cs typeface="Arial"/>
              </a:defRPr>
            </a:pPr>
            <a:r>
              <a:rPr sz="1425" b="0" i="0">
                <a:solidFill>
                  <a:srgbClr val="111827"/>
                </a:solidFill>
                <a:latin typeface="Arial"/>
                <a:ea typeface="Arial"/>
                <a:cs typeface="Arial"/>
              </a:rPr>
              <a:t>AI produces a draft—not an execution result</a:t>
            </a:r>
          </a:p>
        </p:txBody>
      </p:sp>
      <p:sp>
        <p:nvSpPr>
          <p:cNvPr id="16" name="audit-check-2">
            <a:extLst>
              <a:ext uri="{FF2B5EF4-FFF2-40B4-BE49-F238E27FC236}">
                <a16:creationId xmlns:a16="http://schemas.microsoft.com/office/drawing/2014/main" id="{5EBD21BA-38B6-4308-A867-CB87240D01FD}"/>
              </a:ext>
            </a:extLst>
          </p:cNvPr>
          <p:cNvSpPr>
            <a:spLocks noGrp="1"/>
          </p:cNvSpPr>
          <p:nvPr/>
        </p:nvSpPr>
        <p:spPr>
          <a:xfrm>
            <a:off x="6534150" y="4000500"/>
            <a:ext cx="228600" cy="228600"/>
          </a:xfrm>
          <a:prstGeom prst="ellipse">
            <a:avLst/>
          </a:prstGeom>
          <a:solidFill>
            <a:srgbClr val="FFFFFF"/>
          </a:solidFill>
          <a:ln w="19050">
            <a:solidFill>
              <a:srgbClr val="B8BCC4"/>
            </a:solidFill>
            <a:prstDash val="solid"/>
          </a:ln>
        </p:spPr>
      </p:sp>
      <p:sp>
        <p:nvSpPr>
          <p:cNvPr id="17" name="audit-checkmark-2">
            <a:extLst>
              <a:ext uri="{FF2B5EF4-FFF2-40B4-BE49-F238E27FC236}">
                <a16:creationId xmlns:a16="http://schemas.microsoft.com/office/drawing/2014/main" id="{904E8954-0118-48B0-80A0-007AE0B14EF4}"/>
              </a:ext>
            </a:extLst>
          </p:cNvPr>
          <p:cNvSpPr>
            <a:spLocks noGrp="1"/>
          </p:cNvSpPr>
          <p:nvPr/>
        </p:nvSpPr>
        <p:spPr>
          <a:xfrm>
            <a:off x="6543674" y="3986215"/>
            <a:ext cx="209550" cy="247650"/>
          </a:xfrm>
          <a:prstGeom prst="rect">
            <a:avLst/>
          </a:prstGeom>
          <a:noFill/>
          <a:ln w="0">
            <a:noFill/>
            <a:prstDash val="solid"/>
          </a:ln>
        </p:spPr>
        <p:txBody>
          <a:bodyPr wrap="square" lIns="0" tIns="0" rIns="0" bIns="0" anchor="ctr">
            <a:normAutofit/>
          </a:bodyPr>
          <a:lstStyle/>
          <a:p>
            <a:pPr algn="ctr">
              <a:lnSpc>
                <a:spcPct val="105000"/>
              </a:lnSpc>
              <a:buNone/>
              <a:defRPr sz="1350" b="1" i="0">
                <a:solidFill>
                  <a:srgbClr val="3D8DFF"/>
                </a:solidFill>
                <a:latin typeface="Arial"/>
                <a:ea typeface="Arial"/>
                <a:cs typeface="Arial"/>
              </a:defRPr>
            </a:pPr>
            <a:r>
              <a:rPr sz="1350" b="1" i="0" dirty="0">
                <a:solidFill>
                  <a:srgbClr val="3D8DFF"/>
                </a:solidFill>
                <a:latin typeface="Arial"/>
                <a:ea typeface="Arial"/>
                <a:cs typeface="Arial"/>
              </a:rPr>
              <a:t>✓</a:t>
            </a:r>
          </a:p>
        </p:txBody>
      </p:sp>
      <p:sp>
        <p:nvSpPr>
          <p:cNvPr id="18" name="audit-item-2">
            <a:extLst>
              <a:ext uri="{FF2B5EF4-FFF2-40B4-BE49-F238E27FC236}">
                <a16:creationId xmlns:a16="http://schemas.microsoft.com/office/drawing/2014/main" id="{9B8C61BD-B117-41E4-B26E-7C03358421DF}"/>
              </a:ext>
            </a:extLst>
          </p:cNvPr>
          <p:cNvSpPr>
            <a:spLocks noGrp="1"/>
          </p:cNvSpPr>
          <p:nvPr/>
        </p:nvSpPr>
        <p:spPr>
          <a:xfrm>
            <a:off x="6953250" y="3981450"/>
            <a:ext cx="4286250" cy="419100"/>
          </a:xfrm>
          <a:prstGeom prst="rect">
            <a:avLst/>
          </a:prstGeom>
          <a:noFill/>
          <a:ln w="0">
            <a:noFill/>
            <a:prstDash val="solid"/>
          </a:ln>
        </p:spPr>
        <p:txBody>
          <a:bodyPr wrap="square" lIns="0" tIns="0" rIns="0" bIns="0" anchor="ctr">
            <a:normAutofit fontScale="91896"/>
          </a:bodyPr>
          <a:lstStyle/>
          <a:p>
            <a:pPr algn="l">
              <a:lnSpc>
                <a:spcPct val="105000"/>
              </a:lnSpc>
              <a:buNone/>
              <a:defRPr sz="1425" b="0" i="0">
                <a:solidFill>
                  <a:srgbClr val="111827"/>
                </a:solidFill>
                <a:latin typeface="Arial"/>
                <a:ea typeface="Arial"/>
                <a:cs typeface="Arial"/>
              </a:defRPr>
            </a:pPr>
            <a:r>
              <a:rPr sz="1425" b="0" i="0">
                <a:solidFill>
                  <a:srgbClr val="111827"/>
                </a:solidFill>
                <a:latin typeface="Arial"/>
                <a:ea typeface="Arial"/>
                <a:cs typeface="Arial"/>
              </a:rPr>
              <a:t>Human audits locators, waits, assertions, and assumptions</a:t>
            </a:r>
          </a:p>
        </p:txBody>
      </p:sp>
      <p:sp>
        <p:nvSpPr>
          <p:cNvPr id="19" name="audit-check-3">
            <a:extLst>
              <a:ext uri="{FF2B5EF4-FFF2-40B4-BE49-F238E27FC236}">
                <a16:creationId xmlns:a16="http://schemas.microsoft.com/office/drawing/2014/main" id="{0A17B1E5-D03A-40A9-BF0D-5D14CA88F7BB}"/>
              </a:ext>
            </a:extLst>
          </p:cNvPr>
          <p:cNvSpPr>
            <a:spLocks noGrp="1"/>
          </p:cNvSpPr>
          <p:nvPr/>
        </p:nvSpPr>
        <p:spPr>
          <a:xfrm>
            <a:off x="6534150" y="4629150"/>
            <a:ext cx="228600" cy="228600"/>
          </a:xfrm>
          <a:prstGeom prst="ellipse">
            <a:avLst/>
          </a:prstGeom>
          <a:solidFill>
            <a:srgbClr val="3D8DFF"/>
          </a:solidFill>
          <a:ln w="19050">
            <a:solidFill>
              <a:srgbClr val="3D8DFF"/>
            </a:solidFill>
            <a:prstDash val="solid"/>
          </a:ln>
        </p:spPr>
      </p:sp>
      <p:sp>
        <p:nvSpPr>
          <p:cNvPr id="20" name="audit-checkmark-3">
            <a:extLst>
              <a:ext uri="{FF2B5EF4-FFF2-40B4-BE49-F238E27FC236}">
                <a16:creationId xmlns:a16="http://schemas.microsoft.com/office/drawing/2014/main" id="{740148C1-B900-4B6D-AD08-39C4D5636C2E}"/>
              </a:ext>
            </a:extLst>
          </p:cNvPr>
          <p:cNvSpPr>
            <a:spLocks noGrp="1"/>
          </p:cNvSpPr>
          <p:nvPr/>
        </p:nvSpPr>
        <p:spPr>
          <a:xfrm>
            <a:off x="6543674" y="4614865"/>
            <a:ext cx="209550" cy="247650"/>
          </a:xfrm>
          <a:prstGeom prst="rect">
            <a:avLst/>
          </a:prstGeom>
          <a:noFill/>
          <a:ln w="0">
            <a:noFill/>
            <a:prstDash val="solid"/>
          </a:ln>
        </p:spPr>
        <p:txBody>
          <a:bodyPr wrap="square" lIns="0" tIns="0" rIns="0" bIns="0" anchor="ctr">
            <a:normAutofit/>
          </a:bodyPr>
          <a:lstStyle/>
          <a:p>
            <a:pPr algn="ctr">
              <a:lnSpc>
                <a:spcPct val="105000"/>
              </a:lnSpc>
              <a:buNone/>
              <a:defRPr sz="1350" b="1" i="0">
                <a:solidFill>
                  <a:srgbClr val="FFFFFF"/>
                </a:solidFill>
                <a:latin typeface="Arial"/>
                <a:ea typeface="Arial"/>
                <a:cs typeface="Arial"/>
              </a:defRPr>
            </a:pPr>
            <a:r>
              <a:rPr sz="1350" b="1" i="0" dirty="0">
                <a:solidFill>
                  <a:srgbClr val="FFFFFF"/>
                </a:solidFill>
                <a:latin typeface="Arial"/>
                <a:ea typeface="Arial"/>
                <a:cs typeface="Arial"/>
              </a:rPr>
              <a:t>✓</a:t>
            </a:r>
          </a:p>
        </p:txBody>
      </p:sp>
      <p:sp>
        <p:nvSpPr>
          <p:cNvPr id="21" name="audit-item-3">
            <a:extLst>
              <a:ext uri="{FF2B5EF4-FFF2-40B4-BE49-F238E27FC236}">
                <a16:creationId xmlns:a16="http://schemas.microsoft.com/office/drawing/2014/main" id="{C1DEA2F7-7DA9-4AE9-B7C2-73604EF72122}"/>
              </a:ext>
            </a:extLst>
          </p:cNvPr>
          <p:cNvSpPr>
            <a:spLocks noGrp="1"/>
          </p:cNvSpPr>
          <p:nvPr/>
        </p:nvSpPr>
        <p:spPr>
          <a:xfrm>
            <a:off x="6953250" y="4610100"/>
            <a:ext cx="4286250" cy="419100"/>
          </a:xfrm>
          <a:prstGeom prst="rect">
            <a:avLst/>
          </a:prstGeom>
          <a:noFill/>
          <a:ln w="0">
            <a:noFill/>
            <a:prstDash val="solid"/>
          </a:ln>
        </p:spPr>
        <p:txBody>
          <a:bodyPr wrap="square" lIns="0" tIns="0" rIns="0" bIns="0" anchor="ctr">
            <a:normAutofit fontScale="92660"/>
          </a:bodyPr>
          <a:lstStyle/>
          <a:p>
            <a:pPr algn="l">
              <a:lnSpc>
                <a:spcPct val="105000"/>
              </a:lnSpc>
              <a:buNone/>
              <a:defRPr sz="1425" b="0" i="0">
                <a:solidFill>
                  <a:srgbClr val="111827"/>
                </a:solidFill>
                <a:latin typeface="Arial"/>
                <a:ea typeface="Arial"/>
                <a:cs typeface="Arial"/>
              </a:defRPr>
            </a:pPr>
            <a:r>
              <a:rPr sz="1425" b="0" i="0">
                <a:solidFill>
                  <a:srgbClr val="111827"/>
                </a:solidFill>
                <a:latin typeface="Arial"/>
                <a:ea typeface="Arial"/>
                <a:cs typeface="Arial"/>
              </a:rPr>
              <a:t>Run on EShop; save code, trace, metrics, and corrections</a:t>
            </a:r>
          </a:p>
        </p:txBody>
      </p:sp>
      <p:sp>
        <p:nvSpPr>
          <p:cNvPr id="22" name="portfolio-strip">
            <a:extLst>
              <a:ext uri="{FF2B5EF4-FFF2-40B4-BE49-F238E27FC236}">
                <a16:creationId xmlns:a16="http://schemas.microsoft.com/office/drawing/2014/main" id="{651CCA43-F136-46EF-AB29-9EFFC04877A3}"/>
              </a:ext>
            </a:extLst>
          </p:cNvPr>
          <p:cNvSpPr>
            <a:spLocks noGrp="1"/>
          </p:cNvSpPr>
          <p:nvPr/>
        </p:nvSpPr>
        <p:spPr>
          <a:xfrm>
            <a:off x="400050" y="5829300"/>
            <a:ext cx="11391900" cy="381000"/>
          </a:xfrm>
          <a:prstGeom prst="rect">
            <a:avLst/>
          </a:prstGeom>
          <a:solidFill>
            <a:srgbClr val="DDF3FC"/>
          </a:solidFill>
          <a:ln w="0">
            <a:noFill/>
            <a:prstDash val="solid"/>
          </a:ln>
        </p:spPr>
      </p:sp>
      <p:sp>
        <p:nvSpPr>
          <p:cNvPr id="23" name="portfolio-text">
            <a:extLst>
              <a:ext uri="{FF2B5EF4-FFF2-40B4-BE49-F238E27FC236}">
                <a16:creationId xmlns:a16="http://schemas.microsoft.com/office/drawing/2014/main" id="{DE3A763A-E08C-4E48-AF0D-18A38289925A}"/>
              </a:ext>
            </a:extLst>
          </p:cNvPr>
          <p:cNvSpPr>
            <a:spLocks noGrp="1"/>
          </p:cNvSpPr>
          <p:nvPr/>
        </p:nvSpPr>
        <p:spPr>
          <a:xfrm>
            <a:off x="571500" y="5886450"/>
            <a:ext cx="11049000" cy="266700"/>
          </a:xfrm>
          <a:prstGeom prst="rect">
            <a:avLst/>
          </a:prstGeom>
          <a:noFill/>
          <a:ln w="0">
            <a:noFill/>
            <a:prstDash val="solid"/>
          </a:ln>
        </p:spPr>
        <p:txBody>
          <a:bodyPr wrap="square" lIns="0" tIns="0" rIns="0" bIns="0" anchor="ctr">
            <a:normAutofit/>
          </a:bodyPr>
          <a:lstStyle/>
          <a:p>
            <a:pPr algn="ctr">
              <a:lnSpc>
                <a:spcPct val="105000"/>
              </a:lnSpc>
              <a:buNone/>
              <a:defRPr sz="1500" b="1" i="0">
                <a:solidFill>
                  <a:srgbClr val="0B1F3A"/>
                </a:solidFill>
                <a:latin typeface="Arial"/>
                <a:ea typeface="Arial"/>
                <a:cs typeface="Arial"/>
              </a:defRPr>
            </a:pPr>
            <a:r>
              <a:rPr sz="1500" b="1" i="0">
                <a:solidFill>
                  <a:srgbClr val="0B1F3A"/>
                </a:solidFill>
                <a:latin typeface="Arial"/>
                <a:ea typeface="Arial"/>
                <a:cs typeface="Arial"/>
              </a:rPr>
              <a:t>Portfolio principle: fast mocked UI checks for controlled states + a small real E2E smoke suite for integration confidence.</a:t>
            </a:r>
          </a:p>
        </p:txBody>
      </p:sp>
    </p:spTree>
    <p:extLst>
      <p:ext uri="{BB962C8B-B14F-4D97-AF65-F5344CB8AC3E}">
        <p14:creationId xmlns:p14="http://schemas.microsoft.com/office/powerpoint/2010/main" val="1852650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close-kicker">
            <a:extLst>
              <a:ext uri="{FF2B5EF4-FFF2-40B4-BE49-F238E27FC236}">
                <a16:creationId xmlns:a16="http://schemas.microsoft.com/office/drawing/2014/main" id="{EC1ED90B-3D35-4FEE-A5B5-ACA7F2609D6D}"/>
              </a:ext>
            </a:extLst>
          </p:cNvPr>
          <p:cNvSpPr>
            <a:spLocks noGrp="1"/>
          </p:cNvSpPr>
          <p:nvPr/>
        </p:nvSpPr>
        <p:spPr>
          <a:xfrm>
            <a:off x="400050" y="457200"/>
            <a:ext cx="1428750" cy="323850"/>
          </a:xfrm>
          <a:prstGeom prst="rect">
            <a:avLst/>
          </a:prstGeom>
          <a:noFill/>
          <a:ln w="0">
            <a:noFill/>
            <a:prstDash val="solid"/>
          </a:ln>
        </p:spPr>
        <p:txBody>
          <a:bodyPr wrap="square" lIns="0" tIns="0" rIns="0" bIns="0" anchor="t">
            <a:normAutofit/>
          </a:bodyPr>
          <a:lstStyle/>
          <a:p>
            <a:pPr algn="l">
              <a:lnSpc>
                <a:spcPct val="105000"/>
              </a:lnSpc>
              <a:buNone/>
              <a:defRPr sz="1650" b="1" i="0">
                <a:solidFill>
                  <a:srgbClr val="3D8DFF"/>
                </a:solidFill>
                <a:latin typeface="Arial"/>
                <a:ea typeface="Arial"/>
                <a:cs typeface="Arial"/>
              </a:defRPr>
            </a:pPr>
            <a:r>
              <a:rPr sz="1650" b="1" i="0">
                <a:solidFill>
                  <a:srgbClr val="3D8DFF"/>
                </a:solidFill>
                <a:latin typeface="Arial"/>
                <a:ea typeface="Arial"/>
                <a:cs typeface="Arial"/>
              </a:rPr>
              <a:t>Q&amp;A</a:t>
            </a:r>
          </a:p>
        </p:txBody>
      </p:sp>
      <p:sp>
        <p:nvSpPr>
          <p:cNvPr id="2" name="close-title">
            <a:extLst>
              <a:ext uri="{FF2B5EF4-FFF2-40B4-BE49-F238E27FC236}">
                <a16:creationId xmlns:a16="http://schemas.microsoft.com/office/drawing/2014/main" id="{27F46F2E-BFD9-4F8B-BD55-634117ADB93A}"/>
              </a:ext>
            </a:extLst>
          </p:cNvPr>
          <p:cNvSpPr>
            <a:spLocks noGrp="1"/>
          </p:cNvSpPr>
          <p:nvPr/>
        </p:nvSpPr>
        <p:spPr>
          <a:xfrm>
            <a:off x="400050" y="1676400"/>
            <a:ext cx="8572500" cy="1962150"/>
          </a:xfrm>
          <a:prstGeom prst="rect">
            <a:avLst/>
          </a:prstGeom>
          <a:noFill/>
          <a:ln w="0">
            <a:noFill/>
            <a:prstDash val="solid"/>
          </a:ln>
        </p:spPr>
        <p:txBody>
          <a:bodyPr wrap="square" lIns="0" tIns="0" rIns="0" bIns="0" anchor="t">
            <a:noAutofit/>
          </a:bodyPr>
          <a:lstStyle/>
          <a:p>
            <a:pPr algn="l">
              <a:lnSpc>
                <a:spcPct val="96000"/>
              </a:lnSpc>
              <a:buNone/>
              <a:defRPr sz="5250" b="1" i="0">
                <a:solidFill>
                  <a:srgbClr val="111827"/>
                </a:solidFill>
                <a:latin typeface="Arial"/>
                <a:ea typeface="Arial"/>
                <a:cs typeface="Arial"/>
              </a:defRPr>
            </a:pPr>
            <a:r>
              <a:rPr sz="5250" b="1" i="0">
                <a:solidFill>
                  <a:srgbClr val="111827"/>
                </a:solidFill>
                <a:latin typeface="Arial"/>
                <a:ea typeface="Arial"/>
                <a:cs typeface="Arial"/>
              </a:rPr>
              <a:t>What should we trust,</a:t>
            </a:r>
          </a:p>
          <a:p>
            <a:pPr algn="l">
              <a:lnSpc>
                <a:spcPct val="96000"/>
              </a:lnSpc>
              <a:buNone/>
              <a:defRPr sz="5250" b="1" i="0">
                <a:solidFill>
                  <a:srgbClr val="111827"/>
                </a:solidFill>
                <a:latin typeface="Arial"/>
                <a:ea typeface="Arial"/>
                <a:cs typeface="Arial"/>
              </a:defRPr>
            </a:pPr>
            <a:r>
              <a:rPr sz="5250" b="1" i="0">
                <a:solidFill>
                  <a:srgbClr val="111827"/>
                </a:solidFill>
                <a:latin typeface="Arial"/>
                <a:ea typeface="Arial"/>
                <a:cs typeface="Arial"/>
              </a:rPr>
              <a:t>automate, and measure?</a:t>
            </a:r>
          </a:p>
        </p:txBody>
      </p:sp>
      <p:sp>
        <p:nvSpPr>
          <p:cNvPr id="3" name="close-line">
            <a:extLst>
              <a:ext uri="{FF2B5EF4-FFF2-40B4-BE49-F238E27FC236}">
                <a16:creationId xmlns:a16="http://schemas.microsoft.com/office/drawing/2014/main" id="{075C177C-92F5-49AD-8E36-A6A095923FFA}"/>
              </a:ext>
            </a:extLst>
          </p:cNvPr>
          <p:cNvSpPr>
            <a:spLocks noGrp="1"/>
          </p:cNvSpPr>
          <p:nvPr/>
        </p:nvSpPr>
        <p:spPr>
          <a:xfrm>
            <a:off x="400050" y="4267200"/>
            <a:ext cx="11391900" cy="0"/>
          </a:xfrm>
          <a:prstGeom prst="line">
            <a:avLst/>
          </a:prstGeom>
          <a:noFill/>
          <a:ln w="9525">
            <a:solidFill>
              <a:srgbClr val="B8BCC4"/>
            </a:solidFill>
            <a:prstDash val="solid"/>
          </a:ln>
        </p:spPr>
      </p:sp>
      <p:sp>
        <p:nvSpPr>
          <p:cNvPr id="4" name="close-label-0">
            <a:extLst>
              <a:ext uri="{FF2B5EF4-FFF2-40B4-BE49-F238E27FC236}">
                <a16:creationId xmlns:a16="http://schemas.microsoft.com/office/drawing/2014/main" id="{DDAA7CC9-6EED-4F33-8070-EC40D8450D59}"/>
              </a:ext>
            </a:extLst>
          </p:cNvPr>
          <p:cNvSpPr>
            <a:spLocks noGrp="1"/>
          </p:cNvSpPr>
          <p:nvPr/>
        </p:nvSpPr>
        <p:spPr>
          <a:xfrm>
            <a:off x="400050" y="4762500"/>
            <a:ext cx="1524000" cy="247650"/>
          </a:xfrm>
          <a:prstGeom prst="rect">
            <a:avLst/>
          </a:prstGeom>
          <a:noFill/>
          <a:ln w="0">
            <a:noFill/>
            <a:prstDash val="solid"/>
          </a:ln>
        </p:spPr>
        <p:txBody>
          <a:bodyPr wrap="square" lIns="0" tIns="0" rIns="0" bIns="0" anchor="t">
            <a:normAutofit/>
          </a:bodyPr>
          <a:lstStyle/>
          <a:p>
            <a:pPr algn="l">
              <a:lnSpc>
                <a:spcPct val="105000"/>
              </a:lnSpc>
              <a:buNone/>
              <a:defRPr sz="1125" b="1" i="0">
                <a:solidFill>
                  <a:srgbClr val="3D8DFF"/>
                </a:solidFill>
                <a:latin typeface="Arial"/>
                <a:ea typeface="Arial"/>
                <a:cs typeface="Arial"/>
              </a:defRPr>
            </a:pPr>
            <a:r>
              <a:rPr sz="1125" b="1" i="0">
                <a:solidFill>
                  <a:srgbClr val="3D8DFF"/>
                </a:solidFill>
                <a:latin typeface="Arial"/>
                <a:ea typeface="Arial"/>
                <a:cs typeface="Arial"/>
              </a:rPr>
              <a:t>TRUST</a:t>
            </a:r>
          </a:p>
        </p:txBody>
      </p:sp>
      <p:sp>
        <p:nvSpPr>
          <p:cNvPr id="5" name="close-copy-0">
            <a:extLst>
              <a:ext uri="{FF2B5EF4-FFF2-40B4-BE49-F238E27FC236}">
                <a16:creationId xmlns:a16="http://schemas.microsoft.com/office/drawing/2014/main" id="{1906F592-F7A5-4AFF-9EE4-64E4781AC537}"/>
              </a:ext>
            </a:extLst>
          </p:cNvPr>
          <p:cNvSpPr>
            <a:spLocks noGrp="1"/>
          </p:cNvSpPr>
          <p:nvPr/>
        </p:nvSpPr>
        <p:spPr>
          <a:xfrm>
            <a:off x="400050" y="5181600"/>
            <a:ext cx="3238500" cy="647700"/>
          </a:xfrm>
          <a:prstGeom prst="rect">
            <a:avLst/>
          </a:prstGeom>
          <a:noFill/>
          <a:ln w="0">
            <a:noFill/>
            <a:prstDash val="solid"/>
          </a:ln>
        </p:spPr>
        <p:txBody>
          <a:bodyPr wrap="square" lIns="0" tIns="0" rIns="0" bIns="0" anchor="t">
            <a:normAutofit/>
          </a:bodyPr>
          <a:lstStyle/>
          <a:p>
            <a:pPr algn="l">
              <a:lnSpc>
                <a:spcPct val="105000"/>
              </a:lnSpc>
              <a:buNone/>
              <a:defRPr sz="1725" b="1" i="0">
                <a:solidFill>
                  <a:srgbClr val="111827"/>
                </a:solidFill>
                <a:latin typeface="Arial"/>
                <a:ea typeface="Arial"/>
                <a:cs typeface="Arial"/>
              </a:defRPr>
            </a:pPr>
            <a:r>
              <a:rPr sz="1725" b="1" i="0">
                <a:solidFill>
                  <a:srgbClr val="111827"/>
                </a:solidFill>
                <a:latin typeface="Arial"/>
                <a:ea typeface="Arial"/>
                <a:cs typeface="Arial"/>
              </a:rPr>
              <a:t>Evidence and business-state assertions</a:t>
            </a:r>
          </a:p>
        </p:txBody>
      </p:sp>
      <p:sp>
        <p:nvSpPr>
          <p:cNvPr id="6" name="close-label-1">
            <a:extLst>
              <a:ext uri="{FF2B5EF4-FFF2-40B4-BE49-F238E27FC236}">
                <a16:creationId xmlns:a16="http://schemas.microsoft.com/office/drawing/2014/main" id="{E868FEA7-F7D5-44A4-A95B-C8A5272EBF67}"/>
              </a:ext>
            </a:extLst>
          </p:cNvPr>
          <p:cNvSpPr>
            <a:spLocks noGrp="1"/>
          </p:cNvSpPr>
          <p:nvPr/>
        </p:nvSpPr>
        <p:spPr>
          <a:xfrm>
            <a:off x="4210050" y="4762500"/>
            <a:ext cx="1524000" cy="247650"/>
          </a:xfrm>
          <a:prstGeom prst="rect">
            <a:avLst/>
          </a:prstGeom>
          <a:noFill/>
          <a:ln w="0">
            <a:noFill/>
            <a:prstDash val="solid"/>
          </a:ln>
        </p:spPr>
        <p:txBody>
          <a:bodyPr wrap="square" lIns="0" tIns="0" rIns="0" bIns="0" anchor="t">
            <a:normAutofit/>
          </a:bodyPr>
          <a:lstStyle/>
          <a:p>
            <a:pPr algn="l">
              <a:lnSpc>
                <a:spcPct val="105000"/>
              </a:lnSpc>
              <a:buNone/>
              <a:defRPr sz="1125" b="1" i="0">
                <a:solidFill>
                  <a:srgbClr val="3D8DFF"/>
                </a:solidFill>
                <a:latin typeface="Arial"/>
                <a:ea typeface="Arial"/>
                <a:cs typeface="Arial"/>
              </a:defRPr>
            </a:pPr>
            <a:r>
              <a:rPr sz="1125" b="1" i="0">
                <a:solidFill>
                  <a:srgbClr val="3D8DFF"/>
                </a:solidFill>
                <a:latin typeface="Arial"/>
                <a:ea typeface="Arial"/>
                <a:cs typeface="Arial"/>
              </a:rPr>
              <a:t>AUTOMATE</a:t>
            </a:r>
          </a:p>
        </p:txBody>
      </p:sp>
      <p:sp>
        <p:nvSpPr>
          <p:cNvPr id="7" name="close-copy-1">
            <a:extLst>
              <a:ext uri="{FF2B5EF4-FFF2-40B4-BE49-F238E27FC236}">
                <a16:creationId xmlns:a16="http://schemas.microsoft.com/office/drawing/2014/main" id="{7B3B5E49-C0F9-4063-95CC-53F491B8A0E0}"/>
              </a:ext>
            </a:extLst>
          </p:cNvPr>
          <p:cNvSpPr>
            <a:spLocks noGrp="1"/>
          </p:cNvSpPr>
          <p:nvPr/>
        </p:nvSpPr>
        <p:spPr>
          <a:xfrm>
            <a:off x="4210050" y="5181600"/>
            <a:ext cx="3238500" cy="647700"/>
          </a:xfrm>
          <a:prstGeom prst="rect">
            <a:avLst/>
          </a:prstGeom>
          <a:noFill/>
          <a:ln w="0">
            <a:noFill/>
            <a:prstDash val="solid"/>
          </a:ln>
        </p:spPr>
        <p:txBody>
          <a:bodyPr wrap="square" lIns="0" tIns="0" rIns="0" bIns="0" anchor="t">
            <a:normAutofit/>
          </a:bodyPr>
          <a:lstStyle/>
          <a:p>
            <a:pPr algn="l">
              <a:lnSpc>
                <a:spcPct val="105000"/>
              </a:lnSpc>
              <a:buNone/>
              <a:defRPr sz="1725" b="1" i="0">
                <a:solidFill>
                  <a:srgbClr val="111827"/>
                </a:solidFill>
                <a:latin typeface="Arial"/>
                <a:ea typeface="Arial"/>
                <a:cs typeface="Arial"/>
              </a:defRPr>
            </a:pPr>
            <a:r>
              <a:rPr sz="1725" b="1" i="0">
                <a:solidFill>
                  <a:srgbClr val="111827"/>
                </a:solidFill>
                <a:latin typeface="Arial"/>
                <a:ea typeface="Arial"/>
                <a:cs typeface="Arial"/>
              </a:rPr>
              <a:t>Repeatable flows with clear oracles</a:t>
            </a:r>
          </a:p>
        </p:txBody>
      </p:sp>
      <p:sp>
        <p:nvSpPr>
          <p:cNvPr id="8" name="close-label-2">
            <a:extLst>
              <a:ext uri="{FF2B5EF4-FFF2-40B4-BE49-F238E27FC236}">
                <a16:creationId xmlns:a16="http://schemas.microsoft.com/office/drawing/2014/main" id="{900A848E-B7C6-4546-A79E-0135D3B56C2E}"/>
              </a:ext>
            </a:extLst>
          </p:cNvPr>
          <p:cNvSpPr>
            <a:spLocks noGrp="1"/>
          </p:cNvSpPr>
          <p:nvPr/>
        </p:nvSpPr>
        <p:spPr>
          <a:xfrm>
            <a:off x="8020050" y="4762500"/>
            <a:ext cx="1524000" cy="247650"/>
          </a:xfrm>
          <a:prstGeom prst="rect">
            <a:avLst/>
          </a:prstGeom>
          <a:noFill/>
          <a:ln w="0">
            <a:noFill/>
            <a:prstDash val="solid"/>
          </a:ln>
        </p:spPr>
        <p:txBody>
          <a:bodyPr wrap="square" lIns="0" tIns="0" rIns="0" bIns="0" anchor="t">
            <a:normAutofit/>
          </a:bodyPr>
          <a:lstStyle/>
          <a:p>
            <a:pPr algn="l">
              <a:lnSpc>
                <a:spcPct val="105000"/>
              </a:lnSpc>
              <a:buNone/>
              <a:defRPr sz="1125" b="1" i="0">
                <a:solidFill>
                  <a:srgbClr val="3D8DFF"/>
                </a:solidFill>
                <a:latin typeface="Arial"/>
                <a:ea typeface="Arial"/>
                <a:cs typeface="Arial"/>
              </a:defRPr>
            </a:pPr>
            <a:r>
              <a:rPr sz="1125" b="1" i="0">
                <a:solidFill>
                  <a:srgbClr val="3D8DFF"/>
                </a:solidFill>
                <a:latin typeface="Arial"/>
                <a:ea typeface="Arial"/>
                <a:cs typeface="Arial"/>
              </a:rPr>
              <a:t>MEASURE</a:t>
            </a:r>
          </a:p>
        </p:txBody>
      </p:sp>
      <p:sp>
        <p:nvSpPr>
          <p:cNvPr id="9" name="close-copy-2">
            <a:extLst>
              <a:ext uri="{FF2B5EF4-FFF2-40B4-BE49-F238E27FC236}">
                <a16:creationId xmlns:a16="http://schemas.microsoft.com/office/drawing/2014/main" id="{76E4615A-1E2E-40E4-9D88-18BB636368BF}"/>
              </a:ext>
            </a:extLst>
          </p:cNvPr>
          <p:cNvSpPr>
            <a:spLocks noGrp="1"/>
          </p:cNvSpPr>
          <p:nvPr/>
        </p:nvSpPr>
        <p:spPr>
          <a:xfrm>
            <a:off x="8020050" y="5181600"/>
            <a:ext cx="3238500" cy="647700"/>
          </a:xfrm>
          <a:prstGeom prst="rect">
            <a:avLst/>
          </a:prstGeom>
          <a:noFill/>
          <a:ln w="0">
            <a:noFill/>
            <a:prstDash val="solid"/>
          </a:ln>
        </p:spPr>
        <p:txBody>
          <a:bodyPr wrap="square" lIns="0" tIns="0" rIns="0" bIns="0" anchor="t">
            <a:normAutofit/>
          </a:bodyPr>
          <a:lstStyle/>
          <a:p>
            <a:pPr algn="l">
              <a:lnSpc>
                <a:spcPct val="105000"/>
              </a:lnSpc>
              <a:buNone/>
              <a:defRPr sz="1725" b="1" i="0">
                <a:solidFill>
                  <a:srgbClr val="111827"/>
                </a:solidFill>
                <a:latin typeface="Arial"/>
                <a:ea typeface="Arial"/>
                <a:cs typeface="Arial"/>
              </a:defRPr>
            </a:pPr>
            <a:r>
              <a:rPr sz="1725" b="1" i="0">
                <a:solidFill>
                  <a:srgbClr val="111827"/>
                </a:solidFill>
                <a:latin typeface="Arial"/>
                <a:ea typeface="Arial"/>
                <a:cs typeface="Arial"/>
              </a:rPr>
              <a:t>Stability, maintainability, and human correction</a:t>
            </a:r>
          </a:p>
        </p:txBody>
      </p:sp>
      <p:sp>
        <p:nvSpPr>
          <p:cNvPr id="10" name="close-footer">
            <a:extLst>
              <a:ext uri="{FF2B5EF4-FFF2-40B4-BE49-F238E27FC236}">
                <a16:creationId xmlns:a16="http://schemas.microsoft.com/office/drawing/2014/main" id="{D19BD32D-8949-4097-A351-9ECE60F3B1AA}"/>
              </a:ext>
            </a:extLst>
          </p:cNvPr>
          <p:cNvSpPr>
            <a:spLocks noGrp="1"/>
          </p:cNvSpPr>
          <p:nvPr/>
        </p:nvSpPr>
        <p:spPr>
          <a:xfrm>
            <a:off x="400050" y="6343650"/>
            <a:ext cx="3810000" cy="209550"/>
          </a:xfrm>
          <a:prstGeom prst="rect">
            <a:avLst/>
          </a:prstGeom>
          <a:noFill/>
          <a:ln w="0">
            <a:noFill/>
            <a:prstDash val="solid"/>
          </a:ln>
        </p:spPr>
        <p:txBody>
          <a:bodyPr wrap="square" lIns="0" tIns="0" rIns="0" bIns="0" anchor="t">
            <a:normAutofit/>
          </a:bodyPr>
          <a:lstStyle/>
          <a:p>
            <a:pPr algn="l">
              <a:lnSpc>
                <a:spcPct val="105000"/>
              </a:lnSpc>
              <a:buNone/>
              <a:defRPr sz="1050" b="0" i="0">
                <a:solidFill>
                  <a:srgbClr val="5F6B7A"/>
                </a:solidFill>
                <a:latin typeface="Arial"/>
                <a:ea typeface="Arial"/>
                <a:cs typeface="Arial"/>
              </a:defRPr>
            </a:pPr>
            <a:r>
              <a:rPr sz="1050" b="0" i="0">
                <a:solidFill>
                  <a:srgbClr val="5F6B7A"/>
                </a:solidFill>
                <a:latin typeface="Arial"/>
                <a:ea typeface="Arial"/>
                <a:cs typeface="Arial"/>
              </a:rPr>
              <a:t>Group T02 • Software Testing Seminar</a:t>
            </a:r>
          </a:p>
        </p:txBody>
      </p:sp>
    </p:spTree>
    <p:extLst>
      <p:ext uri="{BB962C8B-B14F-4D97-AF65-F5344CB8AC3E}">
        <p14:creationId xmlns:p14="http://schemas.microsoft.com/office/powerpoint/2010/main" val="57821713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2768</Words>
  <Application>Microsoft Office PowerPoint</Application>
  <DocSecurity>0</DocSecurity>
  <PresentationFormat>Widescreen</PresentationFormat>
  <Paragraphs>423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Nam Đinh</cp:lastModifiedBy>
  <cp:revision>1</cp:revision>
  <dcterms:created xsi:type="dcterms:W3CDTF">2026-07-25T05:15:36Z</dcterms:created>
  <dcterms:modified xsi:type="dcterms:W3CDTF">2026-07-25T15:49:20Z</dcterms:modified>
</cp:coreProperties>
</file>