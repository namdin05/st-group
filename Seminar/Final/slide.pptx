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seminar objective: show how Playwright turns repetitive browser checks into repeatable tests, and how AI can speed up drafting while still requiring human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29A005-770A-4582-84E5-249628A0E443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04CD81-DAE4-4DE1-8247-0BE234692F2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Group 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8BDF52-49D2-41F3-B131-081403ABC8AA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95250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43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Web Automation Testing using</a:t>
            </a:r>
          </a:p>
          <a:p>
            <a:pPr algn="l">
              <a:defRPr sz="43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43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Playwright and AI-assisted</a:t>
            </a:r>
          </a:p>
          <a:p>
            <a:pPr algn="l">
              <a:defRPr sz="43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43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Development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C04159-D008-48E2-9D47-FB9A547C2FCB}"/>
              </a:ext>
            </a:extLst>
          </p:cNvPr>
          <p:cNvSpPr>
            <a:spLocks noGrp="1"/>
          </p:cNvSpPr>
          <p:nvPr/>
        </p:nvSpPr>
        <p:spPr>
          <a:xfrm>
            <a:off x="0" y="3924300"/>
            <a:ext cx="12192000" cy="19050"/>
          </a:xfrm>
          <a:prstGeom prst="rect">
            <a:avLst/>
          </a:prstGeom>
          <a:solidFill>
            <a:srgbClr val="0E2841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DA0E1A-9616-47A0-89C0-EEDF9104AA84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Software Testing Seminar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4D7A7-1145-4312-953C-554BF1B15F12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Members: Truong Hoang Lam, Nguyen Anh Khoa, Dinh Hoang Nam</a:t>
            </a:r>
          </a:p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Course: Software Testing</a:t>
            </a:r>
          </a:p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Instructor: </a:t>
            </a:r>
            <a:r>
              <a:rPr lang="vi-VN" sz="1575" dirty="0" err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Dr</a:t>
            </a:r>
            <a:r>
              <a:rPr lang="vi-VN" sz="1575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. Lam Quang Vu</a:t>
            </a:r>
          </a:p>
        </p:txBody>
      </p:sp>
    </p:spTree>
    <p:extLst>
      <p:ext uri="{BB962C8B-B14F-4D97-AF65-F5344CB8AC3E}">
        <p14:creationId xmlns:p14="http://schemas.microsoft.com/office/powerpoint/2010/main" val="1229357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2FB072D-120B-456E-BE42-A11B358879F8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1E0930-60F0-4155-B3BF-8473CC7DEF3D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Why Web Automation Testing?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8AAAC4-4816-4157-B430-42FD3D3DEE35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Automation turns slow regression into fast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FD704-EA9D-4C3E-84B0-01048C54807A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2C6E92-632D-4DF5-B07F-44446DC187B6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2243138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731431-3C14-4622-B15A-C7D53D6D0700}"/>
              </a:ext>
            </a:extLst>
          </p:cNvPr>
          <p:cNvSpPr>
            <a:spLocks noGrp="1"/>
          </p:cNvSpPr>
          <p:nvPr/>
        </p:nvSpPr>
        <p:spPr>
          <a:xfrm>
            <a:off x="971550" y="3028950"/>
            <a:ext cx="1976438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Manual 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3C06B6-D87C-4FD1-9F15-B4D6B66B492E}"/>
              </a:ext>
            </a:extLst>
          </p:cNvPr>
          <p:cNvSpPr>
            <a:spLocks noGrp="1"/>
          </p:cNvSpPr>
          <p:nvPr/>
        </p:nvSpPr>
        <p:spPr>
          <a:xfrm>
            <a:off x="3271838" y="3057525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92106F-B870-4106-9A79-DC4D70248891}"/>
              </a:ext>
            </a:extLst>
          </p:cNvPr>
          <p:cNvSpPr>
            <a:spLocks noGrp="1"/>
          </p:cNvSpPr>
          <p:nvPr/>
        </p:nvSpPr>
        <p:spPr>
          <a:xfrm>
            <a:off x="3595688" y="2686050"/>
            <a:ext cx="2243138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020D98-7247-4279-BC1B-4F95C618EE4B}"/>
              </a:ext>
            </a:extLst>
          </p:cNvPr>
          <p:cNvSpPr>
            <a:spLocks noGrp="1"/>
          </p:cNvSpPr>
          <p:nvPr/>
        </p:nvSpPr>
        <p:spPr>
          <a:xfrm>
            <a:off x="3729038" y="3028950"/>
            <a:ext cx="1976438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Slow regression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B65394-5AF4-4350-96C1-3137DC3431E7}"/>
              </a:ext>
            </a:extLst>
          </p:cNvPr>
          <p:cNvSpPr>
            <a:spLocks noGrp="1"/>
          </p:cNvSpPr>
          <p:nvPr/>
        </p:nvSpPr>
        <p:spPr>
          <a:xfrm>
            <a:off x="6029325" y="3057525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76EC96-0FFB-4187-A7FA-3F820DFC321E}"/>
              </a:ext>
            </a:extLst>
          </p:cNvPr>
          <p:cNvSpPr>
            <a:spLocks noGrp="1"/>
          </p:cNvSpPr>
          <p:nvPr/>
        </p:nvSpPr>
        <p:spPr>
          <a:xfrm>
            <a:off x="6353175" y="2686050"/>
            <a:ext cx="2243138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E94EB0-D81E-4785-AD39-67A2154519B8}"/>
              </a:ext>
            </a:extLst>
          </p:cNvPr>
          <p:cNvSpPr>
            <a:spLocks noGrp="1"/>
          </p:cNvSpPr>
          <p:nvPr/>
        </p:nvSpPr>
        <p:spPr>
          <a:xfrm>
            <a:off x="6486525" y="3028950"/>
            <a:ext cx="1976438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Automation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23FFCA-B8AF-4904-B117-6491358D73BD}"/>
              </a:ext>
            </a:extLst>
          </p:cNvPr>
          <p:cNvSpPr>
            <a:spLocks noGrp="1"/>
          </p:cNvSpPr>
          <p:nvPr/>
        </p:nvSpPr>
        <p:spPr>
          <a:xfrm>
            <a:off x="8786813" y="3057525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51E096-FC67-4F62-BDF6-D82F78EA02B3}"/>
              </a:ext>
            </a:extLst>
          </p:cNvPr>
          <p:cNvSpPr>
            <a:spLocks noGrp="1"/>
          </p:cNvSpPr>
          <p:nvPr/>
        </p:nvSpPr>
        <p:spPr>
          <a:xfrm>
            <a:off x="9110663" y="2686050"/>
            <a:ext cx="2243138" cy="1028700"/>
          </a:xfrm>
          <a:prstGeom prst="roundRect">
            <a:avLst>
              <a:gd name="adj" fmla="val 7407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6B36E3-87EE-4297-8AAA-FBF2A9AFC3FC}"/>
              </a:ext>
            </a:extLst>
          </p:cNvPr>
          <p:cNvSpPr>
            <a:spLocks noGrp="1"/>
          </p:cNvSpPr>
          <p:nvPr/>
        </p:nvSpPr>
        <p:spPr>
          <a:xfrm>
            <a:off x="9244013" y="3028950"/>
            <a:ext cx="1976438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Fast feedback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C3AF98E-9696-417F-90A0-17FC42C32318}"/>
              </a:ext>
            </a:extLst>
          </p:cNvPr>
          <p:cNvSpPr>
            <a:spLocks noGrp="1"/>
          </p:cNvSpPr>
          <p:nvPr/>
        </p:nvSpPr>
        <p:spPr>
          <a:xfrm>
            <a:off x="1143000" y="447675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45519EB-A590-44DD-8C0A-106C14865381}"/>
              </a:ext>
            </a:extLst>
          </p:cNvPr>
          <p:cNvSpPr>
            <a:spLocks noGrp="1"/>
          </p:cNvSpPr>
          <p:nvPr/>
        </p:nvSpPr>
        <p:spPr>
          <a:xfrm>
            <a:off x="1371600" y="47053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AA20CE-EFA4-474B-83F9-5EDEE5F342C5}"/>
              </a:ext>
            </a:extLst>
          </p:cNvPr>
          <p:cNvSpPr>
            <a:spLocks noGrp="1"/>
          </p:cNvSpPr>
          <p:nvPr/>
        </p:nvSpPr>
        <p:spPr>
          <a:xfrm>
            <a:off x="1371600" y="47720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375B63-F77A-4B23-9984-2E253D5D7833}"/>
              </a:ext>
            </a:extLst>
          </p:cNvPr>
          <p:cNvSpPr>
            <a:spLocks noGrp="1"/>
          </p:cNvSpPr>
          <p:nvPr/>
        </p:nvSpPr>
        <p:spPr>
          <a:xfrm>
            <a:off x="1924050" y="46863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Releases move faster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41F253-210A-416E-9BC8-5AB56179C144}"/>
              </a:ext>
            </a:extLst>
          </p:cNvPr>
          <p:cNvSpPr>
            <a:spLocks noGrp="1"/>
          </p:cNvSpPr>
          <p:nvPr/>
        </p:nvSpPr>
        <p:spPr>
          <a:xfrm>
            <a:off x="1371600" y="5124450"/>
            <a:ext cx="240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Modern teams ship often, so repeated checks need to run on demand.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2BED59-11B5-4382-9DD4-74A67432C614}"/>
              </a:ext>
            </a:extLst>
          </p:cNvPr>
          <p:cNvSpPr>
            <a:spLocks noGrp="1"/>
          </p:cNvSpPr>
          <p:nvPr/>
        </p:nvSpPr>
        <p:spPr>
          <a:xfrm>
            <a:off x="4667250" y="447675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B807D8-DABD-45E8-B533-4C14CE480CF5}"/>
              </a:ext>
            </a:extLst>
          </p:cNvPr>
          <p:cNvSpPr>
            <a:spLocks noGrp="1"/>
          </p:cNvSpPr>
          <p:nvPr/>
        </p:nvSpPr>
        <p:spPr>
          <a:xfrm>
            <a:off x="4895850" y="47053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9D93D7-C873-4966-8EEE-04C0F01022B2}"/>
              </a:ext>
            </a:extLst>
          </p:cNvPr>
          <p:cNvSpPr>
            <a:spLocks noGrp="1"/>
          </p:cNvSpPr>
          <p:nvPr/>
        </p:nvSpPr>
        <p:spPr>
          <a:xfrm>
            <a:off x="4895850" y="47720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F053C3-5A8B-4EAF-AF1E-EFE0B68926BD}"/>
              </a:ext>
            </a:extLst>
          </p:cNvPr>
          <p:cNvSpPr>
            <a:spLocks noGrp="1"/>
          </p:cNvSpPr>
          <p:nvPr/>
        </p:nvSpPr>
        <p:spPr>
          <a:xfrm>
            <a:off x="5448300" y="46863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Time shifts to analysis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A9243F-3F64-4C05-AC39-BB782F450D32}"/>
              </a:ext>
            </a:extLst>
          </p:cNvPr>
          <p:cNvSpPr>
            <a:spLocks noGrp="1"/>
          </p:cNvSpPr>
          <p:nvPr/>
        </p:nvSpPr>
        <p:spPr>
          <a:xfrm>
            <a:off x="4895850" y="5124450"/>
            <a:ext cx="240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Automation handles repetitive paths while testers review risk and evidence.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B22268-4C0F-49F1-ACFE-289B489ECFAA}"/>
              </a:ext>
            </a:extLst>
          </p:cNvPr>
          <p:cNvSpPr>
            <a:spLocks noGrp="1"/>
          </p:cNvSpPr>
          <p:nvPr/>
        </p:nvSpPr>
        <p:spPr>
          <a:xfrm>
            <a:off x="8191500" y="447675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85AEEF4-03A8-4C5A-A6A2-65CFC96A42C4}"/>
              </a:ext>
            </a:extLst>
          </p:cNvPr>
          <p:cNvSpPr>
            <a:spLocks noGrp="1"/>
          </p:cNvSpPr>
          <p:nvPr/>
        </p:nvSpPr>
        <p:spPr>
          <a:xfrm>
            <a:off x="8420100" y="47053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17C4FF-2BCC-43E8-9690-C770DFCBDCA1}"/>
              </a:ext>
            </a:extLst>
          </p:cNvPr>
          <p:cNvSpPr>
            <a:spLocks noGrp="1"/>
          </p:cNvSpPr>
          <p:nvPr/>
        </p:nvSpPr>
        <p:spPr>
          <a:xfrm>
            <a:off x="8420100" y="47720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Q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BEE755-562C-4E9D-B644-1047BA5F0E71}"/>
              </a:ext>
            </a:extLst>
          </p:cNvPr>
          <p:cNvSpPr>
            <a:spLocks noGrp="1"/>
          </p:cNvSpPr>
          <p:nvPr/>
        </p:nvSpPr>
        <p:spPr>
          <a:xfrm>
            <a:off x="8972550" y="46863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Quality gets visible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4DB053-B229-4DDB-BFAA-C676B0900BEC}"/>
              </a:ext>
            </a:extLst>
          </p:cNvPr>
          <p:cNvSpPr>
            <a:spLocks noGrp="1"/>
          </p:cNvSpPr>
          <p:nvPr/>
        </p:nvSpPr>
        <p:spPr>
          <a:xfrm>
            <a:off x="8420100" y="5124450"/>
            <a:ext cx="240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Reports, traces, and assertions make failures easier to discuss.</a:t>
            </a:r>
          </a:p>
        </p:txBody>
      </p:sp>
    </p:spTree>
    <p:extLst>
      <p:ext uri="{BB962C8B-B14F-4D97-AF65-F5344CB8AC3E}">
        <p14:creationId xmlns:p14="http://schemas.microsoft.com/office/powerpoint/2010/main" val="191091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DBA7E65-80D7-46B2-BD6E-D564922434BB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6B17D1-4951-4138-8055-2C526E562A7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Theoretical Background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C7C868-01DD-4039-8FC0-0395DF25155A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Five concepts explain most Playwright tests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534666-2825-49FA-9E86-AD5B82A957CB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22D9DA-8589-4B3E-B2C2-BC7146C7DBEC}"/>
              </a:ext>
            </a:extLst>
          </p:cNvPr>
          <p:cNvSpPr>
            <a:spLocks noGrp="1"/>
          </p:cNvSpPr>
          <p:nvPr/>
        </p:nvSpPr>
        <p:spPr>
          <a:xfrm>
            <a:off x="4619625" y="2305050"/>
            <a:ext cx="2952750" cy="1428750"/>
          </a:xfrm>
          <a:prstGeom prst="ellipse">
            <a:avLst/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7CC0DD-3644-41B4-A9A9-044D84A352B9}"/>
              </a:ext>
            </a:extLst>
          </p:cNvPr>
          <p:cNvSpPr>
            <a:spLocks noGrp="1"/>
          </p:cNvSpPr>
          <p:nvPr/>
        </p:nvSpPr>
        <p:spPr>
          <a:xfrm>
            <a:off x="4857750" y="2686050"/>
            <a:ext cx="2476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22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Automation</a:t>
            </a:r>
          </a:p>
          <a:p>
            <a:pPr algn="ctr">
              <a:defRPr sz="22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22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Testing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483D11-B251-4796-9E3F-92F8E527BD0E}"/>
              </a:ext>
            </a:extLst>
          </p:cNvPr>
          <p:cNvSpPr>
            <a:spLocks noGrp="1"/>
          </p:cNvSpPr>
          <p:nvPr/>
        </p:nvSpPr>
        <p:spPr>
          <a:xfrm>
            <a:off x="1238250" y="200025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D57AAF-7785-4227-9123-A8224B62C813}"/>
              </a:ext>
            </a:extLst>
          </p:cNvPr>
          <p:cNvSpPr>
            <a:spLocks noGrp="1"/>
          </p:cNvSpPr>
          <p:nvPr/>
        </p:nvSpPr>
        <p:spPr>
          <a:xfrm>
            <a:off x="1466850" y="220980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Locator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BB79EA-08E1-4958-82EC-76A9D2F2F5B0}"/>
              </a:ext>
            </a:extLst>
          </p:cNvPr>
          <p:cNvSpPr>
            <a:spLocks noGrp="1"/>
          </p:cNvSpPr>
          <p:nvPr/>
        </p:nvSpPr>
        <p:spPr>
          <a:xfrm>
            <a:off x="1466850" y="2647950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D1DA5D-0900-4F19-B5E6-EADA61D8B676}"/>
              </a:ext>
            </a:extLst>
          </p:cNvPr>
          <p:cNvSpPr>
            <a:spLocks noGrp="1"/>
          </p:cNvSpPr>
          <p:nvPr/>
        </p:nvSpPr>
        <p:spPr>
          <a:xfrm>
            <a:off x="8572500" y="200025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BE396-57F3-4D49-94B4-0AD36F155EF0}"/>
              </a:ext>
            </a:extLst>
          </p:cNvPr>
          <p:cNvSpPr>
            <a:spLocks noGrp="1"/>
          </p:cNvSpPr>
          <p:nvPr/>
        </p:nvSpPr>
        <p:spPr>
          <a:xfrm>
            <a:off x="8801100" y="220980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Assertion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F73A99-14CC-4C68-96BC-45B9AE4419FD}"/>
              </a:ext>
            </a:extLst>
          </p:cNvPr>
          <p:cNvSpPr>
            <a:spLocks noGrp="1"/>
          </p:cNvSpPr>
          <p:nvPr/>
        </p:nvSpPr>
        <p:spPr>
          <a:xfrm>
            <a:off x="8801100" y="2647950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5BA848-67EA-4990-8508-54A479154CE5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5C592-3D5E-4DA4-8390-0208F429E654}"/>
              </a:ext>
            </a:extLst>
          </p:cNvPr>
          <p:cNvSpPr>
            <a:spLocks noGrp="1"/>
          </p:cNvSpPr>
          <p:nvPr/>
        </p:nvSpPr>
        <p:spPr>
          <a:xfrm>
            <a:off x="1390650" y="44005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Synchronization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BF8492-BA45-4411-869F-AE7F3F8F50C4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9FAD7-5991-430A-AE22-752152322C52}"/>
              </a:ext>
            </a:extLst>
          </p:cNvPr>
          <p:cNvSpPr>
            <a:spLocks noGrp="1"/>
          </p:cNvSpPr>
          <p:nvPr/>
        </p:nvSpPr>
        <p:spPr>
          <a:xfrm>
            <a:off x="8477250" y="419100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682AFF-60AB-4896-A258-1DA512DF006D}"/>
              </a:ext>
            </a:extLst>
          </p:cNvPr>
          <p:cNvSpPr>
            <a:spLocks noGrp="1"/>
          </p:cNvSpPr>
          <p:nvPr/>
        </p:nvSpPr>
        <p:spPr>
          <a:xfrm>
            <a:off x="8705850" y="44005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Test Double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0CC91C-C4D4-47F7-8A54-F88A11F9356D}"/>
              </a:ext>
            </a:extLst>
          </p:cNvPr>
          <p:cNvSpPr>
            <a:spLocks noGrp="1"/>
          </p:cNvSpPr>
          <p:nvPr/>
        </p:nvSpPr>
        <p:spPr>
          <a:xfrm>
            <a:off x="8705850" y="4838700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17C95-BF0F-4415-9F66-DDDB99DA2658}"/>
              </a:ext>
            </a:extLst>
          </p:cNvPr>
          <p:cNvSpPr>
            <a:spLocks noGrp="1"/>
          </p:cNvSpPr>
          <p:nvPr/>
        </p:nvSpPr>
        <p:spPr>
          <a:xfrm>
            <a:off x="1304925" y="25908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Finds the UI element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C68A4B-5AF7-4162-AE86-F81C5891F53D}"/>
              </a:ext>
            </a:extLst>
          </p:cNvPr>
          <p:cNvSpPr>
            <a:spLocks noGrp="1"/>
          </p:cNvSpPr>
          <p:nvPr/>
        </p:nvSpPr>
        <p:spPr>
          <a:xfrm>
            <a:off x="8734425" y="2571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Checks expected behavior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1D2194-10FC-4E4B-8356-D62D76D15BF5}"/>
              </a:ext>
            </a:extLst>
          </p:cNvPr>
          <p:cNvSpPr>
            <a:spLocks noGrp="1"/>
          </p:cNvSpPr>
          <p:nvPr/>
        </p:nvSpPr>
        <p:spPr>
          <a:xfrm>
            <a:off x="1238250" y="48006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Waits for stable state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1428E2-C97A-4B53-895E-2DB4D43A1196}"/>
              </a:ext>
            </a:extLst>
          </p:cNvPr>
          <p:cNvSpPr>
            <a:spLocks noGrp="1"/>
          </p:cNvSpPr>
          <p:nvPr/>
        </p:nvSpPr>
        <p:spPr>
          <a:xfrm>
            <a:off x="8644890" y="475869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Replaces a dependency</a:t>
            </a:r>
          </a:p>
        </p:txBody>
      </p:sp>
    </p:spTree>
    <p:extLst>
      <p:ext uri="{BB962C8B-B14F-4D97-AF65-F5344CB8AC3E}">
        <p14:creationId xmlns:p14="http://schemas.microsoft.com/office/powerpoint/2010/main" val="148365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54E12D8-E706-4481-99A1-A44B46C7752E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813426-E5F8-48C5-900D-430B1B7DE82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Tool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C2D6F2-AAF0-42C4-96BA-35A07E92FBFE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Playwright best fits this seminar’s learning goals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F46E5-A276-4A14-94BC-12FAF8C6BD1B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4B0D82-A6BB-4F5F-BC1C-06144034ACC0}"/>
              </a:ext>
            </a:extLst>
          </p:cNvPr>
          <p:cNvSpPr>
            <a:spLocks noGrp="1"/>
          </p:cNvSpPr>
          <p:nvPr/>
        </p:nvSpPr>
        <p:spPr>
          <a:xfrm>
            <a:off x="533400" y="2114550"/>
            <a:ext cx="1790700" cy="685800"/>
          </a:xfrm>
          <a:prstGeom prst="rect">
            <a:avLst/>
          </a:prstGeom>
          <a:solidFill>
            <a:srgbClr val="1565C0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706308-D98B-4EC9-AD33-D57CDFE3BA2D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13705-EA26-4C2B-89EF-3B205575E9E2}"/>
              </a:ext>
            </a:extLst>
          </p:cNvPr>
          <p:cNvSpPr>
            <a:spLocks noGrp="1"/>
          </p:cNvSpPr>
          <p:nvPr/>
        </p:nvSpPr>
        <p:spPr>
          <a:xfrm>
            <a:off x="2324100" y="2114550"/>
            <a:ext cx="3333750" cy="685800"/>
          </a:xfrm>
          <a:prstGeom prst="rect">
            <a:avLst/>
          </a:prstGeom>
          <a:solidFill>
            <a:srgbClr val="1565C0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AAB309-33A3-4190-8161-6C1EC756CBF5}"/>
              </a:ext>
            </a:extLst>
          </p:cNvPr>
          <p:cNvSpPr>
            <a:spLocks noGrp="1"/>
          </p:cNvSpPr>
          <p:nvPr/>
        </p:nvSpPr>
        <p:spPr>
          <a:xfrm>
            <a:off x="2438400" y="22288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Advantages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1312B5-24EB-45AD-9B14-C23EC7819571}"/>
              </a:ext>
            </a:extLst>
          </p:cNvPr>
          <p:cNvSpPr>
            <a:spLocks noGrp="1"/>
          </p:cNvSpPr>
          <p:nvPr/>
        </p:nvSpPr>
        <p:spPr>
          <a:xfrm>
            <a:off x="5657850" y="2114550"/>
            <a:ext cx="3333750" cy="685800"/>
          </a:xfrm>
          <a:prstGeom prst="rect">
            <a:avLst/>
          </a:prstGeom>
          <a:solidFill>
            <a:srgbClr val="1565C0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05EFE8-291E-4BDB-9A19-A51EF95305FE}"/>
              </a:ext>
            </a:extLst>
          </p:cNvPr>
          <p:cNvSpPr>
            <a:spLocks noGrp="1"/>
          </p:cNvSpPr>
          <p:nvPr/>
        </p:nvSpPr>
        <p:spPr>
          <a:xfrm>
            <a:off x="5772150" y="22288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Limitations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8832BD-E4C2-4090-9DB0-8B0115AD2EDD}"/>
              </a:ext>
            </a:extLst>
          </p:cNvPr>
          <p:cNvSpPr>
            <a:spLocks noGrp="1"/>
          </p:cNvSpPr>
          <p:nvPr/>
        </p:nvSpPr>
        <p:spPr>
          <a:xfrm>
            <a:off x="8991600" y="2114550"/>
            <a:ext cx="2381250" cy="685800"/>
          </a:xfrm>
          <a:prstGeom prst="rect">
            <a:avLst/>
          </a:prstGeom>
          <a:solidFill>
            <a:srgbClr val="1565C0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F99DF8-B3CB-47BC-916F-668CD40F8B60}"/>
              </a:ext>
            </a:extLst>
          </p:cNvPr>
          <p:cNvSpPr>
            <a:spLocks noGrp="1"/>
          </p:cNvSpPr>
          <p:nvPr/>
        </p:nvSpPr>
        <p:spPr>
          <a:xfrm>
            <a:off x="9105900" y="22288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Typical usage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D72176-DE24-44E0-90FD-27285EF5DB04}"/>
              </a:ext>
            </a:extLst>
          </p:cNvPr>
          <p:cNvSpPr>
            <a:spLocks noGrp="1"/>
          </p:cNvSpPr>
          <p:nvPr/>
        </p:nvSpPr>
        <p:spPr>
          <a:xfrm>
            <a:off x="533400" y="2800350"/>
            <a:ext cx="179070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D455D6-2E1A-434F-A117-9BC7097CBA60}"/>
              </a:ext>
            </a:extLst>
          </p:cNvPr>
          <p:cNvSpPr>
            <a:spLocks noGrp="1"/>
          </p:cNvSpPr>
          <p:nvPr/>
        </p:nvSpPr>
        <p:spPr>
          <a:xfrm>
            <a:off x="647700" y="2914650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Selenium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45A496-C7CF-4220-8D8C-F5291E92512D}"/>
              </a:ext>
            </a:extLst>
          </p:cNvPr>
          <p:cNvSpPr>
            <a:spLocks noGrp="1"/>
          </p:cNvSpPr>
          <p:nvPr/>
        </p:nvSpPr>
        <p:spPr>
          <a:xfrm>
            <a:off x="2324100" y="2800350"/>
            <a:ext cx="33337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01C133-DCC9-4EF6-86A7-AE85B772A0E5}"/>
              </a:ext>
            </a:extLst>
          </p:cNvPr>
          <p:cNvSpPr>
            <a:spLocks noGrp="1"/>
          </p:cNvSpPr>
          <p:nvPr/>
        </p:nvSpPr>
        <p:spPr>
          <a:xfrm>
            <a:off x="2438400" y="29146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Mature ecosystem; broad browser support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49B424-5F5B-4AE3-B5A6-D06D539A79B4}"/>
              </a:ext>
            </a:extLst>
          </p:cNvPr>
          <p:cNvSpPr>
            <a:spLocks noGrp="1"/>
          </p:cNvSpPr>
          <p:nvPr/>
        </p:nvSpPr>
        <p:spPr>
          <a:xfrm>
            <a:off x="5657850" y="2800350"/>
            <a:ext cx="33337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921A70-E03D-4D1D-8FA7-7175567D305E}"/>
              </a:ext>
            </a:extLst>
          </p:cNvPr>
          <p:cNvSpPr>
            <a:spLocks noGrp="1"/>
          </p:cNvSpPr>
          <p:nvPr/>
        </p:nvSpPr>
        <p:spPr>
          <a:xfrm>
            <a:off x="5772150" y="29146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More setup; waits and reporting often need extra libraries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64AD7E-E10B-4594-88AC-5D35F33F4F7D}"/>
              </a:ext>
            </a:extLst>
          </p:cNvPr>
          <p:cNvSpPr>
            <a:spLocks noGrp="1"/>
          </p:cNvSpPr>
          <p:nvPr/>
        </p:nvSpPr>
        <p:spPr>
          <a:xfrm>
            <a:off x="8991600" y="2800350"/>
            <a:ext cx="23812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62BAC5-137D-48F2-BF7E-6D1652262AAD}"/>
              </a:ext>
            </a:extLst>
          </p:cNvPr>
          <p:cNvSpPr>
            <a:spLocks noGrp="1"/>
          </p:cNvSpPr>
          <p:nvPr/>
        </p:nvSpPr>
        <p:spPr>
          <a:xfrm>
            <a:off x="9105900" y="29146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Large legacy suites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83C1C7-1295-491B-BF9F-CD4BDC7E1621}"/>
              </a:ext>
            </a:extLst>
          </p:cNvPr>
          <p:cNvSpPr>
            <a:spLocks noGrp="1"/>
          </p:cNvSpPr>
          <p:nvPr/>
        </p:nvSpPr>
        <p:spPr>
          <a:xfrm>
            <a:off x="533400" y="3486150"/>
            <a:ext cx="179070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F83724-EE0D-46BC-8CC4-1B4EEACC7423}"/>
              </a:ext>
            </a:extLst>
          </p:cNvPr>
          <p:cNvSpPr>
            <a:spLocks noGrp="1"/>
          </p:cNvSpPr>
          <p:nvPr/>
        </p:nvSpPr>
        <p:spPr>
          <a:xfrm>
            <a:off x="647700" y="3600450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Cypress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FF9A78-49F6-4BB4-9E35-1389DCDA70D3}"/>
              </a:ext>
            </a:extLst>
          </p:cNvPr>
          <p:cNvSpPr>
            <a:spLocks noGrp="1"/>
          </p:cNvSpPr>
          <p:nvPr/>
        </p:nvSpPr>
        <p:spPr>
          <a:xfrm>
            <a:off x="2324100" y="3486150"/>
            <a:ext cx="33337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AC999A-6C01-4669-BA50-654C49E59B9A}"/>
              </a:ext>
            </a:extLst>
          </p:cNvPr>
          <p:cNvSpPr>
            <a:spLocks noGrp="1"/>
          </p:cNvSpPr>
          <p:nvPr/>
        </p:nvSpPr>
        <p:spPr>
          <a:xfrm>
            <a:off x="2438400" y="36004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Friendly frontend debugging; quick local feedback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8DA469-E2D4-46FF-9125-8120EE47E5E6}"/>
              </a:ext>
            </a:extLst>
          </p:cNvPr>
          <p:cNvSpPr>
            <a:spLocks noGrp="1"/>
          </p:cNvSpPr>
          <p:nvPr/>
        </p:nvSpPr>
        <p:spPr>
          <a:xfrm>
            <a:off x="5657850" y="3486150"/>
            <a:ext cx="33337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28D23A-BCF8-464A-AE09-2DAA5BF7F8C0}"/>
              </a:ext>
            </a:extLst>
          </p:cNvPr>
          <p:cNvSpPr>
            <a:spLocks noGrp="1"/>
          </p:cNvSpPr>
          <p:nvPr/>
        </p:nvSpPr>
        <p:spPr>
          <a:xfrm>
            <a:off x="5772150" y="36004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Browser model and cross-browser scope are less flexible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AC24CD-30F4-4BAA-82BC-295005FD1326}"/>
              </a:ext>
            </a:extLst>
          </p:cNvPr>
          <p:cNvSpPr>
            <a:spLocks noGrp="1"/>
          </p:cNvSpPr>
          <p:nvPr/>
        </p:nvSpPr>
        <p:spPr>
          <a:xfrm>
            <a:off x="8991600" y="3486150"/>
            <a:ext cx="23812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F4E61C-CE3F-401C-AD72-4940BCBAA4CB}"/>
              </a:ext>
            </a:extLst>
          </p:cNvPr>
          <p:cNvSpPr>
            <a:spLocks noGrp="1"/>
          </p:cNvSpPr>
          <p:nvPr/>
        </p:nvSpPr>
        <p:spPr>
          <a:xfrm>
            <a:off x="9105900" y="36004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Frontend-heavy teams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D41214-D5E0-4B06-9DCE-A94A9D84BF15}"/>
              </a:ext>
            </a:extLst>
          </p:cNvPr>
          <p:cNvSpPr>
            <a:spLocks noGrp="1"/>
          </p:cNvSpPr>
          <p:nvPr/>
        </p:nvSpPr>
        <p:spPr>
          <a:xfrm>
            <a:off x="533400" y="4171950"/>
            <a:ext cx="1790700" cy="685800"/>
          </a:xfrm>
          <a:prstGeom prst="rect">
            <a:avLst/>
          </a:prstGeom>
          <a:solidFill>
            <a:srgbClr val="EAF2FD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D058DC-22D8-46DE-BC1D-99C4FB1063C6}"/>
              </a:ext>
            </a:extLst>
          </p:cNvPr>
          <p:cNvSpPr>
            <a:spLocks noGrp="1"/>
          </p:cNvSpPr>
          <p:nvPr/>
        </p:nvSpPr>
        <p:spPr>
          <a:xfrm>
            <a:off x="647700" y="4286250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Playwright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FD6178-F550-4905-AA99-2AC23BD8E0D3}"/>
              </a:ext>
            </a:extLst>
          </p:cNvPr>
          <p:cNvSpPr>
            <a:spLocks noGrp="1"/>
          </p:cNvSpPr>
          <p:nvPr/>
        </p:nvSpPr>
        <p:spPr>
          <a:xfrm>
            <a:off x="2324100" y="4171950"/>
            <a:ext cx="3333750" cy="685800"/>
          </a:xfrm>
          <a:prstGeom prst="rect">
            <a:avLst/>
          </a:prstGeom>
          <a:solidFill>
            <a:srgbClr val="EAF2FD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FAA67A-8F69-4FA8-AEF4-162A5CBA7A48}"/>
              </a:ext>
            </a:extLst>
          </p:cNvPr>
          <p:cNvSpPr>
            <a:spLocks noGrp="1"/>
          </p:cNvSpPr>
          <p:nvPr/>
        </p:nvSpPr>
        <p:spPr>
          <a:xfrm>
            <a:off x="2438400" y="42862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Auto-waiting, multi-browser, trace viewer, API mocking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7D6A47-CFD7-42C7-B957-CDA37E1B3B3F}"/>
              </a:ext>
            </a:extLst>
          </p:cNvPr>
          <p:cNvSpPr>
            <a:spLocks noGrp="1"/>
          </p:cNvSpPr>
          <p:nvPr/>
        </p:nvSpPr>
        <p:spPr>
          <a:xfrm>
            <a:off x="5657850" y="4171950"/>
            <a:ext cx="3333750" cy="685800"/>
          </a:xfrm>
          <a:prstGeom prst="rect">
            <a:avLst/>
          </a:prstGeom>
          <a:solidFill>
            <a:srgbClr val="EAF2FD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7DBF90-8564-4795-B01B-FF537FF90E37}"/>
              </a:ext>
            </a:extLst>
          </p:cNvPr>
          <p:cNvSpPr>
            <a:spLocks noGrp="1"/>
          </p:cNvSpPr>
          <p:nvPr/>
        </p:nvSpPr>
        <p:spPr>
          <a:xfrm>
            <a:off x="5772150" y="42862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Requires code discipline and locator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D7B3A7-DAE1-4954-A972-5F516978CA51}"/>
              </a:ext>
            </a:extLst>
          </p:cNvPr>
          <p:cNvSpPr>
            <a:spLocks noGrp="1"/>
          </p:cNvSpPr>
          <p:nvPr/>
        </p:nvSpPr>
        <p:spPr>
          <a:xfrm>
            <a:off x="8991600" y="4171950"/>
            <a:ext cx="2381250" cy="685800"/>
          </a:xfrm>
          <a:prstGeom prst="rect">
            <a:avLst/>
          </a:prstGeom>
          <a:solidFill>
            <a:srgbClr val="EAF2FD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08F916-7BAA-41BF-A795-ED756026BE74}"/>
              </a:ext>
            </a:extLst>
          </p:cNvPr>
          <p:cNvSpPr>
            <a:spLocks noGrp="1"/>
          </p:cNvSpPr>
          <p:nvPr/>
        </p:nvSpPr>
        <p:spPr>
          <a:xfrm>
            <a:off x="9105900" y="42862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Modern E2E web automation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5BF359-6CB2-4986-B050-6F1F8128479A}"/>
              </a:ext>
            </a:extLst>
          </p:cNvPr>
          <p:cNvSpPr>
            <a:spLocks noGrp="1"/>
          </p:cNvSpPr>
          <p:nvPr/>
        </p:nvSpPr>
        <p:spPr>
          <a:xfrm>
            <a:off x="533400" y="2114550"/>
            <a:ext cx="10839450" cy="2743200"/>
          </a:xfrm>
          <a:prstGeom prst="rect">
            <a:avLst/>
          </a:prstGeom>
          <a:noFill/>
          <a:ln w="13335">
            <a:solidFill>
              <a:srgbClr val="CFD2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051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256F473-EB99-4B76-87A4-66DBE88BEFA5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45B47D-8393-427E-B72C-63B71BAF4CE8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Why Playwright?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1CA30-EE72-4402-800D-CC5E0DC41BB5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Playwright combines speed, stability, and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2A207B-45F4-44C9-A519-8D219B820828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EA0DE1-8F7A-4D88-94D2-9C1FE34F00A5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3333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90004C-9706-46A1-87E2-ED1199D148FE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8B8F1-1128-4DC4-95BE-D2F3CE5705DC}"/>
              </a:ext>
            </a:extLst>
          </p:cNvPr>
          <p:cNvSpPr>
            <a:spLocks noGrp="1"/>
          </p:cNvSpPr>
          <p:nvPr/>
        </p:nvSpPr>
        <p:spPr>
          <a:xfrm>
            <a:off x="819150" y="2390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AW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B393C4-3D34-40DF-9A27-1B45A59E44F5}"/>
              </a:ext>
            </a:extLst>
          </p:cNvPr>
          <p:cNvSpPr>
            <a:spLocks noGrp="1"/>
          </p:cNvSpPr>
          <p:nvPr/>
        </p:nvSpPr>
        <p:spPr>
          <a:xfrm>
            <a:off x="1371600" y="230505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Auto Waiting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513052-6128-4947-B5C8-59C61390EB63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Waits for elements to be actionable before interacting.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FCB154-3FB1-4545-9730-EEB8B3CEE506}"/>
              </a:ext>
            </a:extLst>
          </p:cNvPr>
          <p:cNvSpPr>
            <a:spLocks noGrp="1"/>
          </p:cNvSpPr>
          <p:nvPr/>
        </p:nvSpPr>
        <p:spPr>
          <a:xfrm>
            <a:off x="4448175" y="2095500"/>
            <a:ext cx="3333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C401A6-2627-4D43-B0E8-2BC152767298}"/>
              </a:ext>
            </a:extLst>
          </p:cNvPr>
          <p:cNvSpPr>
            <a:spLocks noGrp="1"/>
          </p:cNvSpPr>
          <p:nvPr/>
        </p:nvSpPr>
        <p:spPr>
          <a:xfrm>
            <a:off x="4676775" y="232410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449A99-799E-4DAE-A57F-B317D7024A41}"/>
              </a:ext>
            </a:extLst>
          </p:cNvPr>
          <p:cNvSpPr>
            <a:spLocks noGrp="1"/>
          </p:cNvSpPr>
          <p:nvPr/>
        </p:nvSpPr>
        <p:spPr>
          <a:xfrm>
            <a:off x="4676775" y="2390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MB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053852-ECD6-415E-8D39-50A55CCEEB03}"/>
              </a:ext>
            </a:extLst>
          </p:cNvPr>
          <p:cNvSpPr>
            <a:spLocks noGrp="1"/>
          </p:cNvSpPr>
          <p:nvPr/>
        </p:nvSpPr>
        <p:spPr>
          <a:xfrm>
            <a:off x="5229225" y="230505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 dirty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Multi Browser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C2BE8A-A617-4CBF-BDF6-60B3276F6DE8}"/>
              </a:ext>
            </a:extLst>
          </p:cNvPr>
          <p:cNvSpPr>
            <a:spLocks noGrp="1"/>
          </p:cNvSpPr>
          <p:nvPr/>
        </p:nvSpPr>
        <p:spPr>
          <a:xfrm>
            <a:off x="4676775" y="274320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Runs the same tests on Chromium, Firefox, and WebKit.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4CD0C6-4469-479B-B425-057816BFA218}"/>
              </a:ext>
            </a:extLst>
          </p:cNvPr>
          <p:cNvSpPr>
            <a:spLocks noGrp="1"/>
          </p:cNvSpPr>
          <p:nvPr/>
        </p:nvSpPr>
        <p:spPr>
          <a:xfrm>
            <a:off x="8305800" y="2095500"/>
            <a:ext cx="3333750" cy="1257300"/>
          </a:xfrm>
          <a:prstGeom prst="roundRect">
            <a:avLst>
              <a:gd name="adj" fmla="val 6061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FF862D-041C-4A50-BF12-580F5DB1F372}"/>
              </a:ext>
            </a:extLst>
          </p:cNvPr>
          <p:cNvSpPr>
            <a:spLocks noGrp="1"/>
          </p:cNvSpPr>
          <p:nvPr/>
        </p:nvSpPr>
        <p:spPr>
          <a:xfrm>
            <a:off x="8534400" y="232410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0EEC5A-E8B6-490A-9934-24E258B4286F}"/>
              </a:ext>
            </a:extLst>
          </p:cNvPr>
          <p:cNvSpPr>
            <a:spLocks noGrp="1"/>
          </p:cNvSpPr>
          <p:nvPr/>
        </p:nvSpPr>
        <p:spPr>
          <a:xfrm>
            <a:off x="8534400" y="2390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A7D930-D679-496F-BB7D-6EC029BD1DAD}"/>
              </a:ext>
            </a:extLst>
          </p:cNvPr>
          <p:cNvSpPr>
            <a:spLocks noGrp="1"/>
          </p:cNvSpPr>
          <p:nvPr/>
        </p:nvSpPr>
        <p:spPr>
          <a:xfrm>
            <a:off x="9086850" y="230505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API Mocking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DAB2A8-772F-4ABA-A852-840A7604A0D6}"/>
              </a:ext>
            </a:extLst>
          </p:cNvPr>
          <p:cNvSpPr>
            <a:spLocks noGrp="1"/>
          </p:cNvSpPr>
          <p:nvPr/>
        </p:nvSpPr>
        <p:spPr>
          <a:xfrm>
            <a:off x="8534400" y="274320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Intercepts requests and returns controlled responses.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FECFBB-CB3A-42A9-9A1F-3BB2EAA97B8E}"/>
              </a:ext>
            </a:extLst>
          </p:cNvPr>
          <p:cNvSpPr>
            <a:spLocks noGrp="1"/>
          </p:cNvSpPr>
          <p:nvPr/>
        </p:nvSpPr>
        <p:spPr>
          <a:xfrm>
            <a:off x="590550" y="3790950"/>
            <a:ext cx="3333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7E8690-C850-42C9-9ED5-5BD8160FBD8F}"/>
              </a:ext>
            </a:extLst>
          </p:cNvPr>
          <p:cNvSpPr>
            <a:spLocks noGrp="1"/>
          </p:cNvSpPr>
          <p:nvPr/>
        </p:nvSpPr>
        <p:spPr>
          <a:xfrm>
            <a:off x="819150" y="40195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8AB261-C524-432E-A55E-4225B4737576}"/>
              </a:ext>
            </a:extLst>
          </p:cNvPr>
          <p:cNvSpPr>
            <a:spLocks noGrp="1"/>
          </p:cNvSpPr>
          <p:nvPr/>
        </p:nvSpPr>
        <p:spPr>
          <a:xfrm>
            <a:off x="819150" y="40862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TR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F4D6EA-F5AD-49A7-B612-63FF5505592C}"/>
              </a:ext>
            </a:extLst>
          </p:cNvPr>
          <p:cNvSpPr>
            <a:spLocks noGrp="1"/>
          </p:cNvSpPr>
          <p:nvPr/>
        </p:nvSpPr>
        <p:spPr>
          <a:xfrm>
            <a:off x="1371600" y="40005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Trace Viewer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7E8A2D-BF13-400D-9649-808E4626A407}"/>
              </a:ext>
            </a:extLst>
          </p:cNvPr>
          <p:cNvSpPr>
            <a:spLocks noGrp="1"/>
          </p:cNvSpPr>
          <p:nvPr/>
        </p:nvSpPr>
        <p:spPr>
          <a:xfrm>
            <a:off x="819150" y="443865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Captures timeline, screenshots, console, and network evidence.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368222C-0644-4172-9522-72D671508CD6}"/>
              </a:ext>
            </a:extLst>
          </p:cNvPr>
          <p:cNvSpPr>
            <a:spLocks noGrp="1"/>
          </p:cNvSpPr>
          <p:nvPr/>
        </p:nvSpPr>
        <p:spPr>
          <a:xfrm>
            <a:off x="4448175" y="3790950"/>
            <a:ext cx="3333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BFEAE80-933F-432C-87DF-4B6DDFC8C0E9}"/>
              </a:ext>
            </a:extLst>
          </p:cNvPr>
          <p:cNvSpPr>
            <a:spLocks noGrp="1"/>
          </p:cNvSpPr>
          <p:nvPr/>
        </p:nvSpPr>
        <p:spPr>
          <a:xfrm>
            <a:off x="4676775" y="40195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7C88AD-46DF-4794-B5C7-3DFBB45582CE}"/>
              </a:ext>
            </a:extLst>
          </p:cNvPr>
          <p:cNvSpPr>
            <a:spLocks noGrp="1"/>
          </p:cNvSpPr>
          <p:nvPr/>
        </p:nvSpPr>
        <p:spPr>
          <a:xfrm>
            <a:off x="4676775" y="40862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||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6C7B63-BB38-41F7-9BBC-A61AF3F1225F}"/>
              </a:ext>
            </a:extLst>
          </p:cNvPr>
          <p:cNvSpPr>
            <a:spLocks noGrp="1"/>
          </p:cNvSpPr>
          <p:nvPr/>
        </p:nvSpPr>
        <p:spPr>
          <a:xfrm>
            <a:off x="5229225" y="40005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Parallel Execution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219C91-81DF-4ABA-A369-925F59229BDC}"/>
              </a:ext>
            </a:extLst>
          </p:cNvPr>
          <p:cNvSpPr>
            <a:spLocks noGrp="1"/>
          </p:cNvSpPr>
          <p:nvPr/>
        </p:nvSpPr>
        <p:spPr>
          <a:xfrm>
            <a:off x="4676775" y="443865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Uses workers to reduce regression runtime.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B85CB9-BEA5-43D9-942A-FFECBFAC2927}"/>
              </a:ext>
            </a:extLst>
          </p:cNvPr>
          <p:cNvSpPr>
            <a:spLocks noGrp="1"/>
          </p:cNvSpPr>
          <p:nvPr/>
        </p:nvSpPr>
        <p:spPr>
          <a:xfrm>
            <a:off x="8305800" y="3790950"/>
            <a:ext cx="3333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F01237-1FFD-4EF2-AFFD-A0C11434BC52}"/>
              </a:ext>
            </a:extLst>
          </p:cNvPr>
          <p:cNvSpPr>
            <a:spLocks noGrp="1"/>
          </p:cNvSpPr>
          <p:nvPr/>
        </p:nvSpPr>
        <p:spPr>
          <a:xfrm>
            <a:off x="8534400" y="40195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C29905-CB33-4326-AE2F-46DA232A99D2}"/>
              </a:ext>
            </a:extLst>
          </p:cNvPr>
          <p:cNvSpPr>
            <a:spLocks noGrp="1"/>
          </p:cNvSpPr>
          <p:nvPr/>
        </p:nvSpPr>
        <p:spPr>
          <a:xfrm>
            <a:off x="8534400" y="40862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29143-7C5B-4F3B-9700-2E36B52E8CD6}"/>
              </a:ext>
            </a:extLst>
          </p:cNvPr>
          <p:cNvSpPr>
            <a:spLocks noGrp="1"/>
          </p:cNvSpPr>
          <p:nvPr/>
        </p:nvSpPr>
        <p:spPr>
          <a:xfrm>
            <a:off x="9086850" y="40005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TypeScript Support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235F43-1BD1-430A-A715-F72F54E5C73E}"/>
              </a:ext>
            </a:extLst>
          </p:cNvPr>
          <p:cNvSpPr>
            <a:spLocks noGrp="1"/>
          </p:cNvSpPr>
          <p:nvPr/>
        </p:nvSpPr>
        <p:spPr>
          <a:xfrm>
            <a:off x="8534400" y="443865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Keeps test code typed, readable, and maintainable.</a:t>
            </a:r>
          </a:p>
        </p:txBody>
      </p:sp>
    </p:spTree>
    <p:extLst>
      <p:ext uri="{BB962C8B-B14F-4D97-AF65-F5344CB8AC3E}">
        <p14:creationId xmlns:p14="http://schemas.microsoft.com/office/powerpoint/2010/main" val="128970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0E4C2DB-ECC5-42D5-A071-88A3DAE122D1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2C5CF-AEEA-47CC-98EF-C52E976B8A4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Test Double and API Mocking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4A1094-59AA-4901-9608-49505DE1361D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Network-level mocking gives frontend tests isolation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11F6B-9CA8-4598-8677-B34FFE040607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28CDA0-9F5F-4561-B2A2-35766037E8DA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76022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6A687-1B41-4BD1-BC74-9D4953F40C8F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14935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Browser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F12B23-4733-4E7D-BE57-1BD93DDCA868}"/>
              </a:ext>
            </a:extLst>
          </p:cNvPr>
          <p:cNvSpPr>
            <a:spLocks noGrp="1"/>
          </p:cNvSpPr>
          <p:nvPr/>
        </p:nvSpPr>
        <p:spPr>
          <a:xfrm>
            <a:off x="2484120" y="29432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C3FBB2-124F-4832-A361-31566E028CF9}"/>
              </a:ext>
            </a:extLst>
          </p:cNvPr>
          <p:cNvSpPr>
            <a:spLocks noGrp="1"/>
          </p:cNvSpPr>
          <p:nvPr/>
        </p:nvSpPr>
        <p:spPr>
          <a:xfrm>
            <a:off x="2941320" y="2628900"/>
            <a:ext cx="176022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B7370-6CDF-45D6-AC40-2EC108C30EB5}"/>
              </a:ext>
            </a:extLst>
          </p:cNvPr>
          <p:cNvSpPr>
            <a:spLocks noGrp="1"/>
          </p:cNvSpPr>
          <p:nvPr/>
        </p:nvSpPr>
        <p:spPr>
          <a:xfrm>
            <a:off x="3074670" y="2914650"/>
            <a:ext cx="14935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Playwright route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CD9D3F-7AE5-4019-BF63-01CDF58F4CB2}"/>
              </a:ext>
            </a:extLst>
          </p:cNvPr>
          <p:cNvSpPr>
            <a:spLocks noGrp="1"/>
          </p:cNvSpPr>
          <p:nvPr/>
        </p:nvSpPr>
        <p:spPr>
          <a:xfrm>
            <a:off x="4747260" y="2914650"/>
            <a:ext cx="4419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E85DA6-C0DF-40A0-B0DF-17928C27F92A}"/>
              </a:ext>
            </a:extLst>
          </p:cNvPr>
          <p:cNvSpPr>
            <a:spLocks noGrp="1"/>
          </p:cNvSpPr>
          <p:nvPr/>
        </p:nvSpPr>
        <p:spPr>
          <a:xfrm>
            <a:off x="5215890" y="2628900"/>
            <a:ext cx="176022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7E6C02-DB93-459A-B6E7-21DEA48C3B38}"/>
              </a:ext>
            </a:extLst>
          </p:cNvPr>
          <p:cNvSpPr>
            <a:spLocks noGrp="1"/>
          </p:cNvSpPr>
          <p:nvPr/>
        </p:nvSpPr>
        <p:spPr>
          <a:xfrm>
            <a:off x="5349240" y="2914650"/>
            <a:ext cx="14935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Mock API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04D415-4522-4C23-BD59-424BE36EFC28}"/>
              </a:ext>
            </a:extLst>
          </p:cNvPr>
          <p:cNvSpPr>
            <a:spLocks noGrp="1"/>
          </p:cNvSpPr>
          <p:nvPr/>
        </p:nvSpPr>
        <p:spPr>
          <a:xfrm>
            <a:off x="7002018" y="294322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CA6651-5AD7-4A1D-88BC-3404B0F8C34D}"/>
              </a:ext>
            </a:extLst>
          </p:cNvPr>
          <p:cNvSpPr>
            <a:spLocks noGrp="1"/>
          </p:cNvSpPr>
          <p:nvPr/>
        </p:nvSpPr>
        <p:spPr>
          <a:xfrm>
            <a:off x="7490460" y="2628900"/>
            <a:ext cx="176022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F7BD59-183F-4CFD-A6DE-CEEEDCCE50D1}"/>
              </a:ext>
            </a:extLst>
          </p:cNvPr>
          <p:cNvSpPr>
            <a:spLocks noGrp="1"/>
          </p:cNvSpPr>
          <p:nvPr/>
        </p:nvSpPr>
        <p:spPr>
          <a:xfrm>
            <a:off x="7623810" y="2914650"/>
            <a:ext cx="14935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JSON response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5ED2F4-2D8C-4D59-B3D2-8140C633C173}"/>
              </a:ext>
            </a:extLst>
          </p:cNvPr>
          <p:cNvSpPr>
            <a:spLocks noGrp="1"/>
          </p:cNvSpPr>
          <p:nvPr/>
        </p:nvSpPr>
        <p:spPr>
          <a:xfrm>
            <a:off x="9300972" y="294322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7609B97-B9F3-4FBD-8482-8DAFCBF68212}"/>
              </a:ext>
            </a:extLst>
          </p:cNvPr>
          <p:cNvSpPr>
            <a:spLocks noGrp="1"/>
          </p:cNvSpPr>
          <p:nvPr/>
        </p:nvSpPr>
        <p:spPr>
          <a:xfrm>
            <a:off x="9765030" y="2628900"/>
            <a:ext cx="1760220" cy="914400"/>
          </a:xfrm>
          <a:prstGeom prst="roundRect">
            <a:avLst>
              <a:gd name="adj" fmla="val 8333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137BB-6BF6-4BB0-8DD6-769AD63B8DEE}"/>
              </a:ext>
            </a:extLst>
          </p:cNvPr>
          <p:cNvSpPr>
            <a:spLocks noGrp="1"/>
          </p:cNvSpPr>
          <p:nvPr/>
        </p:nvSpPr>
        <p:spPr>
          <a:xfrm>
            <a:off x="9898380" y="2914650"/>
            <a:ext cx="14935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Frontend state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B059CB-B7BA-427D-94A4-77CBA4D2A7D1}"/>
              </a:ext>
            </a:extLst>
          </p:cNvPr>
          <p:cNvSpPr>
            <a:spLocks noGrp="1"/>
          </p:cNvSpPr>
          <p:nvPr/>
        </p:nvSpPr>
        <p:spPr>
          <a:xfrm>
            <a:off x="1466850" y="4381500"/>
            <a:ext cx="4095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DF0FBE-14C4-4A0A-9153-831167110A63}"/>
              </a:ext>
            </a:extLst>
          </p:cNvPr>
          <p:cNvSpPr>
            <a:spLocks noGrp="1"/>
          </p:cNvSpPr>
          <p:nvPr/>
        </p:nvSpPr>
        <p:spPr>
          <a:xfrm>
            <a:off x="1661160" y="4505325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 dirty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What is mocked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C31B3D-0D8A-4384-B610-1789C6C33C62}"/>
              </a:ext>
            </a:extLst>
          </p:cNvPr>
          <p:cNvSpPr>
            <a:spLocks noGrp="1"/>
          </p:cNvSpPr>
          <p:nvPr/>
        </p:nvSpPr>
        <p:spPr>
          <a:xfrm>
            <a:off x="1661160" y="4888992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HTTP requests are intercepted and fulfilled before reaching the backend.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3C47D72-9C7E-4B90-9658-3F0EE56597A6}"/>
              </a:ext>
            </a:extLst>
          </p:cNvPr>
          <p:cNvSpPr>
            <a:spLocks noGrp="1"/>
          </p:cNvSpPr>
          <p:nvPr/>
        </p:nvSpPr>
        <p:spPr>
          <a:xfrm>
            <a:off x="6610350" y="4381500"/>
            <a:ext cx="4095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D223F7-4A20-4092-811F-76C4BA848951}"/>
              </a:ext>
            </a:extLst>
          </p:cNvPr>
          <p:cNvSpPr>
            <a:spLocks noGrp="1"/>
          </p:cNvSpPr>
          <p:nvPr/>
        </p:nvSpPr>
        <p:spPr>
          <a:xfrm>
            <a:off x="6814566" y="4676775"/>
            <a:ext cx="46405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endParaRPr sz="1050" b="1" dirty="0">
              <a:solidFill>
                <a:srgbClr val="1565C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8EE1F5-EB41-432A-84DE-7AF93E1B4E98}"/>
              </a:ext>
            </a:extLst>
          </p:cNvPr>
          <p:cNvSpPr>
            <a:spLocks noGrp="1"/>
          </p:cNvSpPr>
          <p:nvPr/>
        </p:nvSpPr>
        <p:spPr>
          <a:xfrm>
            <a:off x="6800088" y="45910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 dirty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What is not mocked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95523C-B591-4AEF-85C4-B20084366E7C}"/>
              </a:ext>
            </a:extLst>
          </p:cNvPr>
          <p:cNvSpPr>
            <a:spLocks noGrp="1"/>
          </p:cNvSpPr>
          <p:nvPr/>
        </p:nvSpPr>
        <p:spPr>
          <a:xfrm>
            <a:off x="6796278" y="4901184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Playwright does not replace in-memory objects inside frontend or backend code.</a:t>
            </a:r>
          </a:p>
        </p:txBody>
      </p:sp>
    </p:spTree>
    <p:extLst>
      <p:ext uri="{BB962C8B-B14F-4D97-AF65-F5344CB8AC3E}">
        <p14:creationId xmlns:p14="http://schemas.microsoft.com/office/powerpoint/2010/main" val="371985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0F75DA4-FD6E-46BA-9834-3D4CE22842B6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C46F7B-285C-4F05-8E73-C6CC307ECA7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System Under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98948C-2302-4C0D-A4CA-948B5280224C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EShop gives the demo realistic browser and API behavior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F55C13-7AD1-4483-9E2E-02F9191A0B26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4C8F7E-E032-442D-819F-A3F475E912B4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71475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50A33-9973-4052-9D89-CF0765E7AA65}"/>
              </a:ext>
            </a:extLst>
          </p:cNvPr>
          <p:cNvSpPr>
            <a:spLocks noGrp="1"/>
          </p:cNvSpPr>
          <p:nvPr/>
        </p:nvSpPr>
        <p:spPr>
          <a:xfrm>
            <a:off x="895350" y="2390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endParaRPr sz="1050" b="1" dirty="0">
              <a:solidFill>
                <a:srgbClr val="1565C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9E9423-A3E7-42BB-8B88-A4B9B3F5A204}"/>
              </a:ext>
            </a:extLst>
          </p:cNvPr>
          <p:cNvSpPr>
            <a:spLocks noGrp="1"/>
          </p:cNvSpPr>
          <p:nvPr/>
        </p:nvSpPr>
        <p:spPr>
          <a:xfrm>
            <a:off x="922020" y="230505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 dirty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EShop context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23B9A-0DA1-4E6C-8D17-1AE6C8804D99}"/>
              </a:ext>
            </a:extLst>
          </p:cNvPr>
          <p:cNvSpPr>
            <a:spLocks noGrp="1"/>
          </p:cNvSpPr>
          <p:nvPr/>
        </p:nvSpPr>
        <p:spPr>
          <a:xfrm>
            <a:off x="895350" y="2743200"/>
            <a:ext cx="325755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Repository: github.com/ttbhanh/eshop-sut</a:t>
            </a:r>
          </a:p>
          <a:p>
            <a:endParaRPr sz="1575" b="0">
              <a:solidFill>
                <a:srgbClr val="5F6673"/>
              </a:solidFill>
              <a:latin typeface="Roboto"/>
              <a:ea typeface="Roboto"/>
              <a:cs typeface="Roboto"/>
            </a:endParaRPr>
          </a:p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Stack: web frontend, REST API, database</a:t>
            </a:r>
          </a:p>
          <a:p>
            <a:endParaRPr sz="1575" b="0">
              <a:solidFill>
                <a:srgbClr val="5F6673"/>
              </a:solidFill>
              <a:latin typeface="Roboto"/>
              <a:ea typeface="Roboto"/>
              <a:cs typeface="Roboto"/>
            </a:endParaRPr>
          </a:p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Flows: login, add to cart, checkout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6C38CB-1404-4810-80F2-CE5E571C4736}"/>
              </a:ext>
            </a:extLst>
          </p:cNvPr>
          <p:cNvSpPr>
            <a:spLocks noGrp="1"/>
          </p:cNvSpPr>
          <p:nvPr/>
        </p:nvSpPr>
        <p:spPr>
          <a:xfrm>
            <a:off x="5095875" y="2381250"/>
            <a:ext cx="11620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7F64A7-4DCE-4FDE-A1ED-0067CF46969A}"/>
              </a:ext>
            </a:extLst>
          </p:cNvPr>
          <p:cNvSpPr>
            <a:spLocks noGrp="1"/>
          </p:cNvSpPr>
          <p:nvPr/>
        </p:nvSpPr>
        <p:spPr>
          <a:xfrm>
            <a:off x="5229225" y="2619375"/>
            <a:ext cx="895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Browser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6416C4-AAF6-4B3F-AFB0-B95964128473}"/>
              </a:ext>
            </a:extLst>
          </p:cNvPr>
          <p:cNvSpPr>
            <a:spLocks noGrp="1"/>
          </p:cNvSpPr>
          <p:nvPr/>
        </p:nvSpPr>
        <p:spPr>
          <a:xfrm>
            <a:off x="6343650" y="264795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0FBB9D-A215-43CC-AD2D-BC88BEA64BB8}"/>
              </a:ext>
            </a:extLst>
          </p:cNvPr>
          <p:cNvSpPr>
            <a:spLocks noGrp="1"/>
          </p:cNvSpPr>
          <p:nvPr/>
        </p:nvSpPr>
        <p:spPr>
          <a:xfrm>
            <a:off x="6772275" y="2381250"/>
            <a:ext cx="11620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9A751-E0B1-4F6D-AB15-8A8B0C00ADED}"/>
              </a:ext>
            </a:extLst>
          </p:cNvPr>
          <p:cNvSpPr>
            <a:spLocks noGrp="1"/>
          </p:cNvSpPr>
          <p:nvPr/>
        </p:nvSpPr>
        <p:spPr>
          <a:xfrm>
            <a:off x="6905625" y="2619375"/>
            <a:ext cx="895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Frontend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64AD4B-A76D-47B3-A90C-57F7051BA241}"/>
              </a:ext>
            </a:extLst>
          </p:cNvPr>
          <p:cNvSpPr>
            <a:spLocks noGrp="1"/>
          </p:cNvSpPr>
          <p:nvPr/>
        </p:nvSpPr>
        <p:spPr>
          <a:xfrm>
            <a:off x="8027670" y="2647950"/>
            <a:ext cx="42100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63D48-BB7F-423C-8318-1322A7EB5627}"/>
              </a:ext>
            </a:extLst>
          </p:cNvPr>
          <p:cNvSpPr>
            <a:spLocks noGrp="1"/>
          </p:cNvSpPr>
          <p:nvPr/>
        </p:nvSpPr>
        <p:spPr>
          <a:xfrm>
            <a:off x="8448675" y="2381250"/>
            <a:ext cx="11620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6D45FA-9F60-467C-89EE-97FD6DDB53A2}"/>
              </a:ext>
            </a:extLst>
          </p:cNvPr>
          <p:cNvSpPr>
            <a:spLocks noGrp="1"/>
          </p:cNvSpPr>
          <p:nvPr/>
        </p:nvSpPr>
        <p:spPr>
          <a:xfrm>
            <a:off x="8582025" y="2619375"/>
            <a:ext cx="895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REST 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9E047E-EA01-4FEA-ACB3-7A6140DDA6E1}"/>
              </a:ext>
            </a:extLst>
          </p:cNvPr>
          <p:cNvSpPr>
            <a:spLocks noGrp="1"/>
          </p:cNvSpPr>
          <p:nvPr/>
        </p:nvSpPr>
        <p:spPr>
          <a:xfrm>
            <a:off x="9665970" y="2647950"/>
            <a:ext cx="45910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F2CCA7B-77C9-4322-8D99-B182300AE5F0}"/>
              </a:ext>
            </a:extLst>
          </p:cNvPr>
          <p:cNvSpPr>
            <a:spLocks noGrp="1"/>
          </p:cNvSpPr>
          <p:nvPr/>
        </p:nvSpPr>
        <p:spPr>
          <a:xfrm>
            <a:off x="10125075" y="2381250"/>
            <a:ext cx="1162050" cy="819150"/>
          </a:xfrm>
          <a:prstGeom prst="roundRect">
            <a:avLst>
              <a:gd name="adj" fmla="val 9302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F8ABA-F715-4641-9FDE-5F9A64178A3B}"/>
              </a:ext>
            </a:extLst>
          </p:cNvPr>
          <p:cNvSpPr>
            <a:spLocks noGrp="1"/>
          </p:cNvSpPr>
          <p:nvPr/>
        </p:nvSpPr>
        <p:spPr>
          <a:xfrm>
            <a:off x="10258425" y="2619375"/>
            <a:ext cx="895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Database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966678-D247-4F3E-B1FA-319358D789CC}"/>
              </a:ext>
            </a:extLst>
          </p:cNvPr>
          <p:cNvSpPr>
            <a:spLocks noGrp="1"/>
          </p:cNvSpPr>
          <p:nvPr/>
        </p:nvSpPr>
        <p:spPr>
          <a:xfrm>
            <a:off x="5753100" y="3848100"/>
            <a:ext cx="4762500" cy="819150"/>
          </a:xfrm>
          <a:prstGeom prst="roundRect">
            <a:avLst>
              <a:gd name="adj" fmla="val 9302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83AC6D-A95B-4E7B-9405-12B7CA5D61AC}"/>
              </a:ext>
            </a:extLst>
          </p:cNvPr>
          <p:cNvSpPr>
            <a:spLocks noGrp="1"/>
          </p:cNvSpPr>
          <p:nvPr/>
        </p:nvSpPr>
        <p:spPr>
          <a:xfrm>
            <a:off x="6038850" y="3876675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00" b="0" dirty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Playwright sits between the browser and backend: it drives UI actions, watches network traffic, and can fulfill selected API calls.</a:t>
            </a:r>
          </a:p>
        </p:txBody>
      </p:sp>
    </p:spTree>
    <p:extLst>
      <p:ext uri="{BB962C8B-B14F-4D97-AF65-F5344CB8AC3E}">
        <p14:creationId xmlns:p14="http://schemas.microsoft.com/office/powerpoint/2010/main" val="818313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36D395D-96D7-47E0-8080-A2898F0F1615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972825-4617-4B31-B015-5959BD939F08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Demonstration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0F3009-C69E-4C70-836F-34100A3276E0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The demo builds from core flows to AI assistance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52BD3D-57AA-4062-861E-03922A6AD434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28139B-2B99-4D5A-8573-2D82FA9A3104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781050" cy="781050"/>
          </a:xfrm>
          <a:prstGeom prst="ellipse">
            <a:avLst/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32CE6B-6F13-4A1E-9DDE-373A4F2E246E}"/>
              </a:ext>
            </a:extLst>
          </p:cNvPr>
          <p:cNvSpPr>
            <a:spLocks noGrp="1"/>
          </p:cNvSpPr>
          <p:nvPr/>
        </p:nvSpPr>
        <p:spPr>
          <a:xfrm>
            <a:off x="904875" y="2952750"/>
            <a:ext cx="781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E0C158-275B-49E5-BF4B-7E7A55A2A9D8}"/>
              </a:ext>
            </a:extLst>
          </p:cNvPr>
          <p:cNvSpPr>
            <a:spLocks noGrp="1"/>
          </p:cNvSpPr>
          <p:nvPr/>
        </p:nvSpPr>
        <p:spPr>
          <a:xfrm>
            <a:off x="428625" y="3790950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Login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E80B6-58D5-4A03-988C-7D3AE76C6E8E}"/>
              </a:ext>
            </a:extLst>
          </p:cNvPr>
          <p:cNvSpPr>
            <a:spLocks noGrp="1"/>
          </p:cNvSpPr>
          <p:nvPr/>
        </p:nvSpPr>
        <p:spPr>
          <a:xfrm>
            <a:off x="1809750" y="2990850"/>
            <a:ext cx="89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DB723E-E855-4453-8817-9D95FD285006}"/>
              </a:ext>
            </a:extLst>
          </p:cNvPr>
          <p:cNvSpPr>
            <a:spLocks noGrp="1"/>
          </p:cNvSpPr>
          <p:nvPr/>
        </p:nvSpPr>
        <p:spPr>
          <a:xfrm>
            <a:off x="3000375" y="2762250"/>
            <a:ext cx="781050" cy="781050"/>
          </a:xfrm>
          <a:prstGeom prst="ellipse">
            <a:avLst/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224BC3-E88B-4A69-82AF-98B56B45B465}"/>
              </a:ext>
            </a:extLst>
          </p:cNvPr>
          <p:cNvSpPr>
            <a:spLocks noGrp="1"/>
          </p:cNvSpPr>
          <p:nvPr/>
        </p:nvSpPr>
        <p:spPr>
          <a:xfrm>
            <a:off x="3000375" y="2952750"/>
            <a:ext cx="781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491823-0FF9-4028-9674-9E5735ADB965}"/>
              </a:ext>
            </a:extLst>
          </p:cNvPr>
          <p:cNvSpPr>
            <a:spLocks noGrp="1"/>
          </p:cNvSpPr>
          <p:nvPr/>
        </p:nvSpPr>
        <p:spPr>
          <a:xfrm>
            <a:off x="2524125" y="3790950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Add to Cart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A909E-16D0-4BC1-97C1-0D315DF3E5CA}"/>
              </a:ext>
            </a:extLst>
          </p:cNvPr>
          <p:cNvSpPr>
            <a:spLocks noGrp="1"/>
          </p:cNvSpPr>
          <p:nvPr/>
        </p:nvSpPr>
        <p:spPr>
          <a:xfrm>
            <a:off x="3905250" y="2990850"/>
            <a:ext cx="89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9102EA-B2A2-4676-880F-A57AAD5DF3F2}"/>
              </a:ext>
            </a:extLst>
          </p:cNvPr>
          <p:cNvSpPr>
            <a:spLocks noGrp="1"/>
          </p:cNvSpPr>
          <p:nvPr/>
        </p:nvSpPr>
        <p:spPr>
          <a:xfrm>
            <a:off x="5095875" y="2762250"/>
            <a:ext cx="781050" cy="781050"/>
          </a:xfrm>
          <a:prstGeom prst="ellipse">
            <a:avLst/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3C110E-2250-4366-AA1C-9231A8413988}"/>
              </a:ext>
            </a:extLst>
          </p:cNvPr>
          <p:cNvSpPr>
            <a:spLocks noGrp="1"/>
          </p:cNvSpPr>
          <p:nvPr/>
        </p:nvSpPr>
        <p:spPr>
          <a:xfrm>
            <a:off x="5095875" y="2952750"/>
            <a:ext cx="781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32909C-C91F-4BDC-B032-7018B0A26734}"/>
              </a:ext>
            </a:extLst>
          </p:cNvPr>
          <p:cNvSpPr>
            <a:spLocks noGrp="1"/>
          </p:cNvSpPr>
          <p:nvPr/>
        </p:nvSpPr>
        <p:spPr>
          <a:xfrm>
            <a:off x="4619625" y="3790950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Checkout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4F0199-B547-48D1-A9D0-4F119603A356}"/>
              </a:ext>
            </a:extLst>
          </p:cNvPr>
          <p:cNvSpPr>
            <a:spLocks noGrp="1"/>
          </p:cNvSpPr>
          <p:nvPr/>
        </p:nvSpPr>
        <p:spPr>
          <a:xfrm>
            <a:off x="6000750" y="2990850"/>
            <a:ext cx="89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57D428-A105-4E94-9458-A7333BD68778}"/>
              </a:ext>
            </a:extLst>
          </p:cNvPr>
          <p:cNvSpPr>
            <a:spLocks noGrp="1"/>
          </p:cNvSpPr>
          <p:nvPr/>
        </p:nvSpPr>
        <p:spPr>
          <a:xfrm>
            <a:off x="7191375" y="2762250"/>
            <a:ext cx="781050" cy="781050"/>
          </a:xfrm>
          <a:prstGeom prst="ellipse">
            <a:avLst/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11A9B6-3A3C-494D-B546-C375BD89957F}"/>
              </a:ext>
            </a:extLst>
          </p:cNvPr>
          <p:cNvSpPr>
            <a:spLocks noGrp="1"/>
          </p:cNvSpPr>
          <p:nvPr/>
        </p:nvSpPr>
        <p:spPr>
          <a:xfrm>
            <a:off x="7191375" y="2952750"/>
            <a:ext cx="781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A0DA1C-C3C1-4FC0-A403-C179493DCB14}"/>
              </a:ext>
            </a:extLst>
          </p:cNvPr>
          <p:cNvSpPr>
            <a:spLocks noGrp="1"/>
          </p:cNvSpPr>
          <p:nvPr/>
        </p:nvSpPr>
        <p:spPr>
          <a:xfrm>
            <a:off x="6715125" y="3790950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API Mocking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0EEFB8-DCC2-4A25-A416-A2135C5068A1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89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68F1D5-B2DC-49BE-BD2B-EE89995E1980}"/>
              </a:ext>
            </a:extLst>
          </p:cNvPr>
          <p:cNvSpPr>
            <a:spLocks noGrp="1"/>
          </p:cNvSpPr>
          <p:nvPr/>
        </p:nvSpPr>
        <p:spPr>
          <a:xfrm>
            <a:off x="9286875" y="2762250"/>
            <a:ext cx="781050" cy="781050"/>
          </a:xfrm>
          <a:prstGeom prst="ellipse">
            <a:avLst/>
          </a:prstGeom>
          <a:solidFill>
            <a:srgbClr val="1565C0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288E01-1D90-4658-9745-F2E508BB67FC}"/>
              </a:ext>
            </a:extLst>
          </p:cNvPr>
          <p:cNvSpPr>
            <a:spLocks noGrp="1"/>
          </p:cNvSpPr>
          <p:nvPr/>
        </p:nvSpPr>
        <p:spPr>
          <a:xfrm>
            <a:off x="9286875" y="2952750"/>
            <a:ext cx="781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23BC71-7AFC-4F63-A73D-E1A566C3E8B9}"/>
              </a:ext>
            </a:extLst>
          </p:cNvPr>
          <p:cNvSpPr>
            <a:spLocks noGrp="1"/>
          </p:cNvSpPr>
          <p:nvPr/>
        </p:nvSpPr>
        <p:spPr>
          <a:xfrm>
            <a:off x="8810625" y="3790950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AI-assisted Test Generation</a:t>
            </a:r>
          </a:p>
        </p:txBody>
      </p:sp>
    </p:spTree>
    <p:extLst>
      <p:ext uri="{BB962C8B-B14F-4D97-AF65-F5344CB8AC3E}">
        <p14:creationId xmlns:p14="http://schemas.microsoft.com/office/powerpoint/2010/main" val="1434611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CC73407-700E-4A09-B8C1-D808F8360149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2C04D-6B0B-43F2-8DAC-267647D90C9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Demo Placeholder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6BC7C4-EC8E-4FF8-963B-FEBA15CDDF53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Live demonstration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34B493-2145-49A3-8F83-37B94D245887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49A32F-A0EE-4EEB-BF05-DFC8B471AD05}"/>
              </a:ext>
            </a:extLst>
          </p:cNvPr>
          <p:cNvSpPr>
            <a:spLocks noGrp="1"/>
          </p:cNvSpPr>
          <p:nvPr/>
        </p:nvSpPr>
        <p:spPr>
          <a:xfrm>
            <a:off x="1809750" y="2476500"/>
            <a:ext cx="857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46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Live Demonstration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32EF2C-C91A-4A08-B993-5E93F7C84914}"/>
              </a:ext>
            </a:extLst>
          </p:cNvPr>
          <p:cNvSpPr>
            <a:spLocks noGrp="1"/>
          </p:cNvSpPr>
          <p:nvPr/>
        </p:nvSpPr>
        <p:spPr>
          <a:xfrm>
            <a:off x="1476375" y="3714750"/>
            <a:ext cx="923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Login Test  •  Cart Test  •  Checkout Test  •  API Mocking  •  AI-generated Test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69FD45-AD73-4AAE-AB41-675D5AECA5FC}"/>
              </a:ext>
            </a:extLst>
          </p:cNvPr>
          <p:cNvSpPr>
            <a:spLocks noGrp="1"/>
          </p:cNvSpPr>
          <p:nvPr/>
        </p:nvSpPr>
        <p:spPr>
          <a:xfrm>
            <a:off x="3952875" y="4762500"/>
            <a:ext cx="4286250" cy="704850"/>
          </a:xfrm>
          <a:prstGeom prst="roundRect">
            <a:avLst>
              <a:gd name="adj" fmla="val 10811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D688EE-7389-4CEF-84B7-495B52001BA2}"/>
              </a:ext>
            </a:extLst>
          </p:cNvPr>
          <p:cNvSpPr>
            <a:spLocks noGrp="1"/>
          </p:cNvSpPr>
          <p:nvPr/>
        </p:nvSpPr>
        <p:spPr>
          <a:xfrm>
            <a:off x="4238625" y="49720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Keep this slide on screen during the live run</a:t>
            </a:r>
          </a:p>
        </p:txBody>
      </p:sp>
    </p:spTree>
    <p:extLst>
      <p:ext uri="{BB962C8B-B14F-4D97-AF65-F5344CB8AC3E}">
        <p14:creationId xmlns:p14="http://schemas.microsoft.com/office/powerpoint/2010/main" val="757646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113A31A-1DC5-4611-BA24-8DAA1420E8C1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1BC80C-D738-4BA2-A4EA-4FF4E07FB23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AI-assisted Automation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004B1-81C4-4CA3-B334-5CE830F48B0D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AI accelerates drafts, but humans own correctness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4656A-3CA8-46A1-BFFC-E0B60028F88C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A7D5B1-F576-41E8-BEB3-34E2C192F369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03632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BCCB6F-B44D-4AD6-84E3-BDAD35F17926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7696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Engineer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B91452-429B-4B35-991B-52B38B587FFB}"/>
              </a:ext>
            </a:extLst>
          </p:cNvPr>
          <p:cNvSpPr>
            <a:spLocks noGrp="1"/>
          </p:cNvSpPr>
          <p:nvPr/>
        </p:nvSpPr>
        <p:spPr>
          <a:xfrm>
            <a:off x="1760220" y="26479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C81327-EE06-4FC4-A6D6-A85126D08FD7}"/>
              </a:ext>
            </a:extLst>
          </p:cNvPr>
          <p:cNvSpPr>
            <a:spLocks noGrp="1"/>
          </p:cNvSpPr>
          <p:nvPr/>
        </p:nvSpPr>
        <p:spPr>
          <a:xfrm>
            <a:off x="2160270" y="2381250"/>
            <a:ext cx="103632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D58D5-EDE1-4BAB-BAC7-9FC8DE833649}"/>
              </a:ext>
            </a:extLst>
          </p:cNvPr>
          <p:cNvSpPr>
            <a:spLocks noGrp="1"/>
          </p:cNvSpPr>
          <p:nvPr/>
        </p:nvSpPr>
        <p:spPr>
          <a:xfrm>
            <a:off x="2293620" y="2619375"/>
            <a:ext cx="7696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GitHub Copilot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E1606-3EBE-4A02-B018-FC766A09BA12}"/>
              </a:ext>
            </a:extLst>
          </p:cNvPr>
          <p:cNvSpPr>
            <a:spLocks noGrp="1"/>
          </p:cNvSpPr>
          <p:nvPr/>
        </p:nvSpPr>
        <p:spPr>
          <a:xfrm>
            <a:off x="3223260" y="2647950"/>
            <a:ext cx="4876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7A25D3-5D46-421D-B788-CE43873318B7}"/>
              </a:ext>
            </a:extLst>
          </p:cNvPr>
          <p:cNvSpPr>
            <a:spLocks noGrp="1"/>
          </p:cNvSpPr>
          <p:nvPr/>
        </p:nvSpPr>
        <p:spPr>
          <a:xfrm>
            <a:off x="3710940" y="2381250"/>
            <a:ext cx="103632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42DD53-3896-4234-863C-753682243079}"/>
              </a:ext>
            </a:extLst>
          </p:cNvPr>
          <p:cNvSpPr>
            <a:spLocks noGrp="1"/>
          </p:cNvSpPr>
          <p:nvPr/>
        </p:nvSpPr>
        <p:spPr>
          <a:xfrm>
            <a:off x="3844290" y="2619375"/>
            <a:ext cx="7696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Generated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9A3712-46BB-4A08-B1AF-4BC442CD7E27}"/>
              </a:ext>
            </a:extLst>
          </p:cNvPr>
          <p:cNvSpPr>
            <a:spLocks noGrp="1"/>
          </p:cNvSpPr>
          <p:nvPr/>
        </p:nvSpPr>
        <p:spPr>
          <a:xfrm>
            <a:off x="4842510" y="26479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B12E8C-5009-4AE7-AC24-B9728CA6ED50}"/>
              </a:ext>
            </a:extLst>
          </p:cNvPr>
          <p:cNvSpPr>
            <a:spLocks noGrp="1"/>
          </p:cNvSpPr>
          <p:nvPr/>
        </p:nvSpPr>
        <p:spPr>
          <a:xfrm>
            <a:off x="5261610" y="2381250"/>
            <a:ext cx="103632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18FE23-CD01-4A70-B665-2E14954094F4}"/>
              </a:ext>
            </a:extLst>
          </p:cNvPr>
          <p:cNvSpPr>
            <a:spLocks noGrp="1"/>
          </p:cNvSpPr>
          <p:nvPr/>
        </p:nvSpPr>
        <p:spPr>
          <a:xfrm>
            <a:off x="5394960" y="2619375"/>
            <a:ext cx="7696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Human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948709-E34E-4D10-A55A-8689EBCBC000}"/>
              </a:ext>
            </a:extLst>
          </p:cNvPr>
          <p:cNvSpPr>
            <a:spLocks noGrp="1"/>
          </p:cNvSpPr>
          <p:nvPr/>
        </p:nvSpPr>
        <p:spPr>
          <a:xfrm>
            <a:off x="6393180" y="26479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02D0BC-10AF-41B3-A361-621A15D396DD}"/>
              </a:ext>
            </a:extLst>
          </p:cNvPr>
          <p:cNvSpPr>
            <a:spLocks noGrp="1"/>
          </p:cNvSpPr>
          <p:nvPr/>
        </p:nvSpPr>
        <p:spPr>
          <a:xfrm>
            <a:off x="6812280" y="2381250"/>
            <a:ext cx="1036320" cy="819150"/>
          </a:xfrm>
          <a:prstGeom prst="roundRect">
            <a:avLst>
              <a:gd name="adj" fmla="val 9302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41F250-EAE5-4C35-9494-0731D71C69BB}"/>
              </a:ext>
            </a:extLst>
          </p:cNvPr>
          <p:cNvSpPr>
            <a:spLocks noGrp="1"/>
          </p:cNvSpPr>
          <p:nvPr/>
        </p:nvSpPr>
        <p:spPr>
          <a:xfrm>
            <a:off x="6945630" y="2619375"/>
            <a:ext cx="7696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Execution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D7AB502-72B6-4A1F-98A4-A912290CE937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2667000" cy="1104900"/>
          </a:xfrm>
          <a:prstGeom prst="roundRect">
            <a:avLst>
              <a:gd name="adj" fmla="val 7407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39AB4F-F717-4342-BE02-3E20E5D65B53}"/>
              </a:ext>
            </a:extLst>
          </p:cNvPr>
          <p:cNvSpPr>
            <a:spLocks noGrp="1"/>
          </p:cNvSpPr>
          <p:nvPr/>
        </p:nvSpPr>
        <p:spPr>
          <a:xfrm>
            <a:off x="8705850" y="2390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endParaRPr sz="1050" b="1" dirty="0">
              <a:solidFill>
                <a:srgbClr val="1565C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DC1320-5AD1-4D39-AACE-BE5F62C8B0ED}"/>
              </a:ext>
            </a:extLst>
          </p:cNvPr>
          <p:cNvSpPr>
            <a:spLocks noGrp="1"/>
          </p:cNvSpPr>
          <p:nvPr/>
        </p:nvSpPr>
        <p:spPr>
          <a:xfrm>
            <a:off x="8625840" y="2200275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 dirty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Advantages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37BF3B-25ED-4D73-A800-759A63F5D7F7}"/>
              </a:ext>
            </a:extLst>
          </p:cNvPr>
          <p:cNvSpPr>
            <a:spLocks noGrp="1"/>
          </p:cNvSpPr>
          <p:nvPr/>
        </p:nvSpPr>
        <p:spPr>
          <a:xfrm>
            <a:off x="8599170" y="2462213"/>
            <a:ext cx="1657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Faster first draft</a:t>
            </a:r>
          </a:p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Useful locator ideas</a:t>
            </a:r>
          </a:p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Good boilerplate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6ABACA-5141-4812-8BEC-1BB8E3B6B303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667000" cy="11811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51122E-DC24-4A5F-98BD-04245C509C0D}"/>
              </a:ext>
            </a:extLst>
          </p:cNvPr>
          <p:cNvSpPr>
            <a:spLocks noGrp="1"/>
          </p:cNvSpPr>
          <p:nvPr/>
        </p:nvSpPr>
        <p:spPr>
          <a:xfrm>
            <a:off x="8705850" y="37242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endParaRPr sz="1050" b="1" dirty="0">
              <a:solidFill>
                <a:srgbClr val="1565C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4BA238-ECB8-4937-86F9-5D9625BA5C0C}"/>
              </a:ext>
            </a:extLst>
          </p:cNvPr>
          <p:cNvSpPr>
            <a:spLocks noGrp="1"/>
          </p:cNvSpPr>
          <p:nvPr/>
        </p:nvSpPr>
        <p:spPr>
          <a:xfrm>
            <a:off x="8625840" y="356997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 dirty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Limitations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E6FC86-2436-4D51-B005-93AAD000A109}"/>
              </a:ext>
            </a:extLst>
          </p:cNvPr>
          <p:cNvSpPr>
            <a:spLocks noGrp="1"/>
          </p:cNvSpPr>
          <p:nvPr/>
        </p:nvSpPr>
        <p:spPr>
          <a:xfrm>
            <a:off x="8599170" y="3905250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May invent routes</a:t>
            </a:r>
          </a:p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May choose brittle locators</a:t>
            </a:r>
          </a:p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Cannot judge business risk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C3648AD-1902-4833-9220-6FE6B7CFF878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2667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44D747-2D1D-42EE-A525-B9AB0CD0ECB4}"/>
              </a:ext>
            </a:extLst>
          </p:cNvPr>
          <p:cNvSpPr>
            <a:spLocks noGrp="1"/>
          </p:cNvSpPr>
          <p:nvPr/>
        </p:nvSpPr>
        <p:spPr>
          <a:xfrm>
            <a:off x="8705850" y="5057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endParaRPr sz="1050" b="1" dirty="0">
              <a:solidFill>
                <a:srgbClr val="1565C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725278-2664-4B82-98C5-7339DE496208}"/>
              </a:ext>
            </a:extLst>
          </p:cNvPr>
          <p:cNvSpPr>
            <a:spLocks noGrp="1"/>
          </p:cNvSpPr>
          <p:nvPr/>
        </p:nvSpPr>
        <p:spPr>
          <a:xfrm>
            <a:off x="8625840" y="4852988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 dirty="0">
                <a:solidFill>
                  <a:srgbClr val="0E2841"/>
                </a:solidFill>
                <a:latin typeface="Roboto"/>
                <a:ea typeface="Roboto"/>
                <a:cs typeface="Roboto"/>
              </a:rPr>
              <a:t>Validation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6921E6-D471-484D-B106-52ADF1A7AF7D}"/>
              </a:ext>
            </a:extLst>
          </p:cNvPr>
          <p:cNvSpPr>
            <a:spLocks noGrp="1"/>
          </p:cNvSpPr>
          <p:nvPr/>
        </p:nvSpPr>
        <p:spPr>
          <a:xfrm>
            <a:off x="8625840" y="5138738"/>
            <a:ext cx="22098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Run the test and inspect evidence before trusting it.</a:t>
            </a:r>
          </a:p>
        </p:txBody>
      </p:sp>
    </p:spTree>
    <p:extLst>
      <p:ext uri="{BB962C8B-B14F-4D97-AF65-F5344CB8AC3E}">
        <p14:creationId xmlns:p14="http://schemas.microsoft.com/office/powerpoint/2010/main" val="150402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F57252-8F0D-48EA-BF52-694D93127029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382606-45F9-433C-97CB-28CE6E17739D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Lessons Learned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ADDDCA-EB22-430F-B92D-66B42CE33830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The main lesson is balance: automate, then verify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65EFE3-174B-4FA2-B621-FD672E4EFB1F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37B1B3-E48A-4D9C-8086-10C551424BCB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1054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950C9-8DB4-45EB-BC9D-1655040CDDC3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464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Playwright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4A0981-DBBE-4621-AE50-F10CBE9642E2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46482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• Easy setup for E2E tests</a:t>
            </a:r>
          </a:p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• Stable auto-waiting behavior</a:t>
            </a:r>
          </a:p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• Powerful debugging with traces</a:t>
            </a:r>
          </a:p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• API mocking isolates edge cases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CA277-BD44-490E-B5EF-94641A37BB76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51054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8D9482-9834-42AC-AAF3-9C1C82B2C653}"/>
              </a:ext>
            </a:extLst>
          </p:cNvPr>
          <p:cNvSpPr>
            <a:spLocks noGrp="1"/>
          </p:cNvSpPr>
          <p:nvPr/>
        </p:nvSpPr>
        <p:spPr>
          <a:xfrm>
            <a:off x="6629400" y="2400300"/>
            <a:ext cx="464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F87129-3A25-40E8-8AF1-20A8D9BDA2E7}"/>
              </a:ext>
            </a:extLst>
          </p:cNvPr>
          <p:cNvSpPr>
            <a:spLocks noGrp="1"/>
          </p:cNvSpPr>
          <p:nvPr/>
        </p:nvSpPr>
        <p:spPr>
          <a:xfrm>
            <a:off x="6629400" y="2838450"/>
            <a:ext cx="46482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• Speeds up scripting</a:t>
            </a:r>
          </a:p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• Needs human review</a:t>
            </a:r>
          </a:p>
          <a:p>
            <a:pPr algn="l">
              <a:defRPr sz="15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• Generated locators require validation</a:t>
            </a:r>
          </a:p>
        </p:txBody>
      </p:sp>
    </p:spTree>
    <p:extLst>
      <p:ext uri="{BB962C8B-B14F-4D97-AF65-F5344CB8AC3E}">
        <p14:creationId xmlns:p14="http://schemas.microsoft.com/office/powerpoint/2010/main" val="2089711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E6F3483-8F9A-4468-B7B7-D47CB4B1EF72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15334A-5A2B-46B2-B20F-8636B28BAE5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79DF98-78FA-45F7-8787-727923798C3A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Playwright plus reviewed AI improves productivity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1F055-64B3-4A10-BE98-260867BF3638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D06A71-D653-4D6F-95A1-50563BC12078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179451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2F330-309E-4769-85A2-BACD090B01D1}"/>
              </a:ext>
            </a:extLst>
          </p:cNvPr>
          <p:cNvSpPr>
            <a:spLocks noGrp="1"/>
          </p:cNvSpPr>
          <p:nvPr/>
        </p:nvSpPr>
        <p:spPr>
          <a:xfrm>
            <a:off x="723900" y="2619375"/>
            <a:ext cx="152781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Automation 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07D3F4-17AF-411A-9326-7BDE1DC79088}"/>
              </a:ext>
            </a:extLst>
          </p:cNvPr>
          <p:cNvSpPr>
            <a:spLocks noGrp="1"/>
          </p:cNvSpPr>
          <p:nvPr/>
        </p:nvSpPr>
        <p:spPr>
          <a:xfrm>
            <a:off x="2442210" y="26479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5C7A24-5833-4A41-9D0F-66733FA05D33}"/>
              </a:ext>
            </a:extLst>
          </p:cNvPr>
          <p:cNvSpPr>
            <a:spLocks noGrp="1"/>
          </p:cNvSpPr>
          <p:nvPr/>
        </p:nvSpPr>
        <p:spPr>
          <a:xfrm>
            <a:off x="2899410" y="2381250"/>
            <a:ext cx="179451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1B77AC-2806-4424-924B-CFFD76D09235}"/>
              </a:ext>
            </a:extLst>
          </p:cNvPr>
          <p:cNvSpPr>
            <a:spLocks noGrp="1"/>
          </p:cNvSpPr>
          <p:nvPr/>
        </p:nvSpPr>
        <p:spPr>
          <a:xfrm>
            <a:off x="3032760" y="2619375"/>
            <a:ext cx="152781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Playwright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394A3-F36D-4837-9340-CA33A71CA198}"/>
              </a:ext>
            </a:extLst>
          </p:cNvPr>
          <p:cNvSpPr>
            <a:spLocks noGrp="1"/>
          </p:cNvSpPr>
          <p:nvPr/>
        </p:nvSpPr>
        <p:spPr>
          <a:xfrm>
            <a:off x="4693920" y="26479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7052BE-3F0A-4EEA-81B7-708E8045700B}"/>
              </a:ext>
            </a:extLst>
          </p:cNvPr>
          <p:cNvSpPr>
            <a:spLocks noGrp="1"/>
          </p:cNvSpPr>
          <p:nvPr/>
        </p:nvSpPr>
        <p:spPr>
          <a:xfrm>
            <a:off x="5208270" y="2381250"/>
            <a:ext cx="179451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A00EC-DEF0-482A-8942-C36A511B4196}"/>
              </a:ext>
            </a:extLst>
          </p:cNvPr>
          <p:cNvSpPr>
            <a:spLocks noGrp="1"/>
          </p:cNvSpPr>
          <p:nvPr/>
        </p:nvSpPr>
        <p:spPr>
          <a:xfrm>
            <a:off x="5341620" y="2619375"/>
            <a:ext cx="152781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AI Assistance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F53E7F-E9F5-4ED3-859A-0C1B6165EA93}"/>
              </a:ext>
            </a:extLst>
          </p:cNvPr>
          <p:cNvSpPr>
            <a:spLocks noGrp="1"/>
          </p:cNvSpPr>
          <p:nvPr/>
        </p:nvSpPr>
        <p:spPr>
          <a:xfrm>
            <a:off x="7059930" y="26479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91ADB7-DE9A-44D5-9BC3-8549124A3527}"/>
              </a:ext>
            </a:extLst>
          </p:cNvPr>
          <p:cNvSpPr>
            <a:spLocks noGrp="1"/>
          </p:cNvSpPr>
          <p:nvPr/>
        </p:nvSpPr>
        <p:spPr>
          <a:xfrm>
            <a:off x="7517130" y="2381250"/>
            <a:ext cx="179451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BD0DB2-7FA8-4771-BB13-E17530DF3C78}"/>
              </a:ext>
            </a:extLst>
          </p:cNvPr>
          <p:cNvSpPr>
            <a:spLocks noGrp="1"/>
          </p:cNvSpPr>
          <p:nvPr/>
        </p:nvSpPr>
        <p:spPr>
          <a:xfrm>
            <a:off x="7650480" y="2619375"/>
            <a:ext cx="152781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Higher Productivity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339901-9BC6-4F2D-8B4E-2229EBA91089}"/>
              </a:ext>
            </a:extLst>
          </p:cNvPr>
          <p:cNvSpPr>
            <a:spLocks noGrp="1"/>
          </p:cNvSpPr>
          <p:nvPr/>
        </p:nvSpPr>
        <p:spPr>
          <a:xfrm>
            <a:off x="9311640" y="26479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80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-&gt;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89A7CFD-8ACB-4AA8-B270-FA795DFC643F}"/>
              </a:ext>
            </a:extLst>
          </p:cNvPr>
          <p:cNvSpPr>
            <a:spLocks noGrp="1"/>
          </p:cNvSpPr>
          <p:nvPr/>
        </p:nvSpPr>
        <p:spPr>
          <a:xfrm>
            <a:off x="9825990" y="2381250"/>
            <a:ext cx="1794510" cy="819150"/>
          </a:xfrm>
          <a:prstGeom prst="roundRect">
            <a:avLst>
              <a:gd name="adj" fmla="val 9302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5156C-696C-484C-B6B5-38270478D0D5}"/>
              </a:ext>
            </a:extLst>
          </p:cNvPr>
          <p:cNvSpPr>
            <a:spLocks noGrp="1"/>
          </p:cNvSpPr>
          <p:nvPr/>
        </p:nvSpPr>
        <p:spPr>
          <a:xfrm>
            <a:off x="9959340" y="2619375"/>
            <a:ext cx="152781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Better Software Quality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4A95F3-AF1F-410F-8F7C-BE2692BA3DB0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3000375" cy="12001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79EDDF-63AF-4440-8AE8-45E0E1E3999D}"/>
              </a:ext>
            </a:extLst>
          </p:cNvPr>
          <p:cNvSpPr>
            <a:spLocks noGrp="1"/>
          </p:cNvSpPr>
          <p:nvPr/>
        </p:nvSpPr>
        <p:spPr>
          <a:xfrm>
            <a:off x="1200150" y="461010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A109FF-594A-4A5F-B4A0-3923CBB772DC}"/>
              </a:ext>
            </a:extLst>
          </p:cNvPr>
          <p:cNvSpPr>
            <a:spLocks noGrp="1"/>
          </p:cNvSpPr>
          <p:nvPr/>
        </p:nvSpPr>
        <p:spPr>
          <a:xfrm>
            <a:off x="1200150" y="4676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2BF7D4-AE0F-4F7A-94DF-8AFEED778DC4}"/>
              </a:ext>
            </a:extLst>
          </p:cNvPr>
          <p:cNvSpPr>
            <a:spLocks noGrp="1"/>
          </p:cNvSpPr>
          <p:nvPr/>
        </p:nvSpPr>
        <p:spPr>
          <a:xfrm>
            <a:off x="1752600" y="4591050"/>
            <a:ext cx="1990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Takeaway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243333-9232-4742-8B50-1BC5E62F18B9}"/>
              </a:ext>
            </a:extLst>
          </p:cNvPr>
          <p:cNvSpPr>
            <a:spLocks noGrp="1"/>
          </p:cNvSpPr>
          <p:nvPr/>
        </p:nvSpPr>
        <p:spPr>
          <a:xfrm>
            <a:off x="1200150" y="5029200"/>
            <a:ext cx="25431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 dirty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Automate repetitive flows with clear assertions.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53DD94-625E-4B8F-A4F3-D1AD2916DF26}"/>
              </a:ext>
            </a:extLst>
          </p:cNvPr>
          <p:cNvSpPr>
            <a:spLocks noGrp="1"/>
          </p:cNvSpPr>
          <p:nvPr/>
        </p:nvSpPr>
        <p:spPr>
          <a:xfrm>
            <a:off x="4591050" y="4381500"/>
            <a:ext cx="3000375" cy="12001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EF3D584-DDED-4C0A-B2CD-B883A50D0FCD}"/>
              </a:ext>
            </a:extLst>
          </p:cNvPr>
          <p:cNvSpPr>
            <a:spLocks noGrp="1"/>
          </p:cNvSpPr>
          <p:nvPr/>
        </p:nvSpPr>
        <p:spPr>
          <a:xfrm>
            <a:off x="4819650" y="461010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D7B19A-C8FB-454F-85F4-9641C605E371}"/>
              </a:ext>
            </a:extLst>
          </p:cNvPr>
          <p:cNvSpPr>
            <a:spLocks noGrp="1"/>
          </p:cNvSpPr>
          <p:nvPr/>
        </p:nvSpPr>
        <p:spPr>
          <a:xfrm>
            <a:off x="4819650" y="4676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11B305-9B14-470A-929A-73ECE87F7496}"/>
              </a:ext>
            </a:extLst>
          </p:cNvPr>
          <p:cNvSpPr>
            <a:spLocks noGrp="1"/>
          </p:cNvSpPr>
          <p:nvPr/>
        </p:nvSpPr>
        <p:spPr>
          <a:xfrm>
            <a:off x="5372100" y="4591050"/>
            <a:ext cx="1990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Takeaway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6F631F-24D4-48E0-9B75-2802207A0BC8}"/>
              </a:ext>
            </a:extLst>
          </p:cNvPr>
          <p:cNvSpPr>
            <a:spLocks noGrp="1"/>
          </p:cNvSpPr>
          <p:nvPr/>
        </p:nvSpPr>
        <p:spPr>
          <a:xfrm>
            <a:off x="4819650" y="5029200"/>
            <a:ext cx="25431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Use mocking selectively to isolate frontend behavior.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CE459B3-CCFE-4C96-B857-7B1ABCE8F669}"/>
              </a:ext>
            </a:extLst>
          </p:cNvPr>
          <p:cNvSpPr>
            <a:spLocks noGrp="1"/>
          </p:cNvSpPr>
          <p:nvPr/>
        </p:nvSpPr>
        <p:spPr>
          <a:xfrm>
            <a:off x="8210550" y="4381500"/>
            <a:ext cx="3000375" cy="12001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2CB514-5A12-4DE7-A9EC-9D766030417E}"/>
              </a:ext>
            </a:extLst>
          </p:cNvPr>
          <p:cNvSpPr>
            <a:spLocks noGrp="1"/>
          </p:cNvSpPr>
          <p:nvPr/>
        </p:nvSpPr>
        <p:spPr>
          <a:xfrm>
            <a:off x="8439150" y="461010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FD4FF9-54BE-4612-8208-EFBC7AEAA0A6}"/>
              </a:ext>
            </a:extLst>
          </p:cNvPr>
          <p:cNvSpPr>
            <a:spLocks noGrp="1"/>
          </p:cNvSpPr>
          <p:nvPr/>
        </p:nvSpPr>
        <p:spPr>
          <a:xfrm>
            <a:off x="8439150" y="4676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9AB0D7-4937-46D0-9F40-BB329EE23E47}"/>
              </a:ext>
            </a:extLst>
          </p:cNvPr>
          <p:cNvSpPr>
            <a:spLocks noGrp="1"/>
          </p:cNvSpPr>
          <p:nvPr/>
        </p:nvSpPr>
        <p:spPr>
          <a:xfrm>
            <a:off x="8991600" y="4591050"/>
            <a:ext cx="1990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Takeaway 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B121CD-AA65-42DA-BA81-0F382ACF3A3C}"/>
              </a:ext>
            </a:extLst>
          </p:cNvPr>
          <p:cNvSpPr>
            <a:spLocks noGrp="1"/>
          </p:cNvSpPr>
          <p:nvPr/>
        </p:nvSpPr>
        <p:spPr>
          <a:xfrm>
            <a:off x="8439150" y="5029200"/>
            <a:ext cx="25431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Treat AI output as a draft that must be reviewed and executed.</a:t>
            </a:r>
          </a:p>
        </p:txBody>
      </p:sp>
    </p:spTree>
    <p:extLst>
      <p:ext uri="{BB962C8B-B14F-4D97-AF65-F5344CB8AC3E}">
        <p14:creationId xmlns:p14="http://schemas.microsoft.com/office/powerpoint/2010/main" val="1026951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AAD1A5C-02DD-4A6C-87DD-5CE7E59359B4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46342A-DDBF-4173-9EB7-CA24326D0B6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5F6673"/>
                </a:solidFill>
                <a:latin typeface="Roboto"/>
                <a:ea typeface="Roboto"/>
                <a:cs typeface="Roboto"/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1E7887-DF2A-4730-BCB6-6D20856E9418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31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References support the tool choice and testing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4EA15E-62ED-44AC-9D0C-B3024EACD2D0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36BBF6-0DEF-4942-B213-4F9D765C245C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452437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6E76B3-9689-4549-B779-13DA5A063101}"/>
              </a:ext>
            </a:extLst>
          </p:cNvPr>
          <p:cNvSpPr>
            <a:spLocks noGrp="1"/>
          </p:cNvSpPr>
          <p:nvPr/>
        </p:nvSpPr>
        <p:spPr>
          <a:xfrm>
            <a:off x="1143000" y="23431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4609AD-410E-4D0C-BCD3-4C2A171BB962}"/>
              </a:ext>
            </a:extLst>
          </p:cNvPr>
          <p:cNvSpPr>
            <a:spLocks noGrp="1"/>
          </p:cNvSpPr>
          <p:nvPr/>
        </p:nvSpPr>
        <p:spPr>
          <a:xfrm>
            <a:off x="1143000" y="24098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180499-D7D2-49FE-90D3-E1633BE8DD03}"/>
              </a:ext>
            </a:extLst>
          </p:cNvPr>
          <p:cNvSpPr>
            <a:spLocks noGrp="1"/>
          </p:cNvSpPr>
          <p:nvPr/>
        </p:nvSpPr>
        <p:spPr>
          <a:xfrm>
            <a:off x="1695450" y="2324100"/>
            <a:ext cx="3514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ISTQB Foundation Level Syllabus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63E17-EECD-44FB-A670-55E3887B5CB2}"/>
              </a:ext>
            </a:extLst>
          </p:cNvPr>
          <p:cNvSpPr>
            <a:spLocks noGrp="1"/>
          </p:cNvSpPr>
          <p:nvPr/>
        </p:nvSpPr>
        <p:spPr>
          <a:xfrm>
            <a:off x="1143000" y="2762250"/>
            <a:ext cx="4067175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FFB7B6-1441-4F2C-8A6C-3523BDC821BB}"/>
              </a:ext>
            </a:extLst>
          </p:cNvPr>
          <p:cNvSpPr>
            <a:spLocks noGrp="1"/>
          </p:cNvSpPr>
          <p:nvPr/>
        </p:nvSpPr>
        <p:spPr>
          <a:xfrm>
            <a:off x="6153150" y="2114550"/>
            <a:ext cx="4524375" cy="723900"/>
          </a:xfrm>
          <a:prstGeom prst="roundRect">
            <a:avLst>
              <a:gd name="adj" fmla="val 10526"/>
            </a:avLst>
          </a:prstGeom>
          <a:solidFill>
            <a:srgbClr val="EAF2FD"/>
          </a:solidFill>
          <a:ln w="13335">
            <a:solidFill>
              <a:srgbClr val="1565C0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16CD02E-558C-4F8E-B4A2-A9B4C87FCCF8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D2FD8E-29DF-4A45-BB91-10B8FD9D9D32}"/>
              </a:ext>
            </a:extLst>
          </p:cNvPr>
          <p:cNvSpPr>
            <a:spLocks noGrp="1"/>
          </p:cNvSpPr>
          <p:nvPr/>
        </p:nvSpPr>
        <p:spPr>
          <a:xfrm>
            <a:off x="6381750" y="24098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 dirty="0">
                <a:solidFill>
                  <a:srgbClr val="1565C0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0005F-D03D-4257-AB1F-7602C17BBA6B}"/>
              </a:ext>
            </a:extLst>
          </p:cNvPr>
          <p:cNvSpPr>
            <a:spLocks noGrp="1"/>
          </p:cNvSpPr>
          <p:nvPr/>
        </p:nvSpPr>
        <p:spPr>
          <a:xfrm>
            <a:off x="6934200" y="2324100"/>
            <a:ext cx="3514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Playwright Documentation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025E2A-3B6D-48FF-8399-8FA9BA345E3C}"/>
              </a:ext>
            </a:extLst>
          </p:cNvPr>
          <p:cNvSpPr>
            <a:spLocks noGrp="1"/>
          </p:cNvSpPr>
          <p:nvPr/>
        </p:nvSpPr>
        <p:spPr>
          <a:xfrm>
            <a:off x="6381750" y="2762250"/>
            <a:ext cx="4067175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52BFFF-49BA-4600-90D3-1952AB1C76E9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452437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1BBD0E-3F06-4F1F-BEBA-6EB92F767F1A}"/>
              </a:ext>
            </a:extLst>
          </p:cNvPr>
          <p:cNvSpPr>
            <a:spLocks noGrp="1"/>
          </p:cNvSpPr>
          <p:nvPr/>
        </p:nvSpPr>
        <p:spPr>
          <a:xfrm>
            <a:off x="1143000" y="34099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F15E25-5C86-4082-93F0-554717A1BE43}"/>
              </a:ext>
            </a:extLst>
          </p:cNvPr>
          <p:cNvSpPr>
            <a:spLocks noGrp="1"/>
          </p:cNvSpPr>
          <p:nvPr/>
        </p:nvSpPr>
        <p:spPr>
          <a:xfrm>
            <a:off x="1143000" y="34766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CB8AEA-05CD-4F09-A60C-3EA399A3D2D7}"/>
              </a:ext>
            </a:extLst>
          </p:cNvPr>
          <p:cNvSpPr>
            <a:spLocks noGrp="1"/>
          </p:cNvSpPr>
          <p:nvPr/>
        </p:nvSpPr>
        <p:spPr>
          <a:xfrm>
            <a:off x="1695450" y="3390900"/>
            <a:ext cx="3514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Playwright GitHub Repository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0798EC-824F-4E73-BBEC-417FDFE9D9BD}"/>
              </a:ext>
            </a:extLst>
          </p:cNvPr>
          <p:cNvSpPr>
            <a:spLocks noGrp="1"/>
          </p:cNvSpPr>
          <p:nvPr/>
        </p:nvSpPr>
        <p:spPr>
          <a:xfrm>
            <a:off x="1143000" y="3829050"/>
            <a:ext cx="4067175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3AC3F9-2700-4405-98E1-B30D4B13F987}"/>
              </a:ext>
            </a:extLst>
          </p:cNvPr>
          <p:cNvSpPr>
            <a:spLocks noGrp="1"/>
          </p:cNvSpPr>
          <p:nvPr/>
        </p:nvSpPr>
        <p:spPr>
          <a:xfrm>
            <a:off x="6153150" y="3181350"/>
            <a:ext cx="452437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3051828-6A7F-49D5-9866-E86B5C6CDDCE}"/>
              </a:ext>
            </a:extLst>
          </p:cNvPr>
          <p:cNvSpPr>
            <a:spLocks noGrp="1"/>
          </p:cNvSpPr>
          <p:nvPr/>
        </p:nvSpPr>
        <p:spPr>
          <a:xfrm>
            <a:off x="6381750" y="34099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C28DC1-2430-456D-8F8C-B71C53AE7907}"/>
              </a:ext>
            </a:extLst>
          </p:cNvPr>
          <p:cNvSpPr>
            <a:spLocks noGrp="1"/>
          </p:cNvSpPr>
          <p:nvPr/>
        </p:nvSpPr>
        <p:spPr>
          <a:xfrm>
            <a:off x="6381750" y="34766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F21388-45E1-4F58-8D43-4546D66592C3}"/>
              </a:ext>
            </a:extLst>
          </p:cNvPr>
          <p:cNvSpPr>
            <a:spLocks noGrp="1"/>
          </p:cNvSpPr>
          <p:nvPr/>
        </p:nvSpPr>
        <p:spPr>
          <a:xfrm>
            <a:off x="6934200" y="3390900"/>
            <a:ext cx="3514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Martin Fowler, Mocks Aren't Stubs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86701D-063C-456A-8354-ACFD2D546A61}"/>
              </a:ext>
            </a:extLst>
          </p:cNvPr>
          <p:cNvSpPr>
            <a:spLocks noGrp="1"/>
          </p:cNvSpPr>
          <p:nvPr/>
        </p:nvSpPr>
        <p:spPr>
          <a:xfrm>
            <a:off x="6381750" y="3829050"/>
            <a:ext cx="4067175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B1D8156-CDBF-4973-835E-5BE858D5F43E}"/>
              </a:ext>
            </a:extLst>
          </p:cNvPr>
          <p:cNvSpPr>
            <a:spLocks noGrp="1"/>
          </p:cNvSpPr>
          <p:nvPr/>
        </p:nvSpPr>
        <p:spPr>
          <a:xfrm>
            <a:off x="914400" y="4248150"/>
            <a:ext cx="452437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19CE422-A9AE-41FB-965C-574440A36AED}"/>
              </a:ext>
            </a:extLst>
          </p:cNvPr>
          <p:cNvSpPr>
            <a:spLocks noGrp="1"/>
          </p:cNvSpPr>
          <p:nvPr/>
        </p:nvSpPr>
        <p:spPr>
          <a:xfrm>
            <a:off x="1143000" y="44767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D14133-4637-4D93-A0DA-8A45C36B8745}"/>
              </a:ext>
            </a:extLst>
          </p:cNvPr>
          <p:cNvSpPr>
            <a:spLocks noGrp="1"/>
          </p:cNvSpPr>
          <p:nvPr/>
        </p:nvSpPr>
        <p:spPr>
          <a:xfrm>
            <a:off x="1143000" y="45434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A72DA0-D780-410E-9195-FA7584A1281E}"/>
              </a:ext>
            </a:extLst>
          </p:cNvPr>
          <p:cNvSpPr>
            <a:spLocks noGrp="1"/>
          </p:cNvSpPr>
          <p:nvPr/>
        </p:nvSpPr>
        <p:spPr>
          <a:xfrm>
            <a:off x="1695450" y="4457700"/>
            <a:ext cx="3514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GitHub Copilot Documentation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2F9693-6344-4653-AAE2-2EC0A9E810A2}"/>
              </a:ext>
            </a:extLst>
          </p:cNvPr>
          <p:cNvSpPr>
            <a:spLocks noGrp="1"/>
          </p:cNvSpPr>
          <p:nvPr/>
        </p:nvSpPr>
        <p:spPr>
          <a:xfrm>
            <a:off x="1143000" y="4895850"/>
            <a:ext cx="4067175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E023A89-0A2C-4FC6-95F3-07E0B7FB2BD2}"/>
              </a:ext>
            </a:extLst>
          </p:cNvPr>
          <p:cNvSpPr>
            <a:spLocks noGrp="1"/>
          </p:cNvSpPr>
          <p:nvPr/>
        </p:nvSpPr>
        <p:spPr>
          <a:xfrm>
            <a:off x="6153150" y="4248150"/>
            <a:ext cx="452437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CFD2D9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0BC39EA-3372-4E8B-87AD-516BDD3A7F2D}"/>
              </a:ext>
            </a:extLst>
          </p:cNvPr>
          <p:cNvSpPr>
            <a:spLocks noGrp="1"/>
          </p:cNvSpPr>
          <p:nvPr/>
        </p:nvSpPr>
        <p:spPr>
          <a:xfrm>
            <a:off x="6381750" y="4476750"/>
            <a:ext cx="400050" cy="400050"/>
          </a:xfrm>
          <a:prstGeom prst="ellipse">
            <a:avLst/>
          </a:prstGeom>
          <a:solidFill>
            <a:srgbClr val="EAF2FD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9EA314-5AC6-4DCA-852E-F919635C9879}"/>
              </a:ext>
            </a:extLst>
          </p:cNvPr>
          <p:cNvSpPr>
            <a:spLocks noGrp="1"/>
          </p:cNvSpPr>
          <p:nvPr/>
        </p:nvSpPr>
        <p:spPr>
          <a:xfrm>
            <a:off x="6381750" y="45434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65C0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565C0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FEF878-C585-499B-964E-AF4350B043F0}"/>
              </a:ext>
            </a:extLst>
          </p:cNvPr>
          <p:cNvSpPr>
            <a:spLocks noGrp="1"/>
          </p:cNvSpPr>
          <p:nvPr/>
        </p:nvSpPr>
        <p:spPr>
          <a:xfrm>
            <a:off x="6934200" y="4457700"/>
            <a:ext cx="3514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E2841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0E2841"/>
                </a:solidFill>
                <a:latin typeface="Roboto"/>
                <a:ea typeface="Roboto"/>
                <a:cs typeface="Roboto"/>
              </a:rPr>
              <a:t>EShop SUT Repository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54C125-0C66-44D3-B18D-FE6488D7CF27}"/>
              </a:ext>
            </a:extLst>
          </p:cNvPr>
          <p:cNvSpPr>
            <a:spLocks noGrp="1"/>
          </p:cNvSpPr>
          <p:nvPr/>
        </p:nvSpPr>
        <p:spPr>
          <a:xfrm>
            <a:off x="6381750" y="4895850"/>
            <a:ext cx="4067175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3503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43FD6D-97AF-4987-926B-7A9D6DE79165}"/>
              </a:ext>
            </a:extLst>
          </p:cNvPr>
          <p:cNvSpPr>
            <a:spLocks noGrp="1"/>
          </p:cNvSpPr>
          <p:nvPr/>
        </p:nvSpPr>
        <p:spPr>
          <a:xfrm>
            <a:off x="1125855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72F9B6-8424-420C-914C-74BAE2727C1C}"/>
              </a:ext>
            </a:extLst>
          </p:cNvPr>
          <p:cNvSpPr>
            <a:spLocks noGrp="1"/>
          </p:cNvSpPr>
          <p:nvPr/>
        </p:nvSpPr>
        <p:spPr>
          <a:xfrm>
            <a:off x="0" y="2266950"/>
            <a:ext cx="12192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defRPr>
            </a:pPr>
            <a:r>
              <a:rPr sz="5250" b="1">
                <a:solidFill>
                  <a:srgbClr val="1565C0"/>
                </a:solidFill>
                <a:latin typeface="Lora SemiBold"/>
                <a:ea typeface="Lora SemiBold"/>
                <a:cs typeface="Lora SemiBold"/>
              </a:rPr>
              <a:t>Questions?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C54236-F14D-4056-8C23-7A232BBA27B4}"/>
              </a:ext>
            </a:extLst>
          </p:cNvPr>
          <p:cNvSpPr>
            <a:spLocks noGrp="1"/>
          </p:cNvSpPr>
          <p:nvPr/>
        </p:nvSpPr>
        <p:spPr>
          <a:xfrm>
            <a:off x="0" y="3333750"/>
            <a:ext cx="1219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0">
                <a:solidFill>
                  <a:srgbClr val="5F6673"/>
                </a:solidFill>
                <a:latin typeface="Roboto"/>
                <a:ea typeface="Roboto"/>
                <a:cs typeface="Roboto"/>
              </a:defRPr>
            </a:pPr>
            <a:r>
              <a:rPr sz="2550" b="0">
                <a:solidFill>
                  <a:srgbClr val="5F6673"/>
                </a:solidFill>
                <a:latin typeface="Roboto"/>
                <a:ea typeface="Roboto"/>
                <a:cs typeface="Roboto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9C266E-0B63-4F9E-B636-F41BEE6CD650}"/>
              </a:ext>
            </a:extLst>
          </p:cNvPr>
          <p:cNvSpPr>
            <a:spLocks noGrp="1"/>
          </p:cNvSpPr>
          <p:nvPr/>
        </p:nvSpPr>
        <p:spPr>
          <a:xfrm>
            <a:off x="4095750" y="4095750"/>
            <a:ext cx="4000500" cy="1905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52303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Office PowerPoint</Application>
  <DocSecurity>0</DocSecurity>
  <PresentationFormat>Widescreen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Lora SemiBold</vt:lpstr>
      <vt:lpstr>Roboto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Nam Đinh</cp:lastModifiedBy>
  <cp:revision>1</cp:revision>
  <dcterms:created xsi:type="dcterms:W3CDTF">2026-07-15T13:44:04Z</dcterms:created>
  <dcterms:modified xsi:type="dcterms:W3CDTF">2026-07-15T13:55:05Z</dcterms:modified>
</cp:coreProperties>
</file>